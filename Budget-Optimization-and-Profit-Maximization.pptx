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notesMasterIdLst>
    <p:notesMasterId r:id="rId41"/>
  </p:notesMasterIdLst>
  <p:sldIdLst>
    <p:sldId id="256" r:id="rId2"/>
    <p:sldId id="257" r:id="rId3"/>
    <p:sldId id="260" r:id="rId4"/>
    <p:sldId id="259" r:id="rId5"/>
    <p:sldId id="261" r:id="rId6"/>
    <p:sldId id="262" r:id="rId7"/>
    <p:sldId id="263" r:id="rId8"/>
    <p:sldId id="295" r:id="rId9"/>
    <p:sldId id="296" r:id="rId10"/>
    <p:sldId id="306" r:id="rId11"/>
    <p:sldId id="265" r:id="rId12"/>
    <p:sldId id="266" r:id="rId13"/>
    <p:sldId id="267" r:id="rId14"/>
    <p:sldId id="264" r:id="rId15"/>
    <p:sldId id="268" r:id="rId16"/>
    <p:sldId id="309" r:id="rId17"/>
    <p:sldId id="316" r:id="rId18"/>
    <p:sldId id="318" r:id="rId19"/>
    <p:sldId id="313" r:id="rId20"/>
    <p:sldId id="321" r:id="rId21"/>
    <p:sldId id="271" r:id="rId22"/>
    <p:sldId id="317" r:id="rId23"/>
    <p:sldId id="291" r:id="rId24"/>
    <p:sldId id="297" r:id="rId25"/>
    <p:sldId id="303" r:id="rId26"/>
    <p:sldId id="304" r:id="rId27"/>
    <p:sldId id="305" r:id="rId28"/>
    <p:sldId id="301" r:id="rId29"/>
    <p:sldId id="299" r:id="rId30"/>
    <p:sldId id="298" r:id="rId31"/>
    <p:sldId id="322" r:id="rId32"/>
    <p:sldId id="323" r:id="rId33"/>
    <p:sldId id="290" r:id="rId34"/>
    <p:sldId id="315" r:id="rId35"/>
    <p:sldId id="286" r:id="rId36"/>
    <p:sldId id="320" r:id="rId37"/>
    <p:sldId id="287" r:id="rId38"/>
    <p:sldId id="280" r:id="rId39"/>
    <p:sldId id="32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_rels/data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E0A5FA-A1C9-4967-BDC5-B088DA89CE58}"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18ADFCA-AD5D-4113-83FA-9E7D86901BFC}">
      <dgm:prSet/>
      <dgm:spPr/>
      <dgm:t>
        <a:bodyPr/>
        <a:lstStyle/>
        <a:p>
          <a:pPr>
            <a:lnSpc>
              <a:spcPct val="100000"/>
            </a:lnSpc>
          </a:pPr>
          <a:r>
            <a:rPr lang="en-US" b="1"/>
            <a:t>Data Cleaning:</a:t>
          </a:r>
          <a:r>
            <a:rPr lang="en-US"/>
            <a:t> Applied techniques to handle missing data and correct inconsistencies, deduplicated within the dataset for our model.</a:t>
          </a:r>
        </a:p>
      </dgm:t>
    </dgm:pt>
    <dgm:pt modelId="{B02218B5-2D71-4E79-9C9B-CA7D2040E863}" type="parTrans" cxnId="{6DDC033C-D6BC-4493-BAB6-3D757B67DF46}">
      <dgm:prSet/>
      <dgm:spPr/>
      <dgm:t>
        <a:bodyPr/>
        <a:lstStyle/>
        <a:p>
          <a:endParaRPr lang="en-US"/>
        </a:p>
      </dgm:t>
    </dgm:pt>
    <dgm:pt modelId="{EFD8DD4A-BC7B-4AF0-BE21-01245DA58BFC}" type="sibTrans" cxnId="{6DDC033C-D6BC-4493-BAB6-3D757B67DF46}">
      <dgm:prSet/>
      <dgm:spPr/>
      <dgm:t>
        <a:bodyPr/>
        <a:lstStyle/>
        <a:p>
          <a:endParaRPr lang="en-US"/>
        </a:p>
      </dgm:t>
    </dgm:pt>
    <dgm:pt modelId="{8CB47425-F158-4078-9378-6E3163729397}">
      <dgm:prSet/>
      <dgm:spPr/>
      <dgm:t>
        <a:bodyPr/>
        <a:lstStyle/>
        <a:p>
          <a:pPr>
            <a:lnSpc>
              <a:spcPct val="100000"/>
            </a:lnSpc>
          </a:pPr>
          <a:r>
            <a:rPr lang="en-US" b="1"/>
            <a:t>Exploratory Data Analysis (EDA):</a:t>
          </a:r>
          <a:r>
            <a:rPr lang="en-US"/>
            <a:t> Analyze initial relationships between spending categories and profit, forming early hypotheses about which factors are most influential. </a:t>
          </a:r>
        </a:p>
      </dgm:t>
    </dgm:pt>
    <dgm:pt modelId="{ECC3C71B-A043-469D-A10D-ECA1972328F7}" type="parTrans" cxnId="{AFDF1E30-7914-4664-9C0D-0556E49301D4}">
      <dgm:prSet/>
      <dgm:spPr/>
      <dgm:t>
        <a:bodyPr/>
        <a:lstStyle/>
        <a:p>
          <a:endParaRPr lang="en-US"/>
        </a:p>
      </dgm:t>
    </dgm:pt>
    <dgm:pt modelId="{D23BD5A2-812E-4905-9880-14AE05EB1D6A}" type="sibTrans" cxnId="{AFDF1E30-7914-4664-9C0D-0556E49301D4}">
      <dgm:prSet/>
      <dgm:spPr/>
      <dgm:t>
        <a:bodyPr/>
        <a:lstStyle/>
        <a:p>
          <a:endParaRPr lang="en-US"/>
        </a:p>
      </dgm:t>
    </dgm:pt>
    <dgm:pt modelId="{CC3F33FA-C886-43F2-B780-E61A6C5E49A6}">
      <dgm:prSet/>
      <dgm:spPr/>
      <dgm:t>
        <a:bodyPr/>
        <a:lstStyle/>
        <a:p>
          <a:pPr>
            <a:lnSpc>
              <a:spcPct val="100000"/>
            </a:lnSpc>
          </a:pPr>
          <a:r>
            <a:rPr lang="en-US" b="1"/>
            <a:t>Data Transformation: </a:t>
          </a:r>
          <a:r>
            <a:rPr lang="en-US"/>
            <a:t>Standardizing data formats, Scaling and Normalizing, Encoding categorical variables (State) and creating derived features for analysis. </a:t>
          </a:r>
        </a:p>
      </dgm:t>
    </dgm:pt>
    <dgm:pt modelId="{DE1E82C6-647F-48F9-ADA4-282C581A45AA}" type="parTrans" cxnId="{BA6A62A9-2D84-4800-81DB-EEBE5DFA3585}">
      <dgm:prSet/>
      <dgm:spPr/>
      <dgm:t>
        <a:bodyPr/>
        <a:lstStyle/>
        <a:p>
          <a:endParaRPr lang="en-US"/>
        </a:p>
      </dgm:t>
    </dgm:pt>
    <dgm:pt modelId="{486C0D57-D633-46C4-B434-D44BB79E412D}" type="sibTrans" cxnId="{BA6A62A9-2D84-4800-81DB-EEBE5DFA3585}">
      <dgm:prSet/>
      <dgm:spPr/>
      <dgm:t>
        <a:bodyPr/>
        <a:lstStyle/>
        <a:p>
          <a:endParaRPr lang="en-US"/>
        </a:p>
      </dgm:t>
    </dgm:pt>
    <dgm:pt modelId="{7A2B15FE-5FA8-46A5-81C9-5E1258C2612D}">
      <dgm:prSet/>
      <dgm:spPr/>
      <dgm:t>
        <a:bodyPr/>
        <a:lstStyle/>
        <a:p>
          <a:pPr>
            <a:lnSpc>
              <a:spcPct val="100000"/>
            </a:lnSpc>
          </a:pPr>
          <a:r>
            <a:rPr lang="en-US" b="1"/>
            <a:t>Predictive Modelling: </a:t>
          </a:r>
          <a:r>
            <a:rPr lang="en-US"/>
            <a:t>Utilized </a:t>
          </a:r>
          <a:r>
            <a:rPr lang="en-US">
              <a:latin typeface="Calibri Light" panose="020F0302020204030204"/>
            </a:rPr>
            <a:t>an Ordinary Least Squares Regression</a:t>
          </a:r>
          <a:r>
            <a:rPr lang="en-US"/>
            <a:t> model in python to analyze the relationships between multiple factors versus profit.</a:t>
          </a:r>
        </a:p>
      </dgm:t>
    </dgm:pt>
    <dgm:pt modelId="{5B82ECEC-0A38-4DDA-BAC1-637DB48C99D4}" type="parTrans" cxnId="{ED5787A6-FEE9-4F45-BB0D-4FC92E4C716D}">
      <dgm:prSet/>
      <dgm:spPr/>
      <dgm:t>
        <a:bodyPr/>
        <a:lstStyle/>
        <a:p>
          <a:endParaRPr lang="en-US"/>
        </a:p>
      </dgm:t>
    </dgm:pt>
    <dgm:pt modelId="{5EDF0B32-5A27-43CC-8134-8986F5901783}" type="sibTrans" cxnId="{ED5787A6-FEE9-4F45-BB0D-4FC92E4C716D}">
      <dgm:prSet/>
      <dgm:spPr/>
      <dgm:t>
        <a:bodyPr/>
        <a:lstStyle/>
        <a:p>
          <a:endParaRPr lang="en-US"/>
        </a:p>
      </dgm:t>
    </dgm:pt>
    <dgm:pt modelId="{85CD93B6-376B-4852-9F34-1E30C0304891}" type="pres">
      <dgm:prSet presAssocID="{44E0A5FA-A1C9-4967-BDC5-B088DA89CE58}" presName="root" presStyleCnt="0">
        <dgm:presLayoutVars>
          <dgm:dir/>
          <dgm:resizeHandles val="exact"/>
        </dgm:presLayoutVars>
      </dgm:prSet>
      <dgm:spPr/>
    </dgm:pt>
    <dgm:pt modelId="{DCC4CA81-FFBC-4E35-BBF0-534BCF302629}" type="pres">
      <dgm:prSet presAssocID="{618ADFCA-AD5D-4113-83FA-9E7D86901BFC}" presName="compNode" presStyleCnt="0"/>
      <dgm:spPr/>
    </dgm:pt>
    <dgm:pt modelId="{E0D4044C-ED10-4BC5-95EA-B37F7FACC0D4}" type="pres">
      <dgm:prSet presAssocID="{618ADFCA-AD5D-4113-83FA-9E7D86901BF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15A4F0EE-C7C9-4790-B7F4-7082BC45EE53}" type="pres">
      <dgm:prSet presAssocID="{618ADFCA-AD5D-4113-83FA-9E7D86901BFC}" presName="spaceRect" presStyleCnt="0"/>
      <dgm:spPr/>
    </dgm:pt>
    <dgm:pt modelId="{E67BD76A-F20E-4056-B023-4BDE3DBF05C9}" type="pres">
      <dgm:prSet presAssocID="{618ADFCA-AD5D-4113-83FA-9E7D86901BFC}" presName="textRect" presStyleLbl="revTx" presStyleIdx="0" presStyleCnt="4">
        <dgm:presLayoutVars>
          <dgm:chMax val="1"/>
          <dgm:chPref val="1"/>
        </dgm:presLayoutVars>
      </dgm:prSet>
      <dgm:spPr/>
    </dgm:pt>
    <dgm:pt modelId="{695D0A49-B0B6-4BF7-9D2F-AFE9219E5D4C}" type="pres">
      <dgm:prSet presAssocID="{EFD8DD4A-BC7B-4AF0-BE21-01245DA58BFC}" presName="sibTrans" presStyleCnt="0"/>
      <dgm:spPr/>
    </dgm:pt>
    <dgm:pt modelId="{E03F7A23-9656-4337-9890-03C7E40F1ECE}" type="pres">
      <dgm:prSet presAssocID="{8CB47425-F158-4078-9378-6E3163729397}" presName="compNode" presStyleCnt="0"/>
      <dgm:spPr/>
    </dgm:pt>
    <dgm:pt modelId="{AD750B62-6C6B-4F4D-B212-58150D8E7F6B}" type="pres">
      <dgm:prSet presAssocID="{8CB47425-F158-4078-9378-6E316372939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search"/>
        </a:ext>
      </dgm:extLst>
    </dgm:pt>
    <dgm:pt modelId="{6CF73A57-B5F0-49CD-81A8-5ADBEC9C3D56}" type="pres">
      <dgm:prSet presAssocID="{8CB47425-F158-4078-9378-6E3163729397}" presName="spaceRect" presStyleCnt="0"/>
      <dgm:spPr/>
    </dgm:pt>
    <dgm:pt modelId="{6414E742-00AE-4355-9226-B642C1CDDB10}" type="pres">
      <dgm:prSet presAssocID="{8CB47425-F158-4078-9378-6E3163729397}" presName="textRect" presStyleLbl="revTx" presStyleIdx="1" presStyleCnt="4">
        <dgm:presLayoutVars>
          <dgm:chMax val="1"/>
          <dgm:chPref val="1"/>
        </dgm:presLayoutVars>
      </dgm:prSet>
      <dgm:spPr/>
    </dgm:pt>
    <dgm:pt modelId="{A89BE93F-0D5B-411C-A1D4-52C713CD4955}" type="pres">
      <dgm:prSet presAssocID="{D23BD5A2-812E-4905-9880-14AE05EB1D6A}" presName="sibTrans" presStyleCnt="0"/>
      <dgm:spPr/>
    </dgm:pt>
    <dgm:pt modelId="{9D113462-2118-46AD-8F44-70C6C6576E99}" type="pres">
      <dgm:prSet presAssocID="{CC3F33FA-C886-43F2-B780-E61A6C5E49A6}" presName="compNode" presStyleCnt="0"/>
      <dgm:spPr/>
    </dgm:pt>
    <dgm:pt modelId="{DB76AF8F-CB4A-480D-95B5-C0AE3507359A}" type="pres">
      <dgm:prSet presAssocID="{CC3F33FA-C886-43F2-B780-E61A6C5E49A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C73E954E-4DDD-447A-A14D-710138C1C347}" type="pres">
      <dgm:prSet presAssocID="{CC3F33FA-C886-43F2-B780-E61A6C5E49A6}" presName="spaceRect" presStyleCnt="0"/>
      <dgm:spPr/>
    </dgm:pt>
    <dgm:pt modelId="{D82778D8-D2A8-4B61-AFA0-E58CB7B2687B}" type="pres">
      <dgm:prSet presAssocID="{CC3F33FA-C886-43F2-B780-E61A6C5E49A6}" presName="textRect" presStyleLbl="revTx" presStyleIdx="2" presStyleCnt="4">
        <dgm:presLayoutVars>
          <dgm:chMax val="1"/>
          <dgm:chPref val="1"/>
        </dgm:presLayoutVars>
      </dgm:prSet>
      <dgm:spPr/>
    </dgm:pt>
    <dgm:pt modelId="{BE53D64B-F217-4F71-BA8D-13ADD2E2A419}" type="pres">
      <dgm:prSet presAssocID="{486C0D57-D633-46C4-B434-D44BB79E412D}" presName="sibTrans" presStyleCnt="0"/>
      <dgm:spPr/>
    </dgm:pt>
    <dgm:pt modelId="{79863F16-0E08-4B34-8AA8-0584CA5DFE30}" type="pres">
      <dgm:prSet presAssocID="{7A2B15FE-5FA8-46A5-81C9-5E1258C2612D}" presName="compNode" presStyleCnt="0"/>
      <dgm:spPr/>
    </dgm:pt>
    <dgm:pt modelId="{F014D0EE-6568-4B89-BD65-0BB1EB57929D}" type="pres">
      <dgm:prSet presAssocID="{7A2B15FE-5FA8-46A5-81C9-5E1258C2612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ze"/>
        </a:ext>
      </dgm:extLst>
    </dgm:pt>
    <dgm:pt modelId="{C346931A-3294-4A5F-B945-3DB9341BE997}" type="pres">
      <dgm:prSet presAssocID="{7A2B15FE-5FA8-46A5-81C9-5E1258C2612D}" presName="spaceRect" presStyleCnt="0"/>
      <dgm:spPr/>
    </dgm:pt>
    <dgm:pt modelId="{96677CFC-9B22-4CE6-88A5-92DD9E0E1ACC}" type="pres">
      <dgm:prSet presAssocID="{7A2B15FE-5FA8-46A5-81C9-5E1258C2612D}" presName="textRect" presStyleLbl="revTx" presStyleIdx="3" presStyleCnt="4">
        <dgm:presLayoutVars>
          <dgm:chMax val="1"/>
          <dgm:chPref val="1"/>
        </dgm:presLayoutVars>
      </dgm:prSet>
      <dgm:spPr/>
    </dgm:pt>
  </dgm:ptLst>
  <dgm:cxnLst>
    <dgm:cxn modelId="{68E3DF1A-F7E5-4263-9E70-CB4753B37984}" type="presOf" srcId="{8CB47425-F158-4078-9378-6E3163729397}" destId="{6414E742-00AE-4355-9226-B642C1CDDB10}" srcOrd="0" destOrd="0" presId="urn:microsoft.com/office/officeart/2018/2/layout/IconLabelList"/>
    <dgm:cxn modelId="{AFDF1E30-7914-4664-9C0D-0556E49301D4}" srcId="{44E0A5FA-A1C9-4967-BDC5-B088DA89CE58}" destId="{8CB47425-F158-4078-9378-6E3163729397}" srcOrd="1" destOrd="0" parTransId="{ECC3C71B-A043-469D-A10D-ECA1972328F7}" sibTransId="{D23BD5A2-812E-4905-9880-14AE05EB1D6A}"/>
    <dgm:cxn modelId="{6DDC033C-D6BC-4493-BAB6-3D757B67DF46}" srcId="{44E0A5FA-A1C9-4967-BDC5-B088DA89CE58}" destId="{618ADFCA-AD5D-4113-83FA-9E7D86901BFC}" srcOrd="0" destOrd="0" parTransId="{B02218B5-2D71-4E79-9C9B-CA7D2040E863}" sibTransId="{EFD8DD4A-BC7B-4AF0-BE21-01245DA58BFC}"/>
    <dgm:cxn modelId="{D47FAA65-DCD1-448B-8B24-1BB3F726C251}" type="presOf" srcId="{CC3F33FA-C886-43F2-B780-E61A6C5E49A6}" destId="{D82778D8-D2A8-4B61-AFA0-E58CB7B2687B}" srcOrd="0" destOrd="0" presId="urn:microsoft.com/office/officeart/2018/2/layout/IconLabelList"/>
    <dgm:cxn modelId="{14CC6A72-1E8B-47B1-935A-ACECD2982F78}" type="presOf" srcId="{44E0A5FA-A1C9-4967-BDC5-B088DA89CE58}" destId="{85CD93B6-376B-4852-9F34-1E30C0304891}" srcOrd="0" destOrd="0" presId="urn:microsoft.com/office/officeart/2018/2/layout/IconLabelList"/>
    <dgm:cxn modelId="{232A409D-D6C3-4AC1-837D-E60D0D62DA21}" type="presOf" srcId="{7A2B15FE-5FA8-46A5-81C9-5E1258C2612D}" destId="{96677CFC-9B22-4CE6-88A5-92DD9E0E1ACC}" srcOrd="0" destOrd="0" presId="urn:microsoft.com/office/officeart/2018/2/layout/IconLabelList"/>
    <dgm:cxn modelId="{ED5787A6-FEE9-4F45-BB0D-4FC92E4C716D}" srcId="{44E0A5FA-A1C9-4967-BDC5-B088DA89CE58}" destId="{7A2B15FE-5FA8-46A5-81C9-5E1258C2612D}" srcOrd="3" destOrd="0" parTransId="{5B82ECEC-0A38-4DDA-BAC1-637DB48C99D4}" sibTransId="{5EDF0B32-5A27-43CC-8134-8986F5901783}"/>
    <dgm:cxn modelId="{BA6A62A9-2D84-4800-81DB-EEBE5DFA3585}" srcId="{44E0A5FA-A1C9-4967-BDC5-B088DA89CE58}" destId="{CC3F33FA-C886-43F2-B780-E61A6C5E49A6}" srcOrd="2" destOrd="0" parTransId="{DE1E82C6-647F-48F9-ADA4-282C581A45AA}" sibTransId="{486C0D57-D633-46C4-B434-D44BB79E412D}"/>
    <dgm:cxn modelId="{BAE028FC-1A92-4C74-8DBB-FE110F4FEDD5}" type="presOf" srcId="{618ADFCA-AD5D-4113-83FA-9E7D86901BFC}" destId="{E67BD76A-F20E-4056-B023-4BDE3DBF05C9}" srcOrd="0" destOrd="0" presId="urn:microsoft.com/office/officeart/2018/2/layout/IconLabelList"/>
    <dgm:cxn modelId="{9866E38B-3897-484F-80ED-B16E16F9A651}" type="presParOf" srcId="{85CD93B6-376B-4852-9F34-1E30C0304891}" destId="{DCC4CA81-FFBC-4E35-BBF0-534BCF302629}" srcOrd="0" destOrd="0" presId="urn:microsoft.com/office/officeart/2018/2/layout/IconLabelList"/>
    <dgm:cxn modelId="{DA75E4E9-8D56-49D7-9A92-32AC612C0A24}" type="presParOf" srcId="{DCC4CA81-FFBC-4E35-BBF0-534BCF302629}" destId="{E0D4044C-ED10-4BC5-95EA-B37F7FACC0D4}" srcOrd="0" destOrd="0" presId="urn:microsoft.com/office/officeart/2018/2/layout/IconLabelList"/>
    <dgm:cxn modelId="{56FB861E-7888-42E1-879F-7E836FC1A230}" type="presParOf" srcId="{DCC4CA81-FFBC-4E35-BBF0-534BCF302629}" destId="{15A4F0EE-C7C9-4790-B7F4-7082BC45EE53}" srcOrd="1" destOrd="0" presId="urn:microsoft.com/office/officeart/2018/2/layout/IconLabelList"/>
    <dgm:cxn modelId="{BD581691-813C-413D-B40E-61604B09B0E2}" type="presParOf" srcId="{DCC4CA81-FFBC-4E35-BBF0-534BCF302629}" destId="{E67BD76A-F20E-4056-B023-4BDE3DBF05C9}" srcOrd="2" destOrd="0" presId="urn:microsoft.com/office/officeart/2018/2/layout/IconLabelList"/>
    <dgm:cxn modelId="{8B141801-33F3-4D9E-8D9F-B009465AE4C7}" type="presParOf" srcId="{85CD93B6-376B-4852-9F34-1E30C0304891}" destId="{695D0A49-B0B6-4BF7-9D2F-AFE9219E5D4C}" srcOrd="1" destOrd="0" presId="urn:microsoft.com/office/officeart/2018/2/layout/IconLabelList"/>
    <dgm:cxn modelId="{20D1E8D2-BC7B-44A2-8600-0566E447E4C8}" type="presParOf" srcId="{85CD93B6-376B-4852-9F34-1E30C0304891}" destId="{E03F7A23-9656-4337-9890-03C7E40F1ECE}" srcOrd="2" destOrd="0" presId="urn:microsoft.com/office/officeart/2018/2/layout/IconLabelList"/>
    <dgm:cxn modelId="{4290C0AA-185A-49CF-A2DF-9EB1FA0E2388}" type="presParOf" srcId="{E03F7A23-9656-4337-9890-03C7E40F1ECE}" destId="{AD750B62-6C6B-4F4D-B212-58150D8E7F6B}" srcOrd="0" destOrd="0" presId="urn:microsoft.com/office/officeart/2018/2/layout/IconLabelList"/>
    <dgm:cxn modelId="{16E13ACC-76F7-492B-94E9-D7C47D3623D4}" type="presParOf" srcId="{E03F7A23-9656-4337-9890-03C7E40F1ECE}" destId="{6CF73A57-B5F0-49CD-81A8-5ADBEC9C3D56}" srcOrd="1" destOrd="0" presId="urn:microsoft.com/office/officeart/2018/2/layout/IconLabelList"/>
    <dgm:cxn modelId="{6CA5BB39-6296-4ACE-BE5B-5C3677AD218C}" type="presParOf" srcId="{E03F7A23-9656-4337-9890-03C7E40F1ECE}" destId="{6414E742-00AE-4355-9226-B642C1CDDB10}" srcOrd="2" destOrd="0" presId="urn:microsoft.com/office/officeart/2018/2/layout/IconLabelList"/>
    <dgm:cxn modelId="{9F8CBC11-A294-489F-9F22-5B0F0122DA5F}" type="presParOf" srcId="{85CD93B6-376B-4852-9F34-1E30C0304891}" destId="{A89BE93F-0D5B-411C-A1D4-52C713CD4955}" srcOrd="3" destOrd="0" presId="urn:microsoft.com/office/officeart/2018/2/layout/IconLabelList"/>
    <dgm:cxn modelId="{83B1C14C-B6CA-436C-BE83-1EA366097D60}" type="presParOf" srcId="{85CD93B6-376B-4852-9F34-1E30C0304891}" destId="{9D113462-2118-46AD-8F44-70C6C6576E99}" srcOrd="4" destOrd="0" presId="urn:microsoft.com/office/officeart/2018/2/layout/IconLabelList"/>
    <dgm:cxn modelId="{7173D4AD-16E7-41DD-BB1C-C5A5D0A5D6DA}" type="presParOf" srcId="{9D113462-2118-46AD-8F44-70C6C6576E99}" destId="{DB76AF8F-CB4A-480D-95B5-C0AE3507359A}" srcOrd="0" destOrd="0" presId="urn:microsoft.com/office/officeart/2018/2/layout/IconLabelList"/>
    <dgm:cxn modelId="{DFAF9284-D5F7-4497-B999-017CEF9E8598}" type="presParOf" srcId="{9D113462-2118-46AD-8F44-70C6C6576E99}" destId="{C73E954E-4DDD-447A-A14D-710138C1C347}" srcOrd="1" destOrd="0" presId="urn:microsoft.com/office/officeart/2018/2/layout/IconLabelList"/>
    <dgm:cxn modelId="{34C9F21E-8147-404A-ADB7-195D9E1B4B08}" type="presParOf" srcId="{9D113462-2118-46AD-8F44-70C6C6576E99}" destId="{D82778D8-D2A8-4B61-AFA0-E58CB7B2687B}" srcOrd="2" destOrd="0" presId="urn:microsoft.com/office/officeart/2018/2/layout/IconLabelList"/>
    <dgm:cxn modelId="{8CC76D7D-CCB4-45E9-A975-D6B1303EC330}" type="presParOf" srcId="{85CD93B6-376B-4852-9F34-1E30C0304891}" destId="{BE53D64B-F217-4F71-BA8D-13ADD2E2A419}" srcOrd="5" destOrd="0" presId="urn:microsoft.com/office/officeart/2018/2/layout/IconLabelList"/>
    <dgm:cxn modelId="{D7A52793-21A4-432F-8E81-0B3747626F73}" type="presParOf" srcId="{85CD93B6-376B-4852-9F34-1E30C0304891}" destId="{79863F16-0E08-4B34-8AA8-0584CA5DFE30}" srcOrd="6" destOrd="0" presId="urn:microsoft.com/office/officeart/2018/2/layout/IconLabelList"/>
    <dgm:cxn modelId="{161A9DB9-F2F7-4FC7-982C-0C5B8B629862}" type="presParOf" srcId="{79863F16-0E08-4B34-8AA8-0584CA5DFE30}" destId="{F014D0EE-6568-4B89-BD65-0BB1EB57929D}" srcOrd="0" destOrd="0" presId="urn:microsoft.com/office/officeart/2018/2/layout/IconLabelList"/>
    <dgm:cxn modelId="{96CA7374-558E-489F-82C2-C8014DDAD648}" type="presParOf" srcId="{79863F16-0E08-4B34-8AA8-0584CA5DFE30}" destId="{C346931A-3294-4A5F-B945-3DB9341BE997}" srcOrd="1" destOrd="0" presId="urn:microsoft.com/office/officeart/2018/2/layout/IconLabelList"/>
    <dgm:cxn modelId="{76E583D5-92B4-4A19-ACC3-12BD1621505D}" type="presParOf" srcId="{79863F16-0E08-4B34-8AA8-0584CA5DFE30}" destId="{96677CFC-9B22-4CE6-88A5-92DD9E0E1AC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9A3E16-74E7-42AD-89ED-17FBDB67478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637A79F8-6C1F-4E56-AC77-2A455D215879}">
      <dgm:prSet/>
      <dgm:spPr/>
      <dgm:t>
        <a:bodyPr/>
        <a:lstStyle/>
        <a:p>
          <a:r>
            <a:rPr lang="en-US" b="1"/>
            <a:t>Initial Data Observations</a:t>
          </a:r>
          <a:endParaRPr lang="en-US"/>
        </a:p>
      </dgm:t>
    </dgm:pt>
    <dgm:pt modelId="{968BE4B0-647E-4AD3-9684-BF190D848239}" type="parTrans" cxnId="{B8E44CD4-8D52-4E91-9295-E16C76063238}">
      <dgm:prSet/>
      <dgm:spPr/>
      <dgm:t>
        <a:bodyPr/>
        <a:lstStyle/>
        <a:p>
          <a:endParaRPr lang="en-US"/>
        </a:p>
      </dgm:t>
    </dgm:pt>
    <dgm:pt modelId="{D22F4ACB-AA26-41DD-89A4-9B213F1E51FB}" type="sibTrans" cxnId="{B8E44CD4-8D52-4E91-9295-E16C76063238}">
      <dgm:prSet/>
      <dgm:spPr/>
      <dgm:t>
        <a:bodyPr/>
        <a:lstStyle/>
        <a:p>
          <a:endParaRPr lang="en-US"/>
        </a:p>
      </dgm:t>
    </dgm:pt>
    <dgm:pt modelId="{96344CC1-F511-47C7-B8F1-93106FEB4338}">
      <dgm:prSet/>
      <dgm:spPr/>
      <dgm:t>
        <a:bodyPr/>
        <a:lstStyle/>
        <a:p>
          <a:r>
            <a:rPr lang="en-US"/>
            <a:t>CSV file of 1000 companies</a:t>
          </a:r>
        </a:p>
      </dgm:t>
    </dgm:pt>
    <dgm:pt modelId="{9A540D34-A797-41C8-99A6-A5D21861B98B}" type="parTrans" cxnId="{D10184B1-BDCC-470D-ADC9-18B446823B84}">
      <dgm:prSet/>
      <dgm:spPr/>
      <dgm:t>
        <a:bodyPr/>
        <a:lstStyle/>
        <a:p>
          <a:endParaRPr lang="en-US"/>
        </a:p>
      </dgm:t>
    </dgm:pt>
    <dgm:pt modelId="{B23F7D1C-8854-4BB7-81AB-0A9F5D8DD203}" type="sibTrans" cxnId="{D10184B1-BDCC-470D-ADC9-18B446823B84}">
      <dgm:prSet/>
      <dgm:spPr/>
      <dgm:t>
        <a:bodyPr/>
        <a:lstStyle/>
        <a:p>
          <a:endParaRPr lang="en-US"/>
        </a:p>
      </dgm:t>
    </dgm:pt>
    <dgm:pt modelId="{A9926277-7800-4FA8-BD98-D33175E34396}">
      <dgm:prSet/>
      <dgm:spPr/>
      <dgm:t>
        <a:bodyPr/>
        <a:lstStyle/>
        <a:p>
          <a:r>
            <a:rPr lang="en-US"/>
            <a:t>There are 1002 rows, 5 columns (features).</a:t>
          </a:r>
        </a:p>
      </dgm:t>
    </dgm:pt>
    <dgm:pt modelId="{FCB11300-8E63-45F2-A2BF-0187297371AC}" type="parTrans" cxnId="{2630FD84-7C72-40E2-A1DD-CBF12D89E6A0}">
      <dgm:prSet/>
      <dgm:spPr/>
      <dgm:t>
        <a:bodyPr/>
        <a:lstStyle/>
        <a:p>
          <a:endParaRPr lang="en-US"/>
        </a:p>
      </dgm:t>
    </dgm:pt>
    <dgm:pt modelId="{218D7C73-384F-4762-8801-7639579A9F43}" type="sibTrans" cxnId="{2630FD84-7C72-40E2-A1DD-CBF12D89E6A0}">
      <dgm:prSet/>
      <dgm:spPr/>
      <dgm:t>
        <a:bodyPr/>
        <a:lstStyle/>
        <a:p>
          <a:endParaRPr lang="en-US"/>
        </a:p>
      </dgm:t>
    </dgm:pt>
    <dgm:pt modelId="{D3818A15-1907-4148-AEBE-739EECC59BC2}">
      <dgm:prSet/>
      <dgm:spPr/>
      <dgm:t>
        <a:bodyPr/>
        <a:lstStyle/>
        <a:p>
          <a:r>
            <a:rPr lang="en-US"/>
            <a:t>Numeric and text datatypes found.</a:t>
          </a:r>
        </a:p>
      </dgm:t>
    </dgm:pt>
    <dgm:pt modelId="{B1C411CA-167C-4A1B-A43A-512D84624C1B}" type="parTrans" cxnId="{6F529117-0F74-41D3-A98D-289E828BF7B1}">
      <dgm:prSet/>
      <dgm:spPr/>
      <dgm:t>
        <a:bodyPr/>
        <a:lstStyle/>
        <a:p>
          <a:endParaRPr lang="en-US"/>
        </a:p>
      </dgm:t>
    </dgm:pt>
    <dgm:pt modelId="{9B35E377-671B-4A8E-B41E-10ACC4B3191F}" type="sibTrans" cxnId="{6F529117-0F74-41D3-A98D-289E828BF7B1}">
      <dgm:prSet/>
      <dgm:spPr/>
      <dgm:t>
        <a:bodyPr/>
        <a:lstStyle/>
        <a:p>
          <a:endParaRPr lang="en-US"/>
        </a:p>
      </dgm:t>
    </dgm:pt>
    <dgm:pt modelId="{267D4804-F26D-4171-9469-5DABA953C453}">
      <dgm:prSet/>
      <dgm:spPr/>
      <dgm:t>
        <a:bodyPr/>
        <a:lstStyle/>
        <a:p>
          <a:r>
            <a:rPr lang="en-US"/>
            <a:t>Values are missing in some rows.</a:t>
          </a:r>
        </a:p>
      </dgm:t>
    </dgm:pt>
    <dgm:pt modelId="{443B909A-67F1-40F2-9934-11E3167181F8}" type="parTrans" cxnId="{3FAEC792-0636-4EB5-B244-E461612E772D}">
      <dgm:prSet/>
      <dgm:spPr/>
      <dgm:t>
        <a:bodyPr/>
        <a:lstStyle/>
        <a:p>
          <a:endParaRPr lang="en-US"/>
        </a:p>
      </dgm:t>
    </dgm:pt>
    <dgm:pt modelId="{66686904-0261-4080-B798-74379F0AF4F9}" type="sibTrans" cxnId="{3FAEC792-0636-4EB5-B244-E461612E772D}">
      <dgm:prSet/>
      <dgm:spPr/>
      <dgm:t>
        <a:bodyPr/>
        <a:lstStyle/>
        <a:p>
          <a:endParaRPr lang="en-US"/>
        </a:p>
      </dgm:t>
    </dgm:pt>
    <dgm:pt modelId="{861A0F7E-91CB-44DB-AFF1-9F79BE0E005C}">
      <dgm:prSet/>
      <dgm:spPr/>
      <dgm:t>
        <a:bodyPr/>
        <a:lstStyle/>
        <a:p>
          <a:r>
            <a:rPr lang="en-US"/>
            <a:t>State names are inconsistently formatted (e.g., capitalization issues).</a:t>
          </a:r>
        </a:p>
      </dgm:t>
    </dgm:pt>
    <dgm:pt modelId="{6B4FB985-9921-49DF-88B0-642B09F7EC20}" type="parTrans" cxnId="{BE7147F7-883A-40CC-B614-1B036E758B87}">
      <dgm:prSet/>
      <dgm:spPr/>
      <dgm:t>
        <a:bodyPr/>
        <a:lstStyle/>
        <a:p>
          <a:endParaRPr lang="en-US"/>
        </a:p>
      </dgm:t>
    </dgm:pt>
    <dgm:pt modelId="{3449C85E-BFC0-43DE-AC0D-373E19404808}" type="sibTrans" cxnId="{BE7147F7-883A-40CC-B614-1B036E758B87}">
      <dgm:prSet/>
      <dgm:spPr/>
      <dgm:t>
        <a:bodyPr/>
        <a:lstStyle/>
        <a:p>
          <a:endParaRPr lang="en-US"/>
        </a:p>
      </dgm:t>
    </dgm:pt>
    <dgm:pt modelId="{BC5B83C6-C4F0-42AC-A3D8-068C627E07B1}">
      <dgm:prSet/>
      <dgm:spPr/>
      <dgm:t>
        <a:bodyPr/>
        <a:lstStyle/>
        <a:p>
          <a:r>
            <a:rPr lang="en-US"/>
            <a:t>Three duplicate values are found.</a:t>
          </a:r>
        </a:p>
      </dgm:t>
    </dgm:pt>
    <dgm:pt modelId="{3E1BD5C4-8638-4262-AF06-35C6805AC4E3}" type="parTrans" cxnId="{3FFD4FA8-E98B-4480-A8BC-3F04418D6F3D}">
      <dgm:prSet/>
      <dgm:spPr/>
      <dgm:t>
        <a:bodyPr/>
        <a:lstStyle/>
        <a:p>
          <a:endParaRPr lang="en-US"/>
        </a:p>
      </dgm:t>
    </dgm:pt>
    <dgm:pt modelId="{0598961A-08F3-47A9-9604-6F9B1F1D3E5D}" type="sibTrans" cxnId="{3FFD4FA8-E98B-4480-A8BC-3F04418D6F3D}">
      <dgm:prSet/>
      <dgm:spPr/>
      <dgm:t>
        <a:bodyPr/>
        <a:lstStyle/>
        <a:p>
          <a:endParaRPr lang="en-US"/>
        </a:p>
      </dgm:t>
    </dgm:pt>
    <dgm:pt modelId="{141814C6-EB1B-4B0A-AF82-DC924DFD5CCC}">
      <dgm:prSet/>
      <dgm:spPr/>
      <dgm:t>
        <a:bodyPr/>
        <a:lstStyle/>
        <a:p>
          <a:r>
            <a:rPr lang="en-US"/>
            <a:t>Some companies report zero R&amp;D or Marketing spend, which may represent outliers or  special cases.</a:t>
          </a:r>
        </a:p>
      </dgm:t>
    </dgm:pt>
    <dgm:pt modelId="{71CEC0C2-E7CA-4E63-897D-9EB6A3FEA4B8}" type="parTrans" cxnId="{2F40A1D7-C2BA-4BDD-BE98-8FC482C5F00C}">
      <dgm:prSet/>
      <dgm:spPr/>
      <dgm:t>
        <a:bodyPr/>
        <a:lstStyle/>
        <a:p>
          <a:endParaRPr lang="en-US"/>
        </a:p>
      </dgm:t>
    </dgm:pt>
    <dgm:pt modelId="{346F9374-68B9-4D4D-AA44-B67062BC24F8}" type="sibTrans" cxnId="{2F40A1D7-C2BA-4BDD-BE98-8FC482C5F00C}">
      <dgm:prSet/>
      <dgm:spPr/>
      <dgm:t>
        <a:bodyPr/>
        <a:lstStyle/>
        <a:p>
          <a:endParaRPr lang="en-US"/>
        </a:p>
      </dgm:t>
    </dgm:pt>
    <dgm:pt modelId="{03C1F081-CBB2-4AEF-866C-DD2581351ECA}">
      <dgm:prSet/>
      <dgm:spPr/>
      <dgm:t>
        <a:bodyPr/>
        <a:lstStyle/>
        <a:p>
          <a:r>
            <a:rPr lang="en-US"/>
            <a:t>Profit generally increases with R&amp;D spend, but the relationship with Marketing and Administration is less clear.</a:t>
          </a:r>
        </a:p>
      </dgm:t>
    </dgm:pt>
    <dgm:pt modelId="{0B2B2FA9-B889-4A3A-BF21-BFEF150C6CCE}" type="parTrans" cxnId="{F8CBC6B4-A303-41CF-9E99-2BBB5D30B30B}">
      <dgm:prSet/>
      <dgm:spPr/>
      <dgm:t>
        <a:bodyPr/>
        <a:lstStyle/>
        <a:p>
          <a:endParaRPr lang="en-US"/>
        </a:p>
      </dgm:t>
    </dgm:pt>
    <dgm:pt modelId="{9B97D7BE-C192-4E3F-8FAF-82F01A5E7575}" type="sibTrans" cxnId="{F8CBC6B4-A303-41CF-9E99-2BBB5D30B30B}">
      <dgm:prSet/>
      <dgm:spPr/>
      <dgm:t>
        <a:bodyPr/>
        <a:lstStyle/>
        <a:p>
          <a:endParaRPr lang="en-US"/>
        </a:p>
      </dgm:t>
    </dgm:pt>
    <dgm:pt modelId="{B9643913-82B5-4698-9202-509A492463E1}" type="pres">
      <dgm:prSet presAssocID="{1F9A3E16-74E7-42AD-89ED-17FBDB67478B}" presName="vert0" presStyleCnt="0">
        <dgm:presLayoutVars>
          <dgm:dir/>
          <dgm:animOne val="branch"/>
          <dgm:animLvl val="lvl"/>
        </dgm:presLayoutVars>
      </dgm:prSet>
      <dgm:spPr/>
    </dgm:pt>
    <dgm:pt modelId="{B5EC3F7A-1919-4FC1-88C3-7DEE505A779F}" type="pres">
      <dgm:prSet presAssocID="{637A79F8-6C1F-4E56-AC77-2A455D215879}" presName="thickLine" presStyleLbl="alignNode1" presStyleIdx="0" presStyleCnt="1"/>
      <dgm:spPr/>
    </dgm:pt>
    <dgm:pt modelId="{41E9252E-9940-4715-8486-1DAB37220967}" type="pres">
      <dgm:prSet presAssocID="{637A79F8-6C1F-4E56-AC77-2A455D215879}" presName="horz1" presStyleCnt="0"/>
      <dgm:spPr/>
    </dgm:pt>
    <dgm:pt modelId="{B4E895A4-E103-4B68-AE8B-1F504727B9F3}" type="pres">
      <dgm:prSet presAssocID="{637A79F8-6C1F-4E56-AC77-2A455D215879}" presName="tx1" presStyleLbl="revTx" presStyleIdx="0" presStyleCnt="9"/>
      <dgm:spPr/>
    </dgm:pt>
    <dgm:pt modelId="{16F80473-2BF0-4402-BE38-D59F639D7770}" type="pres">
      <dgm:prSet presAssocID="{637A79F8-6C1F-4E56-AC77-2A455D215879}" presName="vert1" presStyleCnt="0"/>
      <dgm:spPr/>
    </dgm:pt>
    <dgm:pt modelId="{2F53D04A-BB03-4184-BA2B-926E3B42AE00}" type="pres">
      <dgm:prSet presAssocID="{96344CC1-F511-47C7-B8F1-93106FEB4338}" presName="vertSpace2a" presStyleCnt="0"/>
      <dgm:spPr/>
    </dgm:pt>
    <dgm:pt modelId="{8EF99DCB-BCD8-46F6-A265-5FD2A25D1E57}" type="pres">
      <dgm:prSet presAssocID="{96344CC1-F511-47C7-B8F1-93106FEB4338}" presName="horz2" presStyleCnt="0"/>
      <dgm:spPr/>
    </dgm:pt>
    <dgm:pt modelId="{7ECC5885-9548-46F6-9696-A868CB7A4988}" type="pres">
      <dgm:prSet presAssocID="{96344CC1-F511-47C7-B8F1-93106FEB4338}" presName="horzSpace2" presStyleCnt="0"/>
      <dgm:spPr/>
    </dgm:pt>
    <dgm:pt modelId="{988ACA9C-638A-4977-BDC8-FC3D292F33D0}" type="pres">
      <dgm:prSet presAssocID="{96344CC1-F511-47C7-B8F1-93106FEB4338}" presName="tx2" presStyleLbl="revTx" presStyleIdx="1" presStyleCnt="9"/>
      <dgm:spPr/>
    </dgm:pt>
    <dgm:pt modelId="{874EF8B0-9BB8-4DB6-B512-A99C77247B40}" type="pres">
      <dgm:prSet presAssocID="{96344CC1-F511-47C7-B8F1-93106FEB4338}" presName="vert2" presStyleCnt="0"/>
      <dgm:spPr/>
    </dgm:pt>
    <dgm:pt modelId="{BF06B3F8-0B49-40F3-AE73-33FE6ACABC20}" type="pres">
      <dgm:prSet presAssocID="{96344CC1-F511-47C7-B8F1-93106FEB4338}" presName="thinLine2b" presStyleLbl="callout" presStyleIdx="0" presStyleCnt="8"/>
      <dgm:spPr/>
    </dgm:pt>
    <dgm:pt modelId="{61612D81-FB36-42C1-BEC0-F98615E7DB05}" type="pres">
      <dgm:prSet presAssocID="{96344CC1-F511-47C7-B8F1-93106FEB4338}" presName="vertSpace2b" presStyleCnt="0"/>
      <dgm:spPr/>
    </dgm:pt>
    <dgm:pt modelId="{7A608B54-CC9C-482B-A0A8-F73F49D6AB6A}" type="pres">
      <dgm:prSet presAssocID="{A9926277-7800-4FA8-BD98-D33175E34396}" presName="horz2" presStyleCnt="0"/>
      <dgm:spPr/>
    </dgm:pt>
    <dgm:pt modelId="{640C060C-B9BA-4BA4-A644-76EC45481081}" type="pres">
      <dgm:prSet presAssocID="{A9926277-7800-4FA8-BD98-D33175E34396}" presName="horzSpace2" presStyleCnt="0"/>
      <dgm:spPr/>
    </dgm:pt>
    <dgm:pt modelId="{6CBE84C4-42CA-4FC8-8BF0-3C927C45708A}" type="pres">
      <dgm:prSet presAssocID="{A9926277-7800-4FA8-BD98-D33175E34396}" presName="tx2" presStyleLbl="revTx" presStyleIdx="2" presStyleCnt="9"/>
      <dgm:spPr/>
    </dgm:pt>
    <dgm:pt modelId="{ECB2C110-E38D-4782-A52F-7AE1608FE422}" type="pres">
      <dgm:prSet presAssocID="{A9926277-7800-4FA8-BD98-D33175E34396}" presName="vert2" presStyleCnt="0"/>
      <dgm:spPr/>
    </dgm:pt>
    <dgm:pt modelId="{9B7E969C-7A7A-4C86-8E1C-C1DC010FFEA0}" type="pres">
      <dgm:prSet presAssocID="{A9926277-7800-4FA8-BD98-D33175E34396}" presName="thinLine2b" presStyleLbl="callout" presStyleIdx="1" presStyleCnt="8"/>
      <dgm:spPr/>
    </dgm:pt>
    <dgm:pt modelId="{9BDECB0F-E157-48D0-B575-FBC6908AD5EB}" type="pres">
      <dgm:prSet presAssocID="{A9926277-7800-4FA8-BD98-D33175E34396}" presName="vertSpace2b" presStyleCnt="0"/>
      <dgm:spPr/>
    </dgm:pt>
    <dgm:pt modelId="{4DAE76F7-DC0B-4827-8DF6-0474CD9947CA}" type="pres">
      <dgm:prSet presAssocID="{D3818A15-1907-4148-AEBE-739EECC59BC2}" presName="horz2" presStyleCnt="0"/>
      <dgm:spPr/>
    </dgm:pt>
    <dgm:pt modelId="{7F8F7067-C48C-45A6-AC11-658C8581A54C}" type="pres">
      <dgm:prSet presAssocID="{D3818A15-1907-4148-AEBE-739EECC59BC2}" presName="horzSpace2" presStyleCnt="0"/>
      <dgm:spPr/>
    </dgm:pt>
    <dgm:pt modelId="{B1F73B4D-2D7B-44B3-8E39-B4EB7A229591}" type="pres">
      <dgm:prSet presAssocID="{D3818A15-1907-4148-AEBE-739EECC59BC2}" presName="tx2" presStyleLbl="revTx" presStyleIdx="3" presStyleCnt="9"/>
      <dgm:spPr/>
    </dgm:pt>
    <dgm:pt modelId="{705720C7-DF80-4DB0-ABE0-EDC9D6C1B8D6}" type="pres">
      <dgm:prSet presAssocID="{D3818A15-1907-4148-AEBE-739EECC59BC2}" presName="vert2" presStyleCnt="0"/>
      <dgm:spPr/>
    </dgm:pt>
    <dgm:pt modelId="{EB39B1F6-D325-41BB-9D04-E420E3D87C2F}" type="pres">
      <dgm:prSet presAssocID="{D3818A15-1907-4148-AEBE-739EECC59BC2}" presName="thinLine2b" presStyleLbl="callout" presStyleIdx="2" presStyleCnt="8"/>
      <dgm:spPr/>
    </dgm:pt>
    <dgm:pt modelId="{5DD6A225-20C8-40C8-A0D5-8B1365FD6CED}" type="pres">
      <dgm:prSet presAssocID="{D3818A15-1907-4148-AEBE-739EECC59BC2}" presName="vertSpace2b" presStyleCnt="0"/>
      <dgm:spPr/>
    </dgm:pt>
    <dgm:pt modelId="{D084A364-8E90-41E5-B7A5-27D644F32C7C}" type="pres">
      <dgm:prSet presAssocID="{267D4804-F26D-4171-9469-5DABA953C453}" presName="horz2" presStyleCnt="0"/>
      <dgm:spPr/>
    </dgm:pt>
    <dgm:pt modelId="{E96B698E-CEAB-4482-999D-D744CA62F024}" type="pres">
      <dgm:prSet presAssocID="{267D4804-F26D-4171-9469-5DABA953C453}" presName="horzSpace2" presStyleCnt="0"/>
      <dgm:spPr/>
    </dgm:pt>
    <dgm:pt modelId="{5976E4ED-3DC1-4837-8240-65650C85E952}" type="pres">
      <dgm:prSet presAssocID="{267D4804-F26D-4171-9469-5DABA953C453}" presName="tx2" presStyleLbl="revTx" presStyleIdx="4" presStyleCnt="9"/>
      <dgm:spPr/>
    </dgm:pt>
    <dgm:pt modelId="{6FE1B1FF-C26A-4E61-B844-1C4C6E6192B5}" type="pres">
      <dgm:prSet presAssocID="{267D4804-F26D-4171-9469-5DABA953C453}" presName="vert2" presStyleCnt="0"/>
      <dgm:spPr/>
    </dgm:pt>
    <dgm:pt modelId="{076C51A7-425B-428D-82A5-EE4AB5E9A103}" type="pres">
      <dgm:prSet presAssocID="{267D4804-F26D-4171-9469-5DABA953C453}" presName="thinLine2b" presStyleLbl="callout" presStyleIdx="3" presStyleCnt="8"/>
      <dgm:spPr/>
    </dgm:pt>
    <dgm:pt modelId="{AF05E1B5-3032-40DC-B6AA-FCF46CE58C03}" type="pres">
      <dgm:prSet presAssocID="{267D4804-F26D-4171-9469-5DABA953C453}" presName="vertSpace2b" presStyleCnt="0"/>
      <dgm:spPr/>
    </dgm:pt>
    <dgm:pt modelId="{76CE1C08-4016-44B1-AFF0-3F6DC71F3E87}" type="pres">
      <dgm:prSet presAssocID="{861A0F7E-91CB-44DB-AFF1-9F79BE0E005C}" presName="horz2" presStyleCnt="0"/>
      <dgm:spPr/>
    </dgm:pt>
    <dgm:pt modelId="{406AF754-4749-4356-A713-C94326CBCA0A}" type="pres">
      <dgm:prSet presAssocID="{861A0F7E-91CB-44DB-AFF1-9F79BE0E005C}" presName="horzSpace2" presStyleCnt="0"/>
      <dgm:spPr/>
    </dgm:pt>
    <dgm:pt modelId="{D77929E6-EDE4-44E6-A441-4C29160A4C76}" type="pres">
      <dgm:prSet presAssocID="{861A0F7E-91CB-44DB-AFF1-9F79BE0E005C}" presName="tx2" presStyleLbl="revTx" presStyleIdx="5" presStyleCnt="9"/>
      <dgm:spPr/>
    </dgm:pt>
    <dgm:pt modelId="{41B5CEDF-0D28-42E5-9696-06D4616F8E05}" type="pres">
      <dgm:prSet presAssocID="{861A0F7E-91CB-44DB-AFF1-9F79BE0E005C}" presName="vert2" presStyleCnt="0"/>
      <dgm:spPr/>
    </dgm:pt>
    <dgm:pt modelId="{0C8A6D73-93A0-4B2C-ADD3-3EC6837A5833}" type="pres">
      <dgm:prSet presAssocID="{861A0F7E-91CB-44DB-AFF1-9F79BE0E005C}" presName="thinLine2b" presStyleLbl="callout" presStyleIdx="4" presStyleCnt="8"/>
      <dgm:spPr/>
    </dgm:pt>
    <dgm:pt modelId="{64D30786-BB6E-4786-A7F4-71CFD3787793}" type="pres">
      <dgm:prSet presAssocID="{861A0F7E-91CB-44DB-AFF1-9F79BE0E005C}" presName="vertSpace2b" presStyleCnt="0"/>
      <dgm:spPr/>
    </dgm:pt>
    <dgm:pt modelId="{3AAF052F-59BC-4A81-8B4D-32011286EAD9}" type="pres">
      <dgm:prSet presAssocID="{BC5B83C6-C4F0-42AC-A3D8-068C627E07B1}" presName="horz2" presStyleCnt="0"/>
      <dgm:spPr/>
    </dgm:pt>
    <dgm:pt modelId="{BA858720-B605-4F3A-9503-9FA0452F5E27}" type="pres">
      <dgm:prSet presAssocID="{BC5B83C6-C4F0-42AC-A3D8-068C627E07B1}" presName="horzSpace2" presStyleCnt="0"/>
      <dgm:spPr/>
    </dgm:pt>
    <dgm:pt modelId="{33D1330E-FB66-4078-8060-9379F3150788}" type="pres">
      <dgm:prSet presAssocID="{BC5B83C6-C4F0-42AC-A3D8-068C627E07B1}" presName="tx2" presStyleLbl="revTx" presStyleIdx="6" presStyleCnt="9"/>
      <dgm:spPr/>
    </dgm:pt>
    <dgm:pt modelId="{B92F9E7F-E749-47C7-BB52-1905E9BF6F70}" type="pres">
      <dgm:prSet presAssocID="{BC5B83C6-C4F0-42AC-A3D8-068C627E07B1}" presName="vert2" presStyleCnt="0"/>
      <dgm:spPr/>
    </dgm:pt>
    <dgm:pt modelId="{F43FA90F-2A7E-4B99-887E-B0C6FEE968B1}" type="pres">
      <dgm:prSet presAssocID="{BC5B83C6-C4F0-42AC-A3D8-068C627E07B1}" presName="thinLine2b" presStyleLbl="callout" presStyleIdx="5" presStyleCnt="8"/>
      <dgm:spPr/>
    </dgm:pt>
    <dgm:pt modelId="{6C16B2E0-9B35-4A21-A3E7-B15A083AC180}" type="pres">
      <dgm:prSet presAssocID="{BC5B83C6-C4F0-42AC-A3D8-068C627E07B1}" presName="vertSpace2b" presStyleCnt="0"/>
      <dgm:spPr/>
    </dgm:pt>
    <dgm:pt modelId="{7D9DF694-700B-4F94-BE4A-7D833C46FC85}" type="pres">
      <dgm:prSet presAssocID="{141814C6-EB1B-4B0A-AF82-DC924DFD5CCC}" presName="horz2" presStyleCnt="0"/>
      <dgm:spPr/>
    </dgm:pt>
    <dgm:pt modelId="{C0F2363A-A437-4905-B57D-F7A2A78B8A04}" type="pres">
      <dgm:prSet presAssocID="{141814C6-EB1B-4B0A-AF82-DC924DFD5CCC}" presName="horzSpace2" presStyleCnt="0"/>
      <dgm:spPr/>
    </dgm:pt>
    <dgm:pt modelId="{F5D0E838-DBF7-4944-8715-09B5C34B1BAD}" type="pres">
      <dgm:prSet presAssocID="{141814C6-EB1B-4B0A-AF82-DC924DFD5CCC}" presName="tx2" presStyleLbl="revTx" presStyleIdx="7" presStyleCnt="9"/>
      <dgm:spPr/>
    </dgm:pt>
    <dgm:pt modelId="{3B4BF1B0-809A-4555-8F0D-310EA7712CEE}" type="pres">
      <dgm:prSet presAssocID="{141814C6-EB1B-4B0A-AF82-DC924DFD5CCC}" presName="vert2" presStyleCnt="0"/>
      <dgm:spPr/>
    </dgm:pt>
    <dgm:pt modelId="{CA552739-7F92-4E73-B609-D3B5BEAEDB38}" type="pres">
      <dgm:prSet presAssocID="{141814C6-EB1B-4B0A-AF82-DC924DFD5CCC}" presName="thinLine2b" presStyleLbl="callout" presStyleIdx="6" presStyleCnt="8"/>
      <dgm:spPr/>
    </dgm:pt>
    <dgm:pt modelId="{21EE4CAD-73AF-4134-9D2D-050B8C12F1F3}" type="pres">
      <dgm:prSet presAssocID="{141814C6-EB1B-4B0A-AF82-DC924DFD5CCC}" presName="vertSpace2b" presStyleCnt="0"/>
      <dgm:spPr/>
    </dgm:pt>
    <dgm:pt modelId="{3F4DDF53-F189-404D-A85B-B7AFFFD717EB}" type="pres">
      <dgm:prSet presAssocID="{03C1F081-CBB2-4AEF-866C-DD2581351ECA}" presName="horz2" presStyleCnt="0"/>
      <dgm:spPr/>
    </dgm:pt>
    <dgm:pt modelId="{B9E8545F-DFF6-4921-8CEF-330930F8246A}" type="pres">
      <dgm:prSet presAssocID="{03C1F081-CBB2-4AEF-866C-DD2581351ECA}" presName="horzSpace2" presStyleCnt="0"/>
      <dgm:spPr/>
    </dgm:pt>
    <dgm:pt modelId="{9A1C325D-5CAD-493E-BAB0-DF240A4D4E1E}" type="pres">
      <dgm:prSet presAssocID="{03C1F081-CBB2-4AEF-866C-DD2581351ECA}" presName="tx2" presStyleLbl="revTx" presStyleIdx="8" presStyleCnt="9"/>
      <dgm:spPr/>
    </dgm:pt>
    <dgm:pt modelId="{98B7499A-418E-49C1-AE72-905035A10D2A}" type="pres">
      <dgm:prSet presAssocID="{03C1F081-CBB2-4AEF-866C-DD2581351ECA}" presName="vert2" presStyleCnt="0"/>
      <dgm:spPr/>
    </dgm:pt>
    <dgm:pt modelId="{B02E4B77-BD8C-4F25-B274-AF1D5180C0C2}" type="pres">
      <dgm:prSet presAssocID="{03C1F081-CBB2-4AEF-866C-DD2581351ECA}" presName="thinLine2b" presStyleLbl="callout" presStyleIdx="7" presStyleCnt="8"/>
      <dgm:spPr/>
    </dgm:pt>
    <dgm:pt modelId="{7A7FEAC3-C89D-490E-80DA-B9EDBE09D5B2}" type="pres">
      <dgm:prSet presAssocID="{03C1F081-CBB2-4AEF-866C-DD2581351ECA}" presName="vertSpace2b" presStyleCnt="0"/>
      <dgm:spPr/>
    </dgm:pt>
  </dgm:ptLst>
  <dgm:cxnLst>
    <dgm:cxn modelId="{6F529117-0F74-41D3-A98D-289E828BF7B1}" srcId="{637A79F8-6C1F-4E56-AC77-2A455D215879}" destId="{D3818A15-1907-4148-AEBE-739EECC59BC2}" srcOrd="2" destOrd="0" parTransId="{B1C411CA-167C-4A1B-A43A-512D84624C1B}" sibTransId="{9B35E377-671B-4A8E-B41E-10ACC4B3191F}"/>
    <dgm:cxn modelId="{B6062A28-56AA-40F0-B930-E81285EF7F56}" type="presOf" srcId="{D3818A15-1907-4148-AEBE-739EECC59BC2}" destId="{B1F73B4D-2D7B-44B3-8E39-B4EB7A229591}" srcOrd="0" destOrd="0" presId="urn:microsoft.com/office/officeart/2008/layout/LinedList"/>
    <dgm:cxn modelId="{E254EE2A-5B09-4E65-BE6D-A2F6B80E4D42}" type="presOf" srcId="{267D4804-F26D-4171-9469-5DABA953C453}" destId="{5976E4ED-3DC1-4837-8240-65650C85E952}" srcOrd="0" destOrd="0" presId="urn:microsoft.com/office/officeart/2008/layout/LinedList"/>
    <dgm:cxn modelId="{7C84823E-D21C-431A-AB81-01808452C901}" type="presOf" srcId="{03C1F081-CBB2-4AEF-866C-DD2581351ECA}" destId="{9A1C325D-5CAD-493E-BAB0-DF240A4D4E1E}" srcOrd="0" destOrd="0" presId="urn:microsoft.com/office/officeart/2008/layout/LinedList"/>
    <dgm:cxn modelId="{AC7F2C4D-8167-4A2B-A408-17542697FE6E}" type="presOf" srcId="{A9926277-7800-4FA8-BD98-D33175E34396}" destId="{6CBE84C4-42CA-4FC8-8BF0-3C927C45708A}" srcOrd="0" destOrd="0" presId="urn:microsoft.com/office/officeart/2008/layout/LinedList"/>
    <dgm:cxn modelId="{E4D19680-BA21-4A3B-BFC4-A500FAB87C9A}" type="presOf" srcId="{861A0F7E-91CB-44DB-AFF1-9F79BE0E005C}" destId="{D77929E6-EDE4-44E6-A441-4C29160A4C76}" srcOrd="0" destOrd="0" presId="urn:microsoft.com/office/officeart/2008/layout/LinedList"/>
    <dgm:cxn modelId="{2630FD84-7C72-40E2-A1DD-CBF12D89E6A0}" srcId="{637A79F8-6C1F-4E56-AC77-2A455D215879}" destId="{A9926277-7800-4FA8-BD98-D33175E34396}" srcOrd="1" destOrd="0" parTransId="{FCB11300-8E63-45F2-A2BF-0187297371AC}" sibTransId="{218D7C73-384F-4762-8801-7639579A9F43}"/>
    <dgm:cxn modelId="{5B866F87-B429-44F0-BBDC-6B9F6014863C}" type="presOf" srcId="{96344CC1-F511-47C7-B8F1-93106FEB4338}" destId="{988ACA9C-638A-4977-BDC8-FC3D292F33D0}" srcOrd="0" destOrd="0" presId="urn:microsoft.com/office/officeart/2008/layout/LinedList"/>
    <dgm:cxn modelId="{3FAEC792-0636-4EB5-B244-E461612E772D}" srcId="{637A79F8-6C1F-4E56-AC77-2A455D215879}" destId="{267D4804-F26D-4171-9469-5DABA953C453}" srcOrd="3" destOrd="0" parTransId="{443B909A-67F1-40F2-9934-11E3167181F8}" sibTransId="{66686904-0261-4080-B798-74379F0AF4F9}"/>
    <dgm:cxn modelId="{3FFD4FA8-E98B-4480-A8BC-3F04418D6F3D}" srcId="{637A79F8-6C1F-4E56-AC77-2A455D215879}" destId="{BC5B83C6-C4F0-42AC-A3D8-068C627E07B1}" srcOrd="5" destOrd="0" parTransId="{3E1BD5C4-8638-4262-AF06-35C6805AC4E3}" sibTransId="{0598961A-08F3-47A9-9604-6F9B1F1D3E5D}"/>
    <dgm:cxn modelId="{62638BA9-615F-4725-8CF0-369648D73F0C}" type="presOf" srcId="{637A79F8-6C1F-4E56-AC77-2A455D215879}" destId="{B4E895A4-E103-4B68-AE8B-1F504727B9F3}" srcOrd="0" destOrd="0" presId="urn:microsoft.com/office/officeart/2008/layout/LinedList"/>
    <dgm:cxn modelId="{EA46CBAE-881F-4881-9716-E1822E5A2446}" type="presOf" srcId="{1F9A3E16-74E7-42AD-89ED-17FBDB67478B}" destId="{B9643913-82B5-4698-9202-509A492463E1}" srcOrd="0" destOrd="0" presId="urn:microsoft.com/office/officeart/2008/layout/LinedList"/>
    <dgm:cxn modelId="{D10184B1-BDCC-470D-ADC9-18B446823B84}" srcId="{637A79F8-6C1F-4E56-AC77-2A455D215879}" destId="{96344CC1-F511-47C7-B8F1-93106FEB4338}" srcOrd="0" destOrd="0" parTransId="{9A540D34-A797-41C8-99A6-A5D21861B98B}" sibTransId="{B23F7D1C-8854-4BB7-81AB-0A9F5D8DD203}"/>
    <dgm:cxn modelId="{F8CBC6B4-A303-41CF-9E99-2BBB5D30B30B}" srcId="{637A79F8-6C1F-4E56-AC77-2A455D215879}" destId="{03C1F081-CBB2-4AEF-866C-DD2581351ECA}" srcOrd="7" destOrd="0" parTransId="{0B2B2FA9-B889-4A3A-BF21-BFEF150C6CCE}" sibTransId="{9B97D7BE-C192-4E3F-8FAF-82F01A5E7575}"/>
    <dgm:cxn modelId="{A509FDCD-F7E7-4B3A-A893-7C44A0C91BAE}" type="presOf" srcId="{141814C6-EB1B-4B0A-AF82-DC924DFD5CCC}" destId="{F5D0E838-DBF7-4944-8715-09B5C34B1BAD}" srcOrd="0" destOrd="0" presId="urn:microsoft.com/office/officeart/2008/layout/LinedList"/>
    <dgm:cxn modelId="{B8E44CD4-8D52-4E91-9295-E16C76063238}" srcId="{1F9A3E16-74E7-42AD-89ED-17FBDB67478B}" destId="{637A79F8-6C1F-4E56-AC77-2A455D215879}" srcOrd="0" destOrd="0" parTransId="{968BE4B0-647E-4AD3-9684-BF190D848239}" sibTransId="{D22F4ACB-AA26-41DD-89A4-9B213F1E51FB}"/>
    <dgm:cxn modelId="{2F40A1D7-C2BA-4BDD-BE98-8FC482C5F00C}" srcId="{637A79F8-6C1F-4E56-AC77-2A455D215879}" destId="{141814C6-EB1B-4B0A-AF82-DC924DFD5CCC}" srcOrd="6" destOrd="0" parTransId="{71CEC0C2-E7CA-4E63-897D-9EB6A3FEA4B8}" sibTransId="{346F9374-68B9-4D4D-AA44-B67062BC24F8}"/>
    <dgm:cxn modelId="{AAD54CDB-8966-418D-8BDE-DD77296802C2}" type="presOf" srcId="{BC5B83C6-C4F0-42AC-A3D8-068C627E07B1}" destId="{33D1330E-FB66-4078-8060-9379F3150788}" srcOrd="0" destOrd="0" presId="urn:microsoft.com/office/officeart/2008/layout/LinedList"/>
    <dgm:cxn modelId="{BE7147F7-883A-40CC-B614-1B036E758B87}" srcId="{637A79F8-6C1F-4E56-AC77-2A455D215879}" destId="{861A0F7E-91CB-44DB-AFF1-9F79BE0E005C}" srcOrd="4" destOrd="0" parTransId="{6B4FB985-9921-49DF-88B0-642B09F7EC20}" sibTransId="{3449C85E-BFC0-43DE-AC0D-373E19404808}"/>
    <dgm:cxn modelId="{2A0F9D56-3734-4E4D-B938-4CEBF3B186D3}" type="presParOf" srcId="{B9643913-82B5-4698-9202-509A492463E1}" destId="{B5EC3F7A-1919-4FC1-88C3-7DEE505A779F}" srcOrd="0" destOrd="0" presId="urn:microsoft.com/office/officeart/2008/layout/LinedList"/>
    <dgm:cxn modelId="{B7240797-FD3B-4962-A7F4-8ABE38E77A90}" type="presParOf" srcId="{B9643913-82B5-4698-9202-509A492463E1}" destId="{41E9252E-9940-4715-8486-1DAB37220967}" srcOrd="1" destOrd="0" presId="urn:microsoft.com/office/officeart/2008/layout/LinedList"/>
    <dgm:cxn modelId="{AFB1F83E-C58B-4F59-93DA-D2E4C1A2E6FA}" type="presParOf" srcId="{41E9252E-9940-4715-8486-1DAB37220967}" destId="{B4E895A4-E103-4B68-AE8B-1F504727B9F3}" srcOrd="0" destOrd="0" presId="urn:microsoft.com/office/officeart/2008/layout/LinedList"/>
    <dgm:cxn modelId="{55B11D75-A44A-4151-8C56-927953691C9A}" type="presParOf" srcId="{41E9252E-9940-4715-8486-1DAB37220967}" destId="{16F80473-2BF0-4402-BE38-D59F639D7770}" srcOrd="1" destOrd="0" presId="urn:microsoft.com/office/officeart/2008/layout/LinedList"/>
    <dgm:cxn modelId="{51821305-1802-43DA-9480-87AE2DB5E951}" type="presParOf" srcId="{16F80473-2BF0-4402-BE38-D59F639D7770}" destId="{2F53D04A-BB03-4184-BA2B-926E3B42AE00}" srcOrd="0" destOrd="0" presId="urn:microsoft.com/office/officeart/2008/layout/LinedList"/>
    <dgm:cxn modelId="{B4420BD8-9DA7-4FCF-A684-EBABF8C7A89E}" type="presParOf" srcId="{16F80473-2BF0-4402-BE38-D59F639D7770}" destId="{8EF99DCB-BCD8-46F6-A265-5FD2A25D1E57}" srcOrd="1" destOrd="0" presId="urn:microsoft.com/office/officeart/2008/layout/LinedList"/>
    <dgm:cxn modelId="{4F0C7BF9-81C2-4918-B888-3DD1CE3F57FC}" type="presParOf" srcId="{8EF99DCB-BCD8-46F6-A265-5FD2A25D1E57}" destId="{7ECC5885-9548-46F6-9696-A868CB7A4988}" srcOrd="0" destOrd="0" presId="urn:microsoft.com/office/officeart/2008/layout/LinedList"/>
    <dgm:cxn modelId="{1435D35F-B1E0-4DBC-AC65-1AC4942F8FE5}" type="presParOf" srcId="{8EF99DCB-BCD8-46F6-A265-5FD2A25D1E57}" destId="{988ACA9C-638A-4977-BDC8-FC3D292F33D0}" srcOrd="1" destOrd="0" presId="urn:microsoft.com/office/officeart/2008/layout/LinedList"/>
    <dgm:cxn modelId="{94335BD4-5D20-4804-BEB8-3C6782CA6DC5}" type="presParOf" srcId="{8EF99DCB-BCD8-46F6-A265-5FD2A25D1E57}" destId="{874EF8B0-9BB8-4DB6-B512-A99C77247B40}" srcOrd="2" destOrd="0" presId="urn:microsoft.com/office/officeart/2008/layout/LinedList"/>
    <dgm:cxn modelId="{FC0E6B14-5A01-4E22-BDD0-A6D96A94A9B0}" type="presParOf" srcId="{16F80473-2BF0-4402-BE38-D59F639D7770}" destId="{BF06B3F8-0B49-40F3-AE73-33FE6ACABC20}" srcOrd="2" destOrd="0" presId="urn:microsoft.com/office/officeart/2008/layout/LinedList"/>
    <dgm:cxn modelId="{E686C44D-0C5D-4A2D-9D56-5785D4706663}" type="presParOf" srcId="{16F80473-2BF0-4402-BE38-D59F639D7770}" destId="{61612D81-FB36-42C1-BEC0-F98615E7DB05}" srcOrd="3" destOrd="0" presId="urn:microsoft.com/office/officeart/2008/layout/LinedList"/>
    <dgm:cxn modelId="{4B24DF81-17EF-4344-900D-2901C7229DEE}" type="presParOf" srcId="{16F80473-2BF0-4402-BE38-D59F639D7770}" destId="{7A608B54-CC9C-482B-A0A8-F73F49D6AB6A}" srcOrd="4" destOrd="0" presId="urn:microsoft.com/office/officeart/2008/layout/LinedList"/>
    <dgm:cxn modelId="{46178BA7-F42F-401E-B069-9D14E79C195F}" type="presParOf" srcId="{7A608B54-CC9C-482B-A0A8-F73F49D6AB6A}" destId="{640C060C-B9BA-4BA4-A644-76EC45481081}" srcOrd="0" destOrd="0" presId="urn:microsoft.com/office/officeart/2008/layout/LinedList"/>
    <dgm:cxn modelId="{35018DC3-6693-4A6A-9B2E-D7B252C0E288}" type="presParOf" srcId="{7A608B54-CC9C-482B-A0A8-F73F49D6AB6A}" destId="{6CBE84C4-42CA-4FC8-8BF0-3C927C45708A}" srcOrd="1" destOrd="0" presId="urn:microsoft.com/office/officeart/2008/layout/LinedList"/>
    <dgm:cxn modelId="{BE6604C9-AF47-4C84-BEA8-018573053915}" type="presParOf" srcId="{7A608B54-CC9C-482B-A0A8-F73F49D6AB6A}" destId="{ECB2C110-E38D-4782-A52F-7AE1608FE422}" srcOrd="2" destOrd="0" presId="urn:microsoft.com/office/officeart/2008/layout/LinedList"/>
    <dgm:cxn modelId="{23C51D31-C235-44ED-A35B-33485E6C3E66}" type="presParOf" srcId="{16F80473-2BF0-4402-BE38-D59F639D7770}" destId="{9B7E969C-7A7A-4C86-8E1C-C1DC010FFEA0}" srcOrd="5" destOrd="0" presId="urn:microsoft.com/office/officeart/2008/layout/LinedList"/>
    <dgm:cxn modelId="{FA80F3AB-9B2B-47AC-9324-95189A74F26B}" type="presParOf" srcId="{16F80473-2BF0-4402-BE38-D59F639D7770}" destId="{9BDECB0F-E157-48D0-B575-FBC6908AD5EB}" srcOrd="6" destOrd="0" presId="urn:microsoft.com/office/officeart/2008/layout/LinedList"/>
    <dgm:cxn modelId="{E9BBA223-B186-4EB7-A3A1-28239276E8A6}" type="presParOf" srcId="{16F80473-2BF0-4402-BE38-D59F639D7770}" destId="{4DAE76F7-DC0B-4827-8DF6-0474CD9947CA}" srcOrd="7" destOrd="0" presId="urn:microsoft.com/office/officeart/2008/layout/LinedList"/>
    <dgm:cxn modelId="{9D6AE18B-5ACE-4932-861E-29780434E8DA}" type="presParOf" srcId="{4DAE76F7-DC0B-4827-8DF6-0474CD9947CA}" destId="{7F8F7067-C48C-45A6-AC11-658C8581A54C}" srcOrd="0" destOrd="0" presId="urn:microsoft.com/office/officeart/2008/layout/LinedList"/>
    <dgm:cxn modelId="{9227E310-DA5E-42D1-9E08-23C16F587919}" type="presParOf" srcId="{4DAE76F7-DC0B-4827-8DF6-0474CD9947CA}" destId="{B1F73B4D-2D7B-44B3-8E39-B4EB7A229591}" srcOrd="1" destOrd="0" presId="urn:microsoft.com/office/officeart/2008/layout/LinedList"/>
    <dgm:cxn modelId="{36BBBD7C-1CAA-442F-977B-6928F8B3D21C}" type="presParOf" srcId="{4DAE76F7-DC0B-4827-8DF6-0474CD9947CA}" destId="{705720C7-DF80-4DB0-ABE0-EDC9D6C1B8D6}" srcOrd="2" destOrd="0" presId="urn:microsoft.com/office/officeart/2008/layout/LinedList"/>
    <dgm:cxn modelId="{2579A870-9DC4-4DD6-954B-6D8D6CC6B207}" type="presParOf" srcId="{16F80473-2BF0-4402-BE38-D59F639D7770}" destId="{EB39B1F6-D325-41BB-9D04-E420E3D87C2F}" srcOrd="8" destOrd="0" presId="urn:microsoft.com/office/officeart/2008/layout/LinedList"/>
    <dgm:cxn modelId="{AE862563-66EE-46F9-BDBC-0E55F6CCB7F3}" type="presParOf" srcId="{16F80473-2BF0-4402-BE38-D59F639D7770}" destId="{5DD6A225-20C8-40C8-A0D5-8B1365FD6CED}" srcOrd="9" destOrd="0" presId="urn:microsoft.com/office/officeart/2008/layout/LinedList"/>
    <dgm:cxn modelId="{CFC013BF-6D83-4E77-9B78-8FB1EFD85CA0}" type="presParOf" srcId="{16F80473-2BF0-4402-BE38-D59F639D7770}" destId="{D084A364-8E90-41E5-B7A5-27D644F32C7C}" srcOrd="10" destOrd="0" presId="urn:microsoft.com/office/officeart/2008/layout/LinedList"/>
    <dgm:cxn modelId="{D9CB34E6-7A07-402F-A3F5-120247F53834}" type="presParOf" srcId="{D084A364-8E90-41E5-B7A5-27D644F32C7C}" destId="{E96B698E-CEAB-4482-999D-D744CA62F024}" srcOrd="0" destOrd="0" presId="urn:microsoft.com/office/officeart/2008/layout/LinedList"/>
    <dgm:cxn modelId="{AB6C4CB8-C7BF-45CD-BF77-75C7FF35E500}" type="presParOf" srcId="{D084A364-8E90-41E5-B7A5-27D644F32C7C}" destId="{5976E4ED-3DC1-4837-8240-65650C85E952}" srcOrd="1" destOrd="0" presId="urn:microsoft.com/office/officeart/2008/layout/LinedList"/>
    <dgm:cxn modelId="{B1783F75-D9F5-4C62-849D-5E4588760B1E}" type="presParOf" srcId="{D084A364-8E90-41E5-B7A5-27D644F32C7C}" destId="{6FE1B1FF-C26A-4E61-B844-1C4C6E6192B5}" srcOrd="2" destOrd="0" presId="urn:microsoft.com/office/officeart/2008/layout/LinedList"/>
    <dgm:cxn modelId="{9FB51560-ADFC-4152-97FD-B57CFE35F3FC}" type="presParOf" srcId="{16F80473-2BF0-4402-BE38-D59F639D7770}" destId="{076C51A7-425B-428D-82A5-EE4AB5E9A103}" srcOrd="11" destOrd="0" presId="urn:microsoft.com/office/officeart/2008/layout/LinedList"/>
    <dgm:cxn modelId="{67A17887-6142-43D8-9E80-BAAC50A4E90C}" type="presParOf" srcId="{16F80473-2BF0-4402-BE38-D59F639D7770}" destId="{AF05E1B5-3032-40DC-B6AA-FCF46CE58C03}" srcOrd="12" destOrd="0" presId="urn:microsoft.com/office/officeart/2008/layout/LinedList"/>
    <dgm:cxn modelId="{46BE9600-A54E-4DD5-B82D-91BA7F1BCFD8}" type="presParOf" srcId="{16F80473-2BF0-4402-BE38-D59F639D7770}" destId="{76CE1C08-4016-44B1-AFF0-3F6DC71F3E87}" srcOrd="13" destOrd="0" presId="urn:microsoft.com/office/officeart/2008/layout/LinedList"/>
    <dgm:cxn modelId="{50688F22-AA57-4D1A-BC2F-9ED4132BA8DF}" type="presParOf" srcId="{76CE1C08-4016-44B1-AFF0-3F6DC71F3E87}" destId="{406AF754-4749-4356-A713-C94326CBCA0A}" srcOrd="0" destOrd="0" presId="urn:microsoft.com/office/officeart/2008/layout/LinedList"/>
    <dgm:cxn modelId="{5E01CCA0-DF16-459E-B6FC-4AA5FBE5B460}" type="presParOf" srcId="{76CE1C08-4016-44B1-AFF0-3F6DC71F3E87}" destId="{D77929E6-EDE4-44E6-A441-4C29160A4C76}" srcOrd="1" destOrd="0" presId="urn:microsoft.com/office/officeart/2008/layout/LinedList"/>
    <dgm:cxn modelId="{13D09694-1964-48A7-83CB-B77223CF5A95}" type="presParOf" srcId="{76CE1C08-4016-44B1-AFF0-3F6DC71F3E87}" destId="{41B5CEDF-0D28-42E5-9696-06D4616F8E05}" srcOrd="2" destOrd="0" presId="urn:microsoft.com/office/officeart/2008/layout/LinedList"/>
    <dgm:cxn modelId="{B15566E1-A318-4131-9E9C-4A43574DFCE5}" type="presParOf" srcId="{16F80473-2BF0-4402-BE38-D59F639D7770}" destId="{0C8A6D73-93A0-4B2C-ADD3-3EC6837A5833}" srcOrd="14" destOrd="0" presId="urn:microsoft.com/office/officeart/2008/layout/LinedList"/>
    <dgm:cxn modelId="{121918F7-B1F4-4E37-9F94-77E40D9FC5A4}" type="presParOf" srcId="{16F80473-2BF0-4402-BE38-D59F639D7770}" destId="{64D30786-BB6E-4786-A7F4-71CFD3787793}" srcOrd="15" destOrd="0" presId="urn:microsoft.com/office/officeart/2008/layout/LinedList"/>
    <dgm:cxn modelId="{C4C58131-F783-4CC5-AA69-1443EC19AC39}" type="presParOf" srcId="{16F80473-2BF0-4402-BE38-D59F639D7770}" destId="{3AAF052F-59BC-4A81-8B4D-32011286EAD9}" srcOrd="16" destOrd="0" presId="urn:microsoft.com/office/officeart/2008/layout/LinedList"/>
    <dgm:cxn modelId="{E5D59AF6-235A-495D-A353-DEE99AC1291F}" type="presParOf" srcId="{3AAF052F-59BC-4A81-8B4D-32011286EAD9}" destId="{BA858720-B605-4F3A-9503-9FA0452F5E27}" srcOrd="0" destOrd="0" presId="urn:microsoft.com/office/officeart/2008/layout/LinedList"/>
    <dgm:cxn modelId="{A9299EE5-19B0-4497-9217-06C4DC897136}" type="presParOf" srcId="{3AAF052F-59BC-4A81-8B4D-32011286EAD9}" destId="{33D1330E-FB66-4078-8060-9379F3150788}" srcOrd="1" destOrd="0" presId="urn:microsoft.com/office/officeart/2008/layout/LinedList"/>
    <dgm:cxn modelId="{B135235E-EDA6-4453-BD81-F49EC6D40C06}" type="presParOf" srcId="{3AAF052F-59BC-4A81-8B4D-32011286EAD9}" destId="{B92F9E7F-E749-47C7-BB52-1905E9BF6F70}" srcOrd="2" destOrd="0" presId="urn:microsoft.com/office/officeart/2008/layout/LinedList"/>
    <dgm:cxn modelId="{9753DF97-5FE0-4CAF-BC99-62653F736D96}" type="presParOf" srcId="{16F80473-2BF0-4402-BE38-D59F639D7770}" destId="{F43FA90F-2A7E-4B99-887E-B0C6FEE968B1}" srcOrd="17" destOrd="0" presId="urn:microsoft.com/office/officeart/2008/layout/LinedList"/>
    <dgm:cxn modelId="{78F7FAFB-3D3B-4F20-8687-EEA8905F73DE}" type="presParOf" srcId="{16F80473-2BF0-4402-BE38-D59F639D7770}" destId="{6C16B2E0-9B35-4A21-A3E7-B15A083AC180}" srcOrd="18" destOrd="0" presId="urn:microsoft.com/office/officeart/2008/layout/LinedList"/>
    <dgm:cxn modelId="{83F8962C-7EBF-4E53-99A6-A1EAAC41BAEE}" type="presParOf" srcId="{16F80473-2BF0-4402-BE38-D59F639D7770}" destId="{7D9DF694-700B-4F94-BE4A-7D833C46FC85}" srcOrd="19" destOrd="0" presId="urn:microsoft.com/office/officeart/2008/layout/LinedList"/>
    <dgm:cxn modelId="{3CA92D40-5798-4339-B1B8-6B4BB946DD0C}" type="presParOf" srcId="{7D9DF694-700B-4F94-BE4A-7D833C46FC85}" destId="{C0F2363A-A437-4905-B57D-F7A2A78B8A04}" srcOrd="0" destOrd="0" presId="urn:microsoft.com/office/officeart/2008/layout/LinedList"/>
    <dgm:cxn modelId="{DCC0B0A0-0FDB-46FD-AA41-2080D59E6CDC}" type="presParOf" srcId="{7D9DF694-700B-4F94-BE4A-7D833C46FC85}" destId="{F5D0E838-DBF7-4944-8715-09B5C34B1BAD}" srcOrd="1" destOrd="0" presId="urn:microsoft.com/office/officeart/2008/layout/LinedList"/>
    <dgm:cxn modelId="{1300BB2A-4B66-4973-B994-288E96427C67}" type="presParOf" srcId="{7D9DF694-700B-4F94-BE4A-7D833C46FC85}" destId="{3B4BF1B0-809A-4555-8F0D-310EA7712CEE}" srcOrd="2" destOrd="0" presId="urn:microsoft.com/office/officeart/2008/layout/LinedList"/>
    <dgm:cxn modelId="{A175A314-D5C7-409E-9D23-7D4A0C5904B2}" type="presParOf" srcId="{16F80473-2BF0-4402-BE38-D59F639D7770}" destId="{CA552739-7F92-4E73-B609-D3B5BEAEDB38}" srcOrd="20" destOrd="0" presId="urn:microsoft.com/office/officeart/2008/layout/LinedList"/>
    <dgm:cxn modelId="{B16187E7-9653-4D2A-AC70-6DDBDC41BD6A}" type="presParOf" srcId="{16F80473-2BF0-4402-BE38-D59F639D7770}" destId="{21EE4CAD-73AF-4134-9D2D-050B8C12F1F3}" srcOrd="21" destOrd="0" presId="urn:microsoft.com/office/officeart/2008/layout/LinedList"/>
    <dgm:cxn modelId="{C0AFCC57-980A-4A3E-BAA8-EFF10CF7CD9D}" type="presParOf" srcId="{16F80473-2BF0-4402-BE38-D59F639D7770}" destId="{3F4DDF53-F189-404D-A85B-B7AFFFD717EB}" srcOrd="22" destOrd="0" presId="urn:microsoft.com/office/officeart/2008/layout/LinedList"/>
    <dgm:cxn modelId="{774C0B7B-11DD-4603-A2A2-BE1103418971}" type="presParOf" srcId="{3F4DDF53-F189-404D-A85B-B7AFFFD717EB}" destId="{B9E8545F-DFF6-4921-8CEF-330930F8246A}" srcOrd="0" destOrd="0" presId="urn:microsoft.com/office/officeart/2008/layout/LinedList"/>
    <dgm:cxn modelId="{B4B0FAE0-E8D6-4CB1-9387-060F16CEF8B4}" type="presParOf" srcId="{3F4DDF53-F189-404D-A85B-B7AFFFD717EB}" destId="{9A1C325D-5CAD-493E-BAB0-DF240A4D4E1E}" srcOrd="1" destOrd="0" presId="urn:microsoft.com/office/officeart/2008/layout/LinedList"/>
    <dgm:cxn modelId="{D06F3FAA-0F8D-40D2-A8BB-12C2489FDF5B}" type="presParOf" srcId="{3F4DDF53-F189-404D-A85B-B7AFFFD717EB}" destId="{98B7499A-418E-49C1-AE72-905035A10D2A}" srcOrd="2" destOrd="0" presId="urn:microsoft.com/office/officeart/2008/layout/LinedList"/>
    <dgm:cxn modelId="{2DD90596-A3C2-4B77-A4B2-EECDF9BC42D5}" type="presParOf" srcId="{16F80473-2BF0-4402-BE38-D59F639D7770}" destId="{B02E4B77-BD8C-4F25-B274-AF1D5180C0C2}" srcOrd="23" destOrd="0" presId="urn:microsoft.com/office/officeart/2008/layout/LinedList"/>
    <dgm:cxn modelId="{8805AAF6-B5B8-40DD-8CFD-0B5266824144}" type="presParOf" srcId="{16F80473-2BF0-4402-BE38-D59F639D7770}" destId="{7A7FEAC3-C89D-490E-80DA-B9EDBE09D5B2}"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C0731C-A2B3-4F53-9EC0-DE7D02DA74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6F423F0-B22B-47F8-B7BC-DB082CC2AAAB}">
      <dgm:prSet/>
      <dgm:spPr/>
      <dgm:t>
        <a:bodyPr/>
        <a:lstStyle/>
        <a:p>
          <a:r>
            <a:rPr lang="en-US"/>
            <a:t>Before Scaling (Raw Values):</a:t>
          </a:r>
        </a:p>
      </dgm:t>
    </dgm:pt>
    <dgm:pt modelId="{5C8B9AC6-ABAA-41C8-AB7E-05484D78DA7D}" type="parTrans" cxnId="{C63FEDE7-EC78-43F4-97BF-CB0B6BF87282}">
      <dgm:prSet/>
      <dgm:spPr/>
      <dgm:t>
        <a:bodyPr/>
        <a:lstStyle/>
        <a:p>
          <a:endParaRPr lang="en-US"/>
        </a:p>
      </dgm:t>
    </dgm:pt>
    <dgm:pt modelId="{CF65E90F-1D1D-4479-BBF1-BC1B7C9508B0}" type="sibTrans" cxnId="{C63FEDE7-EC78-43F4-97BF-CB0B6BF87282}">
      <dgm:prSet/>
      <dgm:spPr/>
      <dgm:t>
        <a:bodyPr/>
        <a:lstStyle/>
        <a:p>
          <a:endParaRPr lang="en-US"/>
        </a:p>
      </dgm:t>
    </dgm:pt>
    <dgm:pt modelId="{30BA8F15-EFD9-4AB1-BD51-08C843ABDF2F}">
      <dgm:prSet/>
      <dgm:spPr/>
      <dgm:t>
        <a:bodyPr/>
        <a:lstStyle/>
        <a:p>
          <a:r>
            <a:rPr lang="en-US" err="1"/>
            <a:t>Total_Spend</a:t>
          </a:r>
          <a:r>
            <a:rPr lang="en-US"/>
            <a:t> (R&amp;D + Marketing)Administration have very different ranges (hundreds of thousands vs. tens of thousands).</a:t>
          </a:r>
        </a:p>
      </dgm:t>
    </dgm:pt>
    <dgm:pt modelId="{2111DAE9-19A6-4016-852A-2B714B406E4F}" type="parTrans" cxnId="{3DF88671-F7AB-4DD9-8439-F2A7D94691D4}">
      <dgm:prSet/>
      <dgm:spPr/>
      <dgm:t>
        <a:bodyPr/>
        <a:lstStyle/>
        <a:p>
          <a:endParaRPr lang="en-US"/>
        </a:p>
      </dgm:t>
    </dgm:pt>
    <dgm:pt modelId="{38A7F566-F3CF-4604-BA2E-6A20665E7D8B}" type="sibTrans" cxnId="{3DF88671-F7AB-4DD9-8439-F2A7D94691D4}">
      <dgm:prSet/>
      <dgm:spPr/>
      <dgm:t>
        <a:bodyPr/>
        <a:lstStyle/>
        <a:p>
          <a:endParaRPr lang="en-US"/>
        </a:p>
      </dgm:t>
    </dgm:pt>
    <dgm:pt modelId="{F60EA87E-B68B-4150-80A2-92A0E17E536A}">
      <dgm:prSet/>
      <dgm:spPr/>
      <dgm:t>
        <a:bodyPr/>
        <a:lstStyle/>
        <a:p>
          <a:r>
            <a:rPr lang="en-US"/>
            <a:t>After Scaling (Standardization):</a:t>
          </a:r>
        </a:p>
      </dgm:t>
    </dgm:pt>
    <dgm:pt modelId="{F701ACA2-BF73-4AFD-801A-4BC0D6AB0A72}" type="parTrans" cxnId="{2BD679D7-9DEF-4D1E-9D08-2975DFE56470}">
      <dgm:prSet/>
      <dgm:spPr/>
      <dgm:t>
        <a:bodyPr/>
        <a:lstStyle/>
        <a:p>
          <a:endParaRPr lang="en-US"/>
        </a:p>
      </dgm:t>
    </dgm:pt>
    <dgm:pt modelId="{F4D3D344-74D7-4973-902B-AC502BB96149}" type="sibTrans" cxnId="{2BD679D7-9DEF-4D1E-9D08-2975DFE56470}">
      <dgm:prSet/>
      <dgm:spPr/>
      <dgm:t>
        <a:bodyPr/>
        <a:lstStyle/>
        <a:p>
          <a:endParaRPr lang="en-US"/>
        </a:p>
      </dgm:t>
    </dgm:pt>
    <dgm:pt modelId="{1C004E71-C08E-41DB-BB64-32B5ED650762}">
      <dgm:prSet/>
      <dgm:spPr/>
      <dgm:t>
        <a:bodyPr/>
        <a:lstStyle/>
        <a:p>
          <a:r>
            <a:rPr lang="en-US"/>
            <a:t>All predictors are on the same scale (e.g., mean = 0, std = 1).</a:t>
          </a:r>
        </a:p>
      </dgm:t>
    </dgm:pt>
    <dgm:pt modelId="{BD7165A8-8986-4618-960B-5433E24959EA}" type="parTrans" cxnId="{A113AB96-E9A8-4E35-9693-A433FDBCDA96}">
      <dgm:prSet/>
      <dgm:spPr/>
      <dgm:t>
        <a:bodyPr/>
        <a:lstStyle/>
        <a:p>
          <a:endParaRPr lang="en-US"/>
        </a:p>
      </dgm:t>
    </dgm:pt>
    <dgm:pt modelId="{8DC51B38-CCDE-4103-9A85-CD0F2AC61D92}" type="sibTrans" cxnId="{A113AB96-E9A8-4E35-9693-A433FDBCDA96}">
      <dgm:prSet/>
      <dgm:spPr/>
      <dgm:t>
        <a:bodyPr/>
        <a:lstStyle/>
        <a:p>
          <a:endParaRPr lang="en-US"/>
        </a:p>
      </dgm:t>
    </dgm:pt>
    <dgm:pt modelId="{73B77005-BFD5-44D3-848E-88668A5AEC64}">
      <dgm:prSet/>
      <dgm:spPr/>
      <dgm:t>
        <a:bodyPr/>
        <a:lstStyle/>
        <a:p>
          <a:r>
            <a:rPr lang="en-US"/>
            <a:t>Easier to compare the impact of R&amp;D vs. Marketing vs. Administration.</a:t>
          </a:r>
        </a:p>
      </dgm:t>
    </dgm:pt>
    <dgm:pt modelId="{30397BD8-4B7E-47C8-B816-5D1F838E6121}" type="parTrans" cxnId="{AF71FB7A-A5A2-44D0-BA21-736A4AB4D403}">
      <dgm:prSet/>
      <dgm:spPr/>
      <dgm:t>
        <a:bodyPr/>
        <a:lstStyle/>
        <a:p>
          <a:endParaRPr lang="en-US"/>
        </a:p>
      </dgm:t>
    </dgm:pt>
    <dgm:pt modelId="{C052E21F-25D2-4449-AC28-2BE07AB37030}" type="sibTrans" cxnId="{AF71FB7A-A5A2-44D0-BA21-736A4AB4D403}">
      <dgm:prSet/>
      <dgm:spPr/>
      <dgm:t>
        <a:bodyPr/>
        <a:lstStyle/>
        <a:p>
          <a:endParaRPr lang="en-US"/>
        </a:p>
      </dgm:t>
    </dgm:pt>
    <dgm:pt modelId="{5DDB7A94-3774-493A-80BD-E384D731274D}" type="pres">
      <dgm:prSet presAssocID="{33C0731C-A2B3-4F53-9EC0-DE7D02DA7484}" presName="linear" presStyleCnt="0">
        <dgm:presLayoutVars>
          <dgm:animLvl val="lvl"/>
          <dgm:resizeHandles val="exact"/>
        </dgm:presLayoutVars>
      </dgm:prSet>
      <dgm:spPr/>
    </dgm:pt>
    <dgm:pt modelId="{60B866E0-9837-4D1B-A796-3F3C1336A345}" type="pres">
      <dgm:prSet presAssocID="{56F423F0-B22B-47F8-B7BC-DB082CC2AAAB}" presName="parentText" presStyleLbl="node1" presStyleIdx="0" presStyleCnt="2">
        <dgm:presLayoutVars>
          <dgm:chMax val="0"/>
          <dgm:bulletEnabled val="1"/>
        </dgm:presLayoutVars>
      </dgm:prSet>
      <dgm:spPr/>
    </dgm:pt>
    <dgm:pt modelId="{ACC6E872-B406-4270-9572-AC3BB22F69BB}" type="pres">
      <dgm:prSet presAssocID="{56F423F0-B22B-47F8-B7BC-DB082CC2AAAB}" presName="childText" presStyleLbl="revTx" presStyleIdx="0" presStyleCnt="2">
        <dgm:presLayoutVars>
          <dgm:bulletEnabled val="1"/>
        </dgm:presLayoutVars>
      </dgm:prSet>
      <dgm:spPr/>
    </dgm:pt>
    <dgm:pt modelId="{305258C0-3223-45F3-8DEA-FA179FE0E96F}" type="pres">
      <dgm:prSet presAssocID="{F60EA87E-B68B-4150-80A2-92A0E17E536A}" presName="parentText" presStyleLbl="node1" presStyleIdx="1" presStyleCnt="2">
        <dgm:presLayoutVars>
          <dgm:chMax val="0"/>
          <dgm:bulletEnabled val="1"/>
        </dgm:presLayoutVars>
      </dgm:prSet>
      <dgm:spPr/>
    </dgm:pt>
    <dgm:pt modelId="{2712E4DD-30AC-4784-BB29-F0B40B9D03EE}" type="pres">
      <dgm:prSet presAssocID="{F60EA87E-B68B-4150-80A2-92A0E17E536A}" presName="childText" presStyleLbl="revTx" presStyleIdx="1" presStyleCnt="2">
        <dgm:presLayoutVars>
          <dgm:bulletEnabled val="1"/>
        </dgm:presLayoutVars>
      </dgm:prSet>
      <dgm:spPr/>
    </dgm:pt>
  </dgm:ptLst>
  <dgm:cxnLst>
    <dgm:cxn modelId="{AA40C135-D605-4CFD-891E-4323CD9F5C4C}" type="presOf" srcId="{73B77005-BFD5-44D3-848E-88668A5AEC64}" destId="{2712E4DD-30AC-4784-BB29-F0B40B9D03EE}" srcOrd="0" destOrd="1" presId="urn:microsoft.com/office/officeart/2005/8/layout/vList2"/>
    <dgm:cxn modelId="{07DC0637-4995-4695-A7A2-2EB2DF679D47}" type="presOf" srcId="{30BA8F15-EFD9-4AB1-BD51-08C843ABDF2F}" destId="{ACC6E872-B406-4270-9572-AC3BB22F69BB}" srcOrd="0" destOrd="0" presId="urn:microsoft.com/office/officeart/2005/8/layout/vList2"/>
    <dgm:cxn modelId="{DA381A39-3CD8-48AB-A113-F8A758E03C9B}" type="presOf" srcId="{56F423F0-B22B-47F8-B7BC-DB082CC2AAAB}" destId="{60B866E0-9837-4D1B-A796-3F3C1336A345}" srcOrd="0" destOrd="0" presId="urn:microsoft.com/office/officeart/2005/8/layout/vList2"/>
    <dgm:cxn modelId="{3DF88671-F7AB-4DD9-8439-F2A7D94691D4}" srcId="{56F423F0-B22B-47F8-B7BC-DB082CC2AAAB}" destId="{30BA8F15-EFD9-4AB1-BD51-08C843ABDF2F}" srcOrd="0" destOrd="0" parTransId="{2111DAE9-19A6-4016-852A-2B714B406E4F}" sibTransId="{38A7F566-F3CF-4604-BA2E-6A20665E7D8B}"/>
    <dgm:cxn modelId="{AF71FB7A-A5A2-44D0-BA21-736A4AB4D403}" srcId="{F60EA87E-B68B-4150-80A2-92A0E17E536A}" destId="{73B77005-BFD5-44D3-848E-88668A5AEC64}" srcOrd="1" destOrd="0" parTransId="{30397BD8-4B7E-47C8-B816-5D1F838E6121}" sibTransId="{C052E21F-25D2-4449-AC28-2BE07AB37030}"/>
    <dgm:cxn modelId="{E7CD8D89-F1A0-4395-B674-6D3CB51512B9}" type="presOf" srcId="{F60EA87E-B68B-4150-80A2-92A0E17E536A}" destId="{305258C0-3223-45F3-8DEA-FA179FE0E96F}" srcOrd="0" destOrd="0" presId="urn:microsoft.com/office/officeart/2005/8/layout/vList2"/>
    <dgm:cxn modelId="{A113AB96-E9A8-4E35-9693-A433FDBCDA96}" srcId="{F60EA87E-B68B-4150-80A2-92A0E17E536A}" destId="{1C004E71-C08E-41DB-BB64-32B5ED650762}" srcOrd="0" destOrd="0" parTransId="{BD7165A8-8986-4618-960B-5433E24959EA}" sibTransId="{8DC51B38-CCDE-4103-9A85-CD0F2AC61D92}"/>
    <dgm:cxn modelId="{D301CE99-21A6-406B-B938-D4D9C802BACD}" type="presOf" srcId="{33C0731C-A2B3-4F53-9EC0-DE7D02DA7484}" destId="{5DDB7A94-3774-493A-80BD-E384D731274D}" srcOrd="0" destOrd="0" presId="urn:microsoft.com/office/officeart/2005/8/layout/vList2"/>
    <dgm:cxn modelId="{2BD679D7-9DEF-4D1E-9D08-2975DFE56470}" srcId="{33C0731C-A2B3-4F53-9EC0-DE7D02DA7484}" destId="{F60EA87E-B68B-4150-80A2-92A0E17E536A}" srcOrd="1" destOrd="0" parTransId="{F701ACA2-BF73-4AFD-801A-4BC0D6AB0A72}" sibTransId="{F4D3D344-74D7-4973-902B-AC502BB96149}"/>
    <dgm:cxn modelId="{B30106DC-2D54-48BE-948C-025884D3D0D3}" type="presOf" srcId="{1C004E71-C08E-41DB-BB64-32B5ED650762}" destId="{2712E4DD-30AC-4784-BB29-F0B40B9D03EE}" srcOrd="0" destOrd="0" presId="urn:microsoft.com/office/officeart/2005/8/layout/vList2"/>
    <dgm:cxn modelId="{C63FEDE7-EC78-43F4-97BF-CB0B6BF87282}" srcId="{33C0731C-A2B3-4F53-9EC0-DE7D02DA7484}" destId="{56F423F0-B22B-47F8-B7BC-DB082CC2AAAB}" srcOrd="0" destOrd="0" parTransId="{5C8B9AC6-ABAA-41C8-AB7E-05484D78DA7D}" sibTransId="{CF65E90F-1D1D-4479-BBF1-BC1B7C9508B0}"/>
    <dgm:cxn modelId="{60FA1A38-0097-42B9-8627-9ACF0EA7628A}" type="presParOf" srcId="{5DDB7A94-3774-493A-80BD-E384D731274D}" destId="{60B866E0-9837-4D1B-A796-3F3C1336A345}" srcOrd="0" destOrd="0" presId="urn:microsoft.com/office/officeart/2005/8/layout/vList2"/>
    <dgm:cxn modelId="{A66C7A3B-85DC-466C-A707-2636B5529A44}" type="presParOf" srcId="{5DDB7A94-3774-493A-80BD-E384D731274D}" destId="{ACC6E872-B406-4270-9572-AC3BB22F69BB}" srcOrd="1" destOrd="0" presId="urn:microsoft.com/office/officeart/2005/8/layout/vList2"/>
    <dgm:cxn modelId="{988880BB-C2B9-454C-9CF3-BC744D1900E5}" type="presParOf" srcId="{5DDB7A94-3774-493A-80BD-E384D731274D}" destId="{305258C0-3223-45F3-8DEA-FA179FE0E96F}" srcOrd="2" destOrd="0" presId="urn:microsoft.com/office/officeart/2005/8/layout/vList2"/>
    <dgm:cxn modelId="{F28577DE-CA00-474B-934F-0C23C9719185}" type="presParOf" srcId="{5DDB7A94-3774-493A-80BD-E384D731274D}" destId="{2712E4DD-30AC-4784-BB29-F0B40B9D03EE}"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DDEAC9-DFC0-404E-A164-BB3B54F3070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908C664-7345-48CA-AD5D-AE95AD83DD16}">
      <dgm:prSet/>
      <dgm:spPr/>
      <dgm:t>
        <a:bodyPr/>
        <a:lstStyle/>
        <a:p>
          <a:pPr>
            <a:lnSpc>
              <a:spcPct val="100000"/>
            </a:lnSpc>
          </a:pPr>
          <a:r>
            <a:rPr lang="en-US"/>
            <a:t>Administration _ scaled</a:t>
          </a:r>
        </a:p>
      </dgm:t>
    </dgm:pt>
    <dgm:pt modelId="{EB052594-4835-4F58-8221-A0B970902816}" type="parTrans" cxnId="{D613B029-7501-457C-B814-56C9FE8ED791}">
      <dgm:prSet/>
      <dgm:spPr/>
      <dgm:t>
        <a:bodyPr/>
        <a:lstStyle/>
        <a:p>
          <a:endParaRPr lang="en-US"/>
        </a:p>
      </dgm:t>
    </dgm:pt>
    <dgm:pt modelId="{DE6E3940-B949-4499-A8BF-181E212F0AA2}" type="sibTrans" cxnId="{D613B029-7501-457C-B814-56C9FE8ED791}">
      <dgm:prSet/>
      <dgm:spPr/>
      <dgm:t>
        <a:bodyPr/>
        <a:lstStyle/>
        <a:p>
          <a:endParaRPr lang="en-US"/>
        </a:p>
      </dgm:t>
    </dgm:pt>
    <dgm:pt modelId="{4757B685-AAEA-4B1E-8BDC-9A8CAB8737D1}">
      <dgm:prSet/>
      <dgm:spPr/>
      <dgm:t>
        <a:bodyPr/>
        <a:lstStyle/>
        <a:p>
          <a:pPr>
            <a:lnSpc>
              <a:spcPct val="100000"/>
            </a:lnSpc>
          </a:pPr>
          <a:r>
            <a:rPr lang="en-US"/>
            <a:t>R&amp;D _ Marketing _ Spend_ scaled</a:t>
          </a:r>
        </a:p>
      </dgm:t>
    </dgm:pt>
    <dgm:pt modelId="{14662B87-95F1-40AE-A334-9F3DD7B3341C}" type="parTrans" cxnId="{064607E6-30BD-4FAB-BBB3-C5F81EEA8E11}">
      <dgm:prSet/>
      <dgm:spPr/>
      <dgm:t>
        <a:bodyPr/>
        <a:lstStyle/>
        <a:p>
          <a:endParaRPr lang="en-US"/>
        </a:p>
      </dgm:t>
    </dgm:pt>
    <dgm:pt modelId="{ED4E1557-5D4E-4B93-9729-CC225779D43E}" type="sibTrans" cxnId="{064607E6-30BD-4FAB-BBB3-C5F81EEA8E11}">
      <dgm:prSet/>
      <dgm:spPr/>
      <dgm:t>
        <a:bodyPr/>
        <a:lstStyle/>
        <a:p>
          <a:endParaRPr lang="en-US"/>
        </a:p>
      </dgm:t>
    </dgm:pt>
    <dgm:pt modelId="{8E8F8FC8-8E2E-4EDE-B69B-084285507731}">
      <dgm:prSet/>
      <dgm:spPr/>
      <dgm:t>
        <a:bodyPr/>
        <a:lstStyle/>
        <a:p>
          <a:pPr>
            <a:lnSpc>
              <a:spcPct val="100000"/>
            </a:lnSpc>
          </a:pPr>
          <a:r>
            <a:rPr lang="en-US"/>
            <a:t>State _ California</a:t>
          </a:r>
        </a:p>
      </dgm:t>
    </dgm:pt>
    <dgm:pt modelId="{00EC8A54-0379-4F02-BBBF-EE4C57F73F61}" type="parTrans" cxnId="{14D8F7C0-76D3-4099-8F03-7D15A68DBB51}">
      <dgm:prSet/>
      <dgm:spPr/>
      <dgm:t>
        <a:bodyPr/>
        <a:lstStyle/>
        <a:p>
          <a:endParaRPr lang="en-US"/>
        </a:p>
      </dgm:t>
    </dgm:pt>
    <dgm:pt modelId="{E0B3C76D-37B2-440E-B5FF-DE1A0DAA6C5A}" type="sibTrans" cxnId="{14D8F7C0-76D3-4099-8F03-7D15A68DBB51}">
      <dgm:prSet/>
      <dgm:spPr/>
      <dgm:t>
        <a:bodyPr/>
        <a:lstStyle/>
        <a:p>
          <a:endParaRPr lang="en-US"/>
        </a:p>
      </dgm:t>
    </dgm:pt>
    <dgm:pt modelId="{5EB40046-E0DB-477B-B3BB-776F391CC81D}">
      <dgm:prSet/>
      <dgm:spPr/>
      <dgm:t>
        <a:bodyPr/>
        <a:lstStyle/>
        <a:p>
          <a:pPr>
            <a:lnSpc>
              <a:spcPct val="100000"/>
            </a:lnSpc>
          </a:pPr>
          <a:r>
            <a:rPr lang="en-US"/>
            <a:t>State _ Florida</a:t>
          </a:r>
        </a:p>
      </dgm:t>
    </dgm:pt>
    <dgm:pt modelId="{3FA7895A-5135-4546-A33E-EEE9BBD9A6EE}" type="parTrans" cxnId="{07EFFBB9-BB1A-4C6B-A20C-54A4827FCDA3}">
      <dgm:prSet/>
      <dgm:spPr/>
      <dgm:t>
        <a:bodyPr/>
        <a:lstStyle/>
        <a:p>
          <a:endParaRPr lang="en-US"/>
        </a:p>
      </dgm:t>
    </dgm:pt>
    <dgm:pt modelId="{0F777600-58BF-4532-81F3-C68C324F78A9}" type="sibTrans" cxnId="{07EFFBB9-BB1A-4C6B-A20C-54A4827FCDA3}">
      <dgm:prSet/>
      <dgm:spPr/>
      <dgm:t>
        <a:bodyPr/>
        <a:lstStyle/>
        <a:p>
          <a:endParaRPr lang="en-US"/>
        </a:p>
      </dgm:t>
    </dgm:pt>
    <dgm:pt modelId="{97B2B4ED-16BB-4C17-A47A-BACDCB4F59EE}">
      <dgm:prSet/>
      <dgm:spPr/>
      <dgm:t>
        <a:bodyPr/>
        <a:lstStyle/>
        <a:p>
          <a:pPr>
            <a:lnSpc>
              <a:spcPct val="100000"/>
            </a:lnSpc>
          </a:pPr>
          <a:r>
            <a:rPr lang="en-US"/>
            <a:t>State _ New York</a:t>
          </a:r>
        </a:p>
      </dgm:t>
    </dgm:pt>
    <dgm:pt modelId="{4F89B571-3E0A-4BA9-A1C3-6C36E801739A}" type="parTrans" cxnId="{FD7F1159-6C30-43AE-B416-4570B34D3954}">
      <dgm:prSet/>
      <dgm:spPr/>
      <dgm:t>
        <a:bodyPr/>
        <a:lstStyle/>
        <a:p>
          <a:endParaRPr lang="en-US"/>
        </a:p>
      </dgm:t>
    </dgm:pt>
    <dgm:pt modelId="{AE3C5892-A0E9-45DC-89F1-B6B053E78707}" type="sibTrans" cxnId="{FD7F1159-6C30-43AE-B416-4570B34D3954}">
      <dgm:prSet/>
      <dgm:spPr/>
      <dgm:t>
        <a:bodyPr/>
        <a:lstStyle/>
        <a:p>
          <a:endParaRPr lang="en-US"/>
        </a:p>
      </dgm:t>
    </dgm:pt>
    <dgm:pt modelId="{859AF82E-1DD5-404E-9F3E-906D242DDB5E}" type="pres">
      <dgm:prSet presAssocID="{ACDDEAC9-DFC0-404E-A164-BB3B54F3070B}" presName="root" presStyleCnt="0">
        <dgm:presLayoutVars>
          <dgm:dir/>
          <dgm:resizeHandles val="exact"/>
        </dgm:presLayoutVars>
      </dgm:prSet>
      <dgm:spPr/>
    </dgm:pt>
    <dgm:pt modelId="{3C769A81-BF4B-4779-A947-B56A809946AE}" type="pres">
      <dgm:prSet presAssocID="{E908C664-7345-48CA-AD5D-AE95AD83DD16}" presName="compNode" presStyleCnt="0"/>
      <dgm:spPr/>
    </dgm:pt>
    <dgm:pt modelId="{43BAE059-C197-4FBF-A30B-76678DBDA8BF}" type="pres">
      <dgm:prSet presAssocID="{E908C664-7345-48CA-AD5D-AE95AD83DD16}" presName="bgRect" presStyleLbl="bgShp" presStyleIdx="0" presStyleCnt="5"/>
      <dgm:spPr/>
    </dgm:pt>
    <dgm:pt modelId="{CDD7330F-654F-4149-84EE-B0604192D072}" type="pres">
      <dgm:prSet presAssocID="{E908C664-7345-48CA-AD5D-AE95AD83DD1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E83870E2-3FF5-475C-8C73-7A95B398C8D4}" type="pres">
      <dgm:prSet presAssocID="{E908C664-7345-48CA-AD5D-AE95AD83DD16}" presName="spaceRect" presStyleCnt="0"/>
      <dgm:spPr/>
    </dgm:pt>
    <dgm:pt modelId="{79086102-654E-4CC0-93BE-1BAFD28B643D}" type="pres">
      <dgm:prSet presAssocID="{E908C664-7345-48CA-AD5D-AE95AD83DD16}" presName="parTx" presStyleLbl="revTx" presStyleIdx="0" presStyleCnt="5">
        <dgm:presLayoutVars>
          <dgm:chMax val="0"/>
          <dgm:chPref val="0"/>
        </dgm:presLayoutVars>
      </dgm:prSet>
      <dgm:spPr/>
    </dgm:pt>
    <dgm:pt modelId="{6657F329-4519-45FC-B0A9-784482D2B72E}" type="pres">
      <dgm:prSet presAssocID="{DE6E3940-B949-4499-A8BF-181E212F0AA2}" presName="sibTrans" presStyleCnt="0"/>
      <dgm:spPr/>
    </dgm:pt>
    <dgm:pt modelId="{4A88AD92-818C-4408-8947-8AE44D5996F3}" type="pres">
      <dgm:prSet presAssocID="{4757B685-AAEA-4B1E-8BDC-9A8CAB8737D1}" presName="compNode" presStyleCnt="0"/>
      <dgm:spPr/>
    </dgm:pt>
    <dgm:pt modelId="{953FD7DC-5F7C-45AD-B1FB-1FED699A8BC9}" type="pres">
      <dgm:prSet presAssocID="{4757B685-AAEA-4B1E-8BDC-9A8CAB8737D1}" presName="bgRect" presStyleLbl="bgShp" presStyleIdx="1" presStyleCnt="5"/>
      <dgm:spPr/>
    </dgm:pt>
    <dgm:pt modelId="{9B8D58E8-1F55-4E16-8B2A-738C076D3455}" type="pres">
      <dgm:prSet presAssocID="{4757B685-AAEA-4B1E-8BDC-9A8CAB8737D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stronaut"/>
        </a:ext>
      </dgm:extLst>
    </dgm:pt>
    <dgm:pt modelId="{6111E3E2-2010-46C8-B8E1-B8C44E437783}" type="pres">
      <dgm:prSet presAssocID="{4757B685-AAEA-4B1E-8BDC-9A8CAB8737D1}" presName="spaceRect" presStyleCnt="0"/>
      <dgm:spPr/>
    </dgm:pt>
    <dgm:pt modelId="{8BDCEEC7-FF4A-41A8-B8C5-CE2A6BAB1EFF}" type="pres">
      <dgm:prSet presAssocID="{4757B685-AAEA-4B1E-8BDC-9A8CAB8737D1}" presName="parTx" presStyleLbl="revTx" presStyleIdx="1" presStyleCnt="5">
        <dgm:presLayoutVars>
          <dgm:chMax val="0"/>
          <dgm:chPref val="0"/>
        </dgm:presLayoutVars>
      </dgm:prSet>
      <dgm:spPr/>
    </dgm:pt>
    <dgm:pt modelId="{F30B24FD-7B9C-4ED2-AB0F-B39E0F70934C}" type="pres">
      <dgm:prSet presAssocID="{ED4E1557-5D4E-4B93-9729-CC225779D43E}" presName="sibTrans" presStyleCnt="0"/>
      <dgm:spPr/>
    </dgm:pt>
    <dgm:pt modelId="{9393628A-EB22-4A31-92AF-FCF65FD23A83}" type="pres">
      <dgm:prSet presAssocID="{8E8F8FC8-8E2E-4EDE-B69B-084285507731}" presName="compNode" presStyleCnt="0"/>
      <dgm:spPr/>
    </dgm:pt>
    <dgm:pt modelId="{255ADD6D-F4DA-4361-A735-D44F6FFAF8CD}" type="pres">
      <dgm:prSet presAssocID="{8E8F8FC8-8E2E-4EDE-B69B-084285507731}" presName="bgRect" presStyleLbl="bgShp" presStyleIdx="2" presStyleCnt="5"/>
      <dgm:spPr/>
    </dgm:pt>
    <dgm:pt modelId="{1F602A88-5937-4E25-A289-5075280008CD}" type="pres">
      <dgm:prSet presAssocID="{8E8F8FC8-8E2E-4EDE-B69B-08428550773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alm tree"/>
        </a:ext>
      </dgm:extLst>
    </dgm:pt>
    <dgm:pt modelId="{994B8144-0325-4C5A-8B56-835BD3936B0F}" type="pres">
      <dgm:prSet presAssocID="{8E8F8FC8-8E2E-4EDE-B69B-084285507731}" presName="spaceRect" presStyleCnt="0"/>
      <dgm:spPr/>
    </dgm:pt>
    <dgm:pt modelId="{A6C502C0-1887-471B-9CF7-A4CB0F7D7609}" type="pres">
      <dgm:prSet presAssocID="{8E8F8FC8-8E2E-4EDE-B69B-084285507731}" presName="parTx" presStyleLbl="revTx" presStyleIdx="2" presStyleCnt="5">
        <dgm:presLayoutVars>
          <dgm:chMax val="0"/>
          <dgm:chPref val="0"/>
        </dgm:presLayoutVars>
      </dgm:prSet>
      <dgm:spPr/>
    </dgm:pt>
    <dgm:pt modelId="{2B315C06-4E04-4EAA-9F72-16A6707962B0}" type="pres">
      <dgm:prSet presAssocID="{E0B3C76D-37B2-440E-B5FF-DE1A0DAA6C5A}" presName="sibTrans" presStyleCnt="0"/>
      <dgm:spPr/>
    </dgm:pt>
    <dgm:pt modelId="{5E5806F7-DB4E-47AC-B6E7-4B439BADECBE}" type="pres">
      <dgm:prSet presAssocID="{5EB40046-E0DB-477B-B3BB-776F391CC81D}" presName="compNode" presStyleCnt="0"/>
      <dgm:spPr/>
    </dgm:pt>
    <dgm:pt modelId="{C59D2DC4-63E0-45FE-860C-FDCDFE4065AD}" type="pres">
      <dgm:prSet presAssocID="{5EB40046-E0DB-477B-B3BB-776F391CC81D}" presName="bgRect" presStyleLbl="bgShp" presStyleIdx="3" presStyleCnt="5"/>
      <dgm:spPr/>
    </dgm:pt>
    <dgm:pt modelId="{D61CE5C4-17AC-4954-8989-7C080192C9B0}" type="pres">
      <dgm:prSet presAssocID="{5EB40046-E0DB-477B-B3BB-776F391CC81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ropical scene"/>
        </a:ext>
      </dgm:extLst>
    </dgm:pt>
    <dgm:pt modelId="{8A3C420D-7C8E-4F30-823E-2F54AFADA8A3}" type="pres">
      <dgm:prSet presAssocID="{5EB40046-E0DB-477B-B3BB-776F391CC81D}" presName="spaceRect" presStyleCnt="0"/>
      <dgm:spPr/>
    </dgm:pt>
    <dgm:pt modelId="{400BC73C-631E-41E6-80AB-6AB194C1245D}" type="pres">
      <dgm:prSet presAssocID="{5EB40046-E0DB-477B-B3BB-776F391CC81D}" presName="parTx" presStyleLbl="revTx" presStyleIdx="3" presStyleCnt="5">
        <dgm:presLayoutVars>
          <dgm:chMax val="0"/>
          <dgm:chPref val="0"/>
        </dgm:presLayoutVars>
      </dgm:prSet>
      <dgm:spPr/>
    </dgm:pt>
    <dgm:pt modelId="{3D4538B2-170E-4A60-B0EC-E23F8FB11749}" type="pres">
      <dgm:prSet presAssocID="{0F777600-58BF-4532-81F3-C68C324F78A9}" presName="sibTrans" presStyleCnt="0"/>
      <dgm:spPr/>
    </dgm:pt>
    <dgm:pt modelId="{AF2F268B-99C2-4BDA-9ED6-34E99F90784E}" type="pres">
      <dgm:prSet presAssocID="{97B2B4ED-16BB-4C17-A47A-BACDCB4F59EE}" presName="compNode" presStyleCnt="0"/>
      <dgm:spPr/>
    </dgm:pt>
    <dgm:pt modelId="{8C8C5BAC-04D2-4F1E-8B99-61B6C088151C}" type="pres">
      <dgm:prSet presAssocID="{97B2B4ED-16BB-4C17-A47A-BACDCB4F59EE}" presName="bgRect" presStyleLbl="bgShp" presStyleIdx="4" presStyleCnt="5"/>
      <dgm:spPr/>
    </dgm:pt>
    <dgm:pt modelId="{EA9DB488-36D3-4452-9C29-4E0596DBAACD}" type="pres">
      <dgm:prSet presAssocID="{97B2B4ED-16BB-4C17-A47A-BACDCB4F59E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Hippo"/>
        </a:ext>
      </dgm:extLst>
    </dgm:pt>
    <dgm:pt modelId="{19ADFBDA-0E56-4887-BE7F-5A51CFF077D4}" type="pres">
      <dgm:prSet presAssocID="{97B2B4ED-16BB-4C17-A47A-BACDCB4F59EE}" presName="spaceRect" presStyleCnt="0"/>
      <dgm:spPr/>
    </dgm:pt>
    <dgm:pt modelId="{C9AADCAF-DDA7-4067-8B39-E3C02D70A301}" type="pres">
      <dgm:prSet presAssocID="{97B2B4ED-16BB-4C17-A47A-BACDCB4F59EE}" presName="parTx" presStyleLbl="revTx" presStyleIdx="4" presStyleCnt="5">
        <dgm:presLayoutVars>
          <dgm:chMax val="0"/>
          <dgm:chPref val="0"/>
        </dgm:presLayoutVars>
      </dgm:prSet>
      <dgm:spPr/>
    </dgm:pt>
  </dgm:ptLst>
  <dgm:cxnLst>
    <dgm:cxn modelId="{D613B029-7501-457C-B814-56C9FE8ED791}" srcId="{ACDDEAC9-DFC0-404E-A164-BB3B54F3070B}" destId="{E908C664-7345-48CA-AD5D-AE95AD83DD16}" srcOrd="0" destOrd="0" parTransId="{EB052594-4835-4F58-8221-A0B970902816}" sibTransId="{DE6E3940-B949-4499-A8BF-181E212F0AA2}"/>
    <dgm:cxn modelId="{6AA1E32E-E0AF-4D04-AB2B-64CB4DA57164}" type="presOf" srcId="{ACDDEAC9-DFC0-404E-A164-BB3B54F3070B}" destId="{859AF82E-1DD5-404E-9F3E-906D242DDB5E}" srcOrd="0" destOrd="0" presId="urn:microsoft.com/office/officeart/2018/2/layout/IconVerticalSolidList"/>
    <dgm:cxn modelId="{12D7A73C-A97A-44CD-B4B0-80A3C1A12333}" type="presOf" srcId="{4757B685-AAEA-4B1E-8BDC-9A8CAB8737D1}" destId="{8BDCEEC7-FF4A-41A8-B8C5-CE2A6BAB1EFF}" srcOrd="0" destOrd="0" presId="urn:microsoft.com/office/officeart/2018/2/layout/IconVerticalSolidList"/>
    <dgm:cxn modelId="{CA17EE4C-E268-4A8A-B01C-290ED38701A4}" type="presOf" srcId="{5EB40046-E0DB-477B-B3BB-776F391CC81D}" destId="{400BC73C-631E-41E6-80AB-6AB194C1245D}" srcOrd="0" destOrd="0" presId="urn:microsoft.com/office/officeart/2018/2/layout/IconVerticalSolidList"/>
    <dgm:cxn modelId="{91DD9773-04D2-4792-BE02-7227B4CBF300}" type="presOf" srcId="{8E8F8FC8-8E2E-4EDE-B69B-084285507731}" destId="{A6C502C0-1887-471B-9CF7-A4CB0F7D7609}" srcOrd="0" destOrd="0" presId="urn:microsoft.com/office/officeart/2018/2/layout/IconVerticalSolidList"/>
    <dgm:cxn modelId="{FD7F1159-6C30-43AE-B416-4570B34D3954}" srcId="{ACDDEAC9-DFC0-404E-A164-BB3B54F3070B}" destId="{97B2B4ED-16BB-4C17-A47A-BACDCB4F59EE}" srcOrd="4" destOrd="0" parTransId="{4F89B571-3E0A-4BA9-A1C3-6C36E801739A}" sibTransId="{AE3C5892-A0E9-45DC-89F1-B6B053E78707}"/>
    <dgm:cxn modelId="{07EFFBB9-BB1A-4C6B-A20C-54A4827FCDA3}" srcId="{ACDDEAC9-DFC0-404E-A164-BB3B54F3070B}" destId="{5EB40046-E0DB-477B-B3BB-776F391CC81D}" srcOrd="3" destOrd="0" parTransId="{3FA7895A-5135-4546-A33E-EEE9BBD9A6EE}" sibTransId="{0F777600-58BF-4532-81F3-C68C324F78A9}"/>
    <dgm:cxn modelId="{14D8F7C0-76D3-4099-8F03-7D15A68DBB51}" srcId="{ACDDEAC9-DFC0-404E-A164-BB3B54F3070B}" destId="{8E8F8FC8-8E2E-4EDE-B69B-084285507731}" srcOrd="2" destOrd="0" parTransId="{00EC8A54-0379-4F02-BBBF-EE4C57F73F61}" sibTransId="{E0B3C76D-37B2-440E-B5FF-DE1A0DAA6C5A}"/>
    <dgm:cxn modelId="{B1280ECA-3E12-47BC-851D-E4A49C403AE5}" type="presOf" srcId="{97B2B4ED-16BB-4C17-A47A-BACDCB4F59EE}" destId="{C9AADCAF-DDA7-4067-8B39-E3C02D70A301}" srcOrd="0" destOrd="0" presId="urn:microsoft.com/office/officeart/2018/2/layout/IconVerticalSolidList"/>
    <dgm:cxn modelId="{064607E6-30BD-4FAB-BBB3-C5F81EEA8E11}" srcId="{ACDDEAC9-DFC0-404E-A164-BB3B54F3070B}" destId="{4757B685-AAEA-4B1E-8BDC-9A8CAB8737D1}" srcOrd="1" destOrd="0" parTransId="{14662B87-95F1-40AE-A334-9F3DD7B3341C}" sibTransId="{ED4E1557-5D4E-4B93-9729-CC225779D43E}"/>
    <dgm:cxn modelId="{10C5B9FC-DDEA-4E30-BE8A-965D5594A5B4}" type="presOf" srcId="{E908C664-7345-48CA-AD5D-AE95AD83DD16}" destId="{79086102-654E-4CC0-93BE-1BAFD28B643D}" srcOrd="0" destOrd="0" presId="urn:microsoft.com/office/officeart/2018/2/layout/IconVerticalSolidList"/>
    <dgm:cxn modelId="{4CA6410B-8E36-471D-9B2B-76A373195FE1}" type="presParOf" srcId="{859AF82E-1DD5-404E-9F3E-906D242DDB5E}" destId="{3C769A81-BF4B-4779-A947-B56A809946AE}" srcOrd="0" destOrd="0" presId="urn:microsoft.com/office/officeart/2018/2/layout/IconVerticalSolidList"/>
    <dgm:cxn modelId="{EFCCD03D-E9FC-4134-BD8C-F45DDACBFE95}" type="presParOf" srcId="{3C769A81-BF4B-4779-A947-B56A809946AE}" destId="{43BAE059-C197-4FBF-A30B-76678DBDA8BF}" srcOrd="0" destOrd="0" presId="urn:microsoft.com/office/officeart/2018/2/layout/IconVerticalSolidList"/>
    <dgm:cxn modelId="{EBD716A6-0CEF-4AD1-A041-22EFFAD1C1EF}" type="presParOf" srcId="{3C769A81-BF4B-4779-A947-B56A809946AE}" destId="{CDD7330F-654F-4149-84EE-B0604192D072}" srcOrd="1" destOrd="0" presId="urn:microsoft.com/office/officeart/2018/2/layout/IconVerticalSolidList"/>
    <dgm:cxn modelId="{31F880E7-7B42-43CA-B6FA-9C469C94D3F4}" type="presParOf" srcId="{3C769A81-BF4B-4779-A947-B56A809946AE}" destId="{E83870E2-3FF5-475C-8C73-7A95B398C8D4}" srcOrd="2" destOrd="0" presId="urn:microsoft.com/office/officeart/2018/2/layout/IconVerticalSolidList"/>
    <dgm:cxn modelId="{24FB2AE5-FE3C-4977-8CCC-E332143ABACA}" type="presParOf" srcId="{3C769A81-BF4B-4779-A947-B56A809946AE}" destId="{79086102-654E-4CC0-93BE-1BAFD28B643D}" srcOrd="3" destOrd="0" presId="urn:microsoft.com/office/officeart/2018/2/layout/IconVerticalSolidList"/>
    <dgm:cxn modelId="{4B489D0C-FAC9-441A-BBA3-C40ABCDD7516}" type="presParOf" srcId="{859AF82E-1DD5-404E-9F3E-906D242DDB5E}" destId="{6657F329-4519-45FC-B0A9-784482D2B72E}" srcOrd="1" destOrd="0" presId="urn:microsoft.com/office/officeart/2018/2/layout/IconVerticalSolidList"/>
    <dgm:cxn modelId="{51ACC074-C090-4F5A-AAAD-15F6717F9E39}" type="presParOf" srcId="{859AF82E-1DD5-404E-9F3E-906D242DDB5E}" destId="{4A88AD92-818C-4408-8947-8AE44D5996F3}" srcOrd="2" destOrd="0" presId="urn:microsoft.com/office/officeart/2018/2/layout/IconVerticalSolidList"/>
    <dgm:cxn modelId="{80D45A4D-7133-47AA-8B07-088950679AC0}" type="presParOf" srcId="{4A88AD92-818C-4408-8947-8AE44D5996F3}" destId="{953FD7DC-5F7C-45AD-B1FB-1FED699A8BC9}" srcOrd="0" destOrd="0" presId="urn:microsoft.com/office/officeart/2018/2/layout/IconVerticalSolidList"/>
    <dgm:cxn modelId="{8050A361-9B6A-4BDF-A58A-F6F7B9723D5D}" type="presParOf" srcId="{4A88AD92-818C-4408-8947-8AE44D5996F3}" destId="{9B8D58E8-1F55-4E16-8B2A-738C076D3455}" srcOrd="1" destOrd="0" presId="urn:microsoft.com/office/officeart/2018/2/layout/IconVerticalSolidList"/>
    <dgm:cxn modelId="{C4CA08FC-B78C-47D2-AD13-4576C0E33720}" type="presParOf" srcId="{4A88AD92-818C-4408-8947-8AE44D5996F3}" destId="{6111E3E2-2010-46C8-B8E1-B8C44E437783}" srcOrd="2" destOrd="0" presId="urn:microsoft.com/office/officeart/2018/2/layout/IconVerticalSolidList"/>
    <dgm:cxn modelId="{84CCFB8C-FAF5-4692-86BA-F002078D6953}" type="presParOf" srcId="{4A88AD92-818C-4408-8947-8AE44D5996F3}" destId="{8BDCEEC7-FF4A-41A8-B8C5-CE2A6BAB1EFF}" srcOrd="3" destOrd="0" presId="urn:microsoft.com/office/officeart/2018/2/layout/IconVerticalSolidList"/>
    <dgm:cxn modelId="{3BCDD40F-4B95-48D9-8F26-4251B46C324F}" type="presParOf" srcId="{859AF82E-1DD5-404E-9F3E-906D242DDB5E}" destId="{F30B24FD-7B9C-4ED2-AB0F-B39E0F70934C}" srcOrd="3" destOrd="0" presId="urn:microsoft.com/office/officeart/2018/2/layout/IconVerticalSolidList"/>
    <dgm:cxn modelId="{AC4D4345-460B-41B3-B181-B1BE1509A2EB}" type="presParOf" srcId="{859AF82E-1DD5-404E-9F3E-906D242DDB5E}" destId="{9393628A-EB22-4A31-92AF-FCF65FD23A83}" srcOrd="4" destOrd="0" presId="urn:microsoft.com/office/officeart/2018/2/layout/IconVerticalSolidList"/>
    <dgm:cxn modelId="{70C129C7-F227-4173-A208-EA6EF1906F9B}" type="presParOf" srcId="{9393628A-EB22-4A31-92AF-FCF65FD23A83}" destId="{255ADD6D-F4DA-4361-A735-D44F6FFAF8CD}" srcOrd="0" destOrd="0" presId="urn:microsoft.com/office/officeart/2018/2/layout/IconVerticalSolidList"/>
    <dgm:cxn modelId="{2922A1A2-189F-43AF-9F8F-5039C7577E47}" type="presParOf" srcId="{9393628A-EB22-4A31-92AF-FCF65FD23A83}" destId="{1F602A88-5937-4E25-A289-5075280008CD}" srcOrd="1" destOrd="0" presId="urn:microsoft.com/office/officeart/2018/2/layout/IconVerticalSolidList"/>
    <dgm:cxn modelId="{A73C3A65-F28B-4C8A-B557-3B62EF51E755}" type="presParOf" srcId="{9393628A-EB22-4A31-92AF-FCF65FD23A83}" destId="{994B8144-0325-4C5A-8B56-835BD3936B0F}" srcOrd="2" destOrd="0" presId="urn:microsoft.com/office/officeart/2018/2/layout/IconVerticalSolidList"/>
    <dgm:cxn modelId="{BD372BA8-6D46-47F0-9230-A9CC0BF27DB7}" type="presParOf" srcId="{9393628A-EB22-4A31-92AF-FCF65FD23A83}" destId="{A6C502C0-1887-471B-9CF7-A4CB0F7D7609}" srcOrd="3" destOrd="0" presId="urn:microsoft.com/office/officeart/2018/2/layout/IconVerticalSolidList"/>
    <dgm:cxn modelId="{CACB7F13-0B09-4D9B-9E4C-9DD823880CBE}" type="presParOf" srcId="{859AF82E-1DD5-404E-9F3E-906D242DDB5E}" destId="{2B315C06-4E04-4EAA-9F72-16A6707962B0}" srcOrd="5" destOrd="0" presId="urn:microsoft.com/office/officeart/2018/2/layout/IconVerticalSolidList"/>
    <dgm:cxn modelId="{53A54ACF-DE18-49B5-B909-2EDA255DB7D5}" type="presParOf" srcId="{859AF82E-1DD5-404E-9F3E-906D242DDB5E}" destId="{5E5806F7-DB4E-47AC-B6E7-4B439BADECBE}" srcOrd="6" destOrd="0" presId="urn:microsoft.com/office/officeart/2018/2/layout/IconVerticalSolidList"/>
    <dgm:cxn modelId="{365E8174-689B-44A1-958A-E497A0439C9B}" type="presParOf" srcId="{5E5806F7-DB4E-47AC-B6E7-4B439BADECBE}" destId="{C59D2DC4-63E0-45FE-860C-FDCDFE4065AD}" srcOrd="0" destOrd="0" presId="urn:microsoft.com/office/officeart/2018/2/layout/IconVerticalSolidList"/>
    <dgm:cxn modelId="{84E65A6E-942F-40E6-8511-6BBF00404838}" type="presParOf" srcId="{5E5806F7-DB4E-47AC-B6E7-4B439BADECBE}" destId="{D61CE5C4-17AC-4954-8989-7C080192C9B0}" srcOrd="1" destOrd="0" presId="urn:microsoft.com/office/officeart/2018/2/layout/IconVerticalSolidList"/>
    <dgm:cxn modelId="{A2F9C942-DB8B-4B48-9E84-671B2250BD77}" type="presParOf" srcId="{5E5806F7-DB4E-47AC-B6E7-4B439BADECBE}" destId="{8A3C420D-7C8E-4F30-823E-2F54AFADA8A3}" srcOrd="2" destOrd="0" presId="urn:microsoft.com/office/officeart/2018/2/layout/IconVerticalSolidList"/>
    <dgm:cxn modelId="{6D574F3A-F7C6-458F-9BCE-2A944CF3CC9F}" type="presParOf" srcId="{5E5806F7-DB4E-47AC-B6E7-4B439BADECBE}" destId="{400BC73C-631E-41E6-80AB-6AB194C1245D}" srcOrd="3" destOrd="0" presId="urn:microsoft.com/office/officeart/2018/2/layout/IconVerticalSolidList"/>
    <dgm:cxn modelId="{6E09399B-D611-4E08-89FF-C9B89F3AABAB}" type="presParOf" srcId="{859AF82E-1DD5-404E-9F3E-906D242DDB5E}" destId="{3D4538B2-170E-4A60-B0EC-E23F8FB11749}" srcOrd="7" destOrd="0" presId="urn:microsoft.com/office/officeart/2018/2/layout/IconVerticalSolidList"/>
    <dgm:cxn modelId="{91B8398B-1F20-4440-9F8B-EE0D741313DD}" type="presParOf" srcId="{859AF82E-1DD5-404E-9F3E-906D242DDB5E}" destId="{AF2F268B-99C2-4BDA-9ED6-34E99F90784E}" srcOrd="8" destOrd="0" presId="urn:microsoft.com/office/officeart/2018/2/layout/IconVerticalSolidList"/>
    <dgm:cxn modelId="{F60E7152-6C08-4F1D-8B21-0FD76821FE74}" type="presParOf" srcId="{AF2F268B-99C2-4BDA-9ED6-34E99F90784E}" destId="{8C8C5BAC-04D2-4F1E-8B99-61B6C088151C}" srcOrd="0" destOrd="0" presId="urn:microsoft.com/office/officeart/2018/2/layout/IconVerticalSolidList"/>
    <dgm:cxn modelId="{85955F43-7566-4BDE-BC29-366E12923A36}" type="presParOf" srcId="{AF2F268B-99C2-4BDA-9ED6-34E99F90784E}" destId="{EA9DB488-36D3-4452-9C29-4E0596DBAACD}" srcOrd="1" destOrd="0" presId="urn:microsoft.com/office/officeart/2018/2/layout/IconVerticalSolidList"/>
    <dgm:cxn modelId="{EDD85F26-13A4-4681-88D1-A6A221C36068}" type="presParOf" srcId="{AF2F268B-99C2-4BDA-9ED6-34E99F90784E}" destId="{19ADFBDA-0E56-4887-BE7F-5A51CFF077D4}" srcOrd="2" destOrd="0" presId="urn:microsoft.com/office/officeart/2018/2/layout/IconVerticalSolidList"/>
    <dgm:cxn modelId="{6365F87C-D0B6-4248-AC32-4494CE79A3B2}" type="presParOf" srcId="{AF2F268B-99C2-4BDA-9ED6-34E99F90784E}" destId="{C9AADCAF-DDA7-4067-8B39-E3C02D70A30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236E07E-AD91-4DB2-90DE-A75A449FBE03}"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862AD4F7-2631-4084-BD27-51A3227AACC9}">
      <dgm:prSet/>
      <dgm:spPr/>
      <dgm:t>
        <a:bodyPr/>
        <a:lstStyle/>
        <a:p>
          <a:pPr>
            <a:lnSpc>
              <a:spcPct val="100000"/>
            </a:lnSpc>
          </a:pPr>
          <a:r>
            <a:rPr lang="en-US" b="0" i="0" baseline="0"/>
            <a:t>Model explains </a:t>
          </a:r>
          <a:r>
            <a:rPr lang="en-US" i="0" baseline="0"/>
            <a:t>how much of profit </a:t>
          </a:r>
          <a:r>
            <a:rPr lang="en-US"/>
            <a:t>is predictable</a:t>
          </a:r>
        </a:p>
      </dgm:t>
    </dgm:pt>
    <dgm:pt modelId="{7A2EA1A3-479D-4648-B776-72A6EB004854}" type="parTrans" cxnId="{CBEB4509-79A5-4965-9B49-3FB655435C30}">
      <dgm:prSet/>
      <dgm:spPr/>
      <dgm:t>
        <a:bodyPr/>
        <a:lstStyle/>
        <a:p>
          <a:endParaRPr lang="en-US"/>
        </a:p>
      </dgm:t>
    </dgm:pt>
    <dgm:pt modelId="{F32C686E-80BC-43CE-84B6-903BB57836A9}" type="sibTrans" cxnId="{CBEB4509-79A5-4965-9B49-3FB655435C30}">
      <dgm:prSet/>
      <dgm:spPr/>
      <dgm:t>
        <a:bodyPr/>
        <a:lstStyle/>
        <a:p>
          <a:endParaRPr lang="en-US"/>
        </a:p>
      </dgm:t>
    </dgm:pt>
    <dgm:pt modelId="{DA0A7EE3-77D0-48A1-A7D9-71B216EE389E}">
      <dgm:prSet/>
      <dgm:spPr/>
      <dgm:t>
        <a:bodyPr/>
        <a:lstStyle/>
        <a:p>
          <a:pPr>
            <a:lnSpc>
              <a:spcPct val="100000"/>
            </a:lnSpc>
          </a:pPr>
          <a:r>
            <a:rPr lang="en-US" b="0" i="0" baseline="0"/>
            <a:t>Lower RMSE → better accuracy</a:t>
          </a:r>
          <a:endParaRPr lang="en-US"/>
        </a:p>
      </dgm:t>
    </dgm:pt>
    <dgm:pt modelId="{E02F697D-33E1-4CE5-86BC-8CB96F752F40}" type="parTrans" cxnId="{326A7201-A4FE-40BC-AF12-3C1EC6F588DE}">
      <dgm:prSet/>
      <dgm:spPr/>
      <dgm:t>
        <a:bodyPr/>
        <a:lstStyle/>
        <a:p>
          <a:endParaRPr lang="en-US"/>
        </a:p>
      </dgm:t>
    </dgm:pt>
    <dgm:pt modelId="{9DF0B3E0-1B9C-4F4F-B495-EC0FDAC09C95}" type="sibTrans" cxnId="{326A7201-A4FE-40BC-AF12-3C1EC6F588DE}">
      <dgm:prSet/>
      <dgm:spPr/>
      <dgm:t>
        <a:bodyPr/>
        <a:lstStyle/>
        <a:p>
          <a:endParaRPr lang="en-US"/>
        </a:p>
      </dgm:t>
    </dgm:pt>
    <dgm:pt modelId="{1C151A4F-EBC2-4943-9074-7D61054E24BB}">
      <dgm:prSet/>
      <dgm:spPr/>
      <dgm:t>
        <a:bodyPr/>
        <a:lstStyle/>
        <a:p>
          <a:pPr>
            <a:lnSpc>
              <a:spcPct val="100000"/>
            </a:lnSpc>
          </a:pPr>
          <a:r>
            <a:rPr lang="en-US" b="0" i="0" baseline="0"/>
            <a:t>Higher R² → stronger model fit</a:t>
          </a:r>
          <a:endParaRPr lang="en-US"/>
        </a:p>
      </dgm:t>
    </dgm:pt>
    <dgm:pt modelId="{B48B39F1-A078-4A88-9742-7C0DD3602563}" type="parTrans" cxnId="{5E28E336-1C0F-4972-8C58-7BBE967C1819}">
      <dgm:prSet/>
      <dgm:spPr/>
      <dgm:t>
        <a:bodyPr/>
        <a:lstStyle/>
        <a:p>
          <a:endParaRPr lang="en-US"/>
        </a:p>
      </dgm:t>
    </dgm:pt>
    <dgm:pt modelId="{ED6B62B0-F16F-4618-AA39-56418C7EF45A}" type="sibTrans" cxnId="{5E28E336-1C0F-4972-8C58-7BBE967C1819}">
      <dgm:prSet/>
      <dgm:spPr/>
      <dgm:t>
        <a:bodyPr/>
        <a:lstStyle/>
        <a:p>
          <a:endParaRPr lang="en-US"/>
        </a:p>
      </dgm:t>
    </dgm:pt>
    <dgm:pt modelId="{E757FDEA-7340-4D40-B1B0-9D03376416AE}" type="pres">
      <dgm:prSet presAssocID="{7236E07E-AD91-4DB2-90DE-A75A449FBE03}" presName="root" presStyleCnt="0">
        <dgm:presLayoutVars>
          <dgm:dir/>
          <dgm:resizeHandles val="exact"/>
        </dgm:presLayoutVars>
      </dgm:prSet>
      <dgm:spPr/>
    </dgm:pt>
    <dgm:pt modelId="{F61862E5-6B31-4340-B137-C1E688EB1BA8}" type="pres">
      <dgm:prSet presAssocID="{862AD4F7-2631-4084-BD27-51A3227AACC9}" presName="compNode" presStyleCnt="0"/>
      <dgm:spPr/>
    </dgm:pt>
    <dgm:pt modelId="{6CA28B57-80A6-4C25-AD82-A543C424311D}" type="pres">
      <dgm:prSet presAssocID="{862AD4F7-2631-4084-BD27-51A3227AACC9}" presName="bgRect" presStyleLbl="bgShp" presStyleIdx="0" presStyleCnt="3"/>
      <dgm:spPr/>
    </dgm:pt>
    <dgm:pt modelId="{35CDE17C-CC87-47BA-88B9-A4C1D083F73A}" type="pres">
      <dgm:prSet presAssocID="{862AD4F7-2631-4084-BD27-51A3227AACC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C216C834-330A-4176-B4BC-FDD5BC40E051}" type="pres">
      <dgm:prSet presAssocID="{862AD4F7-2631-4084-BD27-51A3227AACC9}" presName="spaceRect" presStyleCnt="0"/>
      <dgm:spPr/>
    </dgm:pt>
    <dgm:pt modelId="{69DAD14C-E306-41BE-85AC-FC7DAF22CCF6}" type="pres">
      <dgm:prSet presAssocID="{862AD4F7-2631-4084-BD27-51A3227AACC9}" presName="parTx" presStyleLbl="revTx" presStyleIdx="0" presStyleCnt="3">
        <dgm:presLayoutVars>
          <dgm:chMax val="0"/>
          <dgm:chPref val="0"/>
        </dgm:presLayoutVars>
      </dgm:prSet>
      <dgm:spPr/>
    </dgm:pt>
    <dgm:pt modelId="{982DA64D-45D9-4AE2-8D99-ADED61ED64C9}" type="pres">
      <dgm:prSet presAssocID="{F32C686E-80BC-43CE-84B6-903BB57836A9}" presName="sibTrans" presStyleCnt="0"/>
      <dgm:spPr/>
    </dgm:pt>
    <dgm:pt modelId="{2BACBCBC-3378-4D68-934B-AA785429E7B0}" type="pres">
      <dgm:prSet presAssocID="{DA0A7EE3-77D0-48A1-A7D9-71B216EE389E}" presName="compNode" presStyleCnt="0"/>
      <dgm:spPr/>
    </dgm:pt>
    <dgm:pt modelId="{1811442D-058B-4E78-AFC1-45C8C3195584}" type="pres">
      <dgm:prSet presAssocID="{DA0A7EE3-77D0-48A1-A7D9-71B216EE389E}" presName="bgRect" presStyleLbl="bgShp" presStyleIdx="1" presStyleCnt="3"/>
      <dgm:spPr/>
    </dgm:pt>
    <dgm:pt modelId="{AB28F4B6-B189-4E72-8C68-2DFD7385B062}" type="pres">
      <dgm:prSet presAssocID="{DA0A7EE3-77D0-48A1-A7D9-71B216EE389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2263996A-3785-49D6-B32C-F245F98A51F0}" type="pres">
      <dgm:prSet presAssocID="{DA0A7EE3-77D0-48A1-A7D9-71B216EE389E}" presName="spaceRect" presStyleCnt="0"/>
      <dgm:spPr/>
    </dgm:pt>
    <dgm:pt modelId="{066EE3B1-E3AD-46BC-A8DA-E713E0D77A28}" type="pres">
      <dgm:prSet presAssocID="{DA0A7EE3-77D0-48A1-A7D9-71B216EE389E}" presName="parTx" presStyleLbl="revTx" presStyleIdx="1" presStyleCnt="3">
        <dgm:presLayoutVars>
          <dgm:chMax val="0"/>
          <dgm:chPref val="0"/>
        </dgm:presLayoutVars>
      </dgm:prSet>
      <dgm:spPr/>
    </dgm:pt>
    <dgm:pt modelId="{B093DEE3-2676-4F3B-BBD9-5F27550A0E0A}" type="pres">
      <dgm:prSet presAssocID="{9DF0B3E0-1B9C-4F4F-B495-EC0FDAC09C95}" presName="sibTrans" presStyleCnt="0"/>
      <dgm:spPr/>
    </dgm:pt>
    <dgm:pt modelId="{F9E9FA31-695C-43FF-A16F-9507E816AB07}" type="pres">
      <dgm:prSet presAssocID="{1C151A4F-EBC2-4943-9074-7D61054E24BB}" presName="compNode" presStyleCnt="0"/>
      <dgm:spPr/>
    </dgm:pt>
    <dgm:pt modelId="{4FFB2940-C82B-45E8-BD93-45B1AFD212F8}" type="pres">
      <dgm:prSet presAssocID="{1C151A4F-EBC2-4943-9074-7D61054E24BB}" presName="bgRect" presStyleLbl="bgShp" presStyleIdx="2" presStyleCnt="3"/>
      <dgm:spPr/>
    </dgm:pt>
    <dgm:pt modelId="{B923D5C1-2A7B-4725-B491-462B2407B607}" type="pres">
      <dgm:prSet presAssocID="{1C151A4F-EBC2-4943-9074-7D61054E24B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55507022-54A5-432C-B373-830FE31A035F}" type="pres">
      <dgm:prSet presAssocID="{1C151A4F-EBC2-4943-9074-7D61054E24BB}" presName="spaceRect" presStyleCnt="0"/>
      <dgm:spPr/>
    </dgm:pt>
    <dgm:pt modelId="{A0023A19-1673-47E8-8128-1E80B3D76B90}" type="pres">
      <dgm:prSet presAssocID="{1C151A4F-EBC2-4943-9074-7D61054E24BB}" presName="parTx" presStyleLbl="revTx" presStyleIdx="2" presStyleCnt="3">
        <dgm:presLayoutVars>
          <dgm:chMax val="0"/>
          <dgm:chPref val="0"/>
        </dgm:presLayoutVars>
      </dgm:prSet>
      <dgm:spPr/>
    </dgm:pt>
  </dgm:ptLst>
  <dgm:cxnLst>
    <dgm:cxn modelId="{326A7201-A4FE-40BC-AF12-3C1EC6F588DE}" srcId="{7236E07E-AD91-4DB2-90DE-A75A449FBE03}" destId="{DA0A7EE3-77D0-48A1-A7D9-71B216EE389E}" srcOrd="1" destOrd="0" parTransId="{E02F697D-33E1-4CE5-86BC-8CB96F752F40}" sibTransId="{9DF0B3E0-1B9C-4F4F-B495-EC0FDAC09C95}"/>
    <dgm:cxn modelId="{CBEB4509-79A5-4965-9B49-3FB655435C30}" srcId="{7236E07E-AD91-4DB2-90DE-A75A449FBE03}" destId="{862AD4F7-2631-4084-BD27-51A3227AACC9}" srcOrd="0" destOrd="0" parTransId="{7A2EA1A3-479D-4648-B776-72A6EB004854}" sibTransId="{F32C686E-80BC-43CE-84B6-903BB57836A9}"/>
    <dgm:cxn modelId="{5BDD080D-DB37-476F-86EB-0A2D8F193A0A}" type="presOf" srcId="{862AD4F7-2631-4084-BD27-51A3227AACC9}" destId="{69DAD14C-E306-41BE-85AC-FC7DAF22CCF6}" srcOrd="0" destOrd="0" presId="urn:microsoft.com/office/officeart/2018/2/layout/IconVerticalSolidList"/>
    <dgm:cxn modelId="{B8CCBE1B-552A-484D-B17A-5346A47EE2AC}" type="presOf" srcId="{7236E07E-AD91-4DB2-90DE-A75A449FBE03}" destId="{E757FDEA-7340-4D40-B1B0-9D03376416AE}" srcOrd="0" destOrd="0" presId="urn:microsoft.com/office/officeart/2018/2/layout/IconVerticalSolidList"/>
    <dgm:cxn modelId="{5E28E336-1C0F-4972-8C58-7BBE967C1819}" srcId="{7236E07E-AD91-4DB2-90DE-A75A449FBE03}" destId="{1C151A4F-EBC2-4943-9074-7D61054E24BB}" srcOrd="2" destOrd="0" parTransId="{B48B39F1-A078-4A88-9742-7C0DD3602563}" sibTransId="{ED6B62B0-F16F-4618-AA39-56418C7EF45A}"/>
    <dgm:cxn modelId="{D2A5AB9F-E1D9-459A-AA06-A18D4DF6252C}" type="presOf" srcId="{1C151A4F-EBC2-4943-9074-7D61054E24BB}" destId="{A0023A19-1673-47E8-8128-1E80B3D76B90}" srcOrd="0" destOrd="0" presId="urn:microsoft.com/office/officeart/2018/2/layout/IconVerticalSolidList"/>
    <dgm:cxn modelId="{E1E618D8-C538-41F2-800F-6B3C7B4F254A}" type="presOf" srcId="{DA0A7EE3-77D0-48A1-A7D9-71B216EE389E}" destId="{066EE3B1-E3AD-46BC-A8DA-E713E0D77A28}" srcOrd="0" destOrd="0" presId="urn:microsoft.com/office/officeart/2018/2/layout/IconVerticalSolidList"/>
    <dgm:cxn modelId="{9EB5DE4F-4F83-4B5A-B4F8-70AE68A06D03}" type="presParOf" srcId="{E757FDEA-7340-4D40-B1B0-9D03376416AE}" destId="{F61862E5-6B31-4340-B137-C1E688EB1BA8}" srcOrd="0" destOrd="0" presId="urn:microsoft.com/office/officeart/2018/2/layout/IconVerticalSolidList"/>
    <dgm:cxn modelId="{7AEC9346-4F18-4AE9-A5D2-BE706135F46B}" type="presParOf" srcId="{F61862E5-6B31-4340-B137-C1E688EB1BA8}" destId="{6CA28B57-80A6-4C25-AD82-A543C424311D}" srcOrd="0" destOrd="0" presId="urn:microsoft.com/office/officeart/2018/2/layout/IconVerticalSolidList"/>
    <dgm:cxn modelId="{646AF23F-9D14-4536-B1FC-5B5A8B2C54FD}" type="presParOf" srcId="{F61862E5-6B31-4340-B137-C1E688EB1BA8}" destId="{35CDE17C-CC87-47BA-88B9-A4C1D083F73A}" srcOrd="1" destOrd="0" presId="urn:microsoft.com/office/officeart/2018/2/layout/IconVerticalSolidList"/>
    <dgm:cxn modelId="{8B3207E0-E661-4EC1-80A4-27211DF4EE46}" type="presParOf" srcId="{F61862E5-6B31-4340-B137-C1E688EB1BA8}" destId="{C216C834-330A-4176-B4BC-FDD5BC40E051}" srcOrd="2" destOrd="0" presId="urn:microsoft.com/office/officeart/2018/2/layout/IconVerticalSolidList"/>
    <dgm:cxn modelId="{14B70761-F2F3-45F9-8D5A-BD59F0CCECCD}" type="presParOf" srcId="{F61862E5-6B31-4340-B137-C1E688EB1BA8}" destId="{69DAD14C-E306-41BE-85AC-FC7DAF22CCF6}" srcOrd="3" destOrd="0" presId="urn:microsoft.com/office/officeart/2018/2/layout/IconVerticalSolidList"/>
    <dgm:cxn modelId="{16678DB6-1BDD-463D-A017-3C07CD52D206}" type="presParOf" srcId="{E757FDEA-7340-4D40-B1B0-9D03376416AE}" destId="{982DA64D-45D9-4AE2-8D99-ADED61ED64C9}" srcOrd="1" destOrd="0" presId="urn:microsoft.com/office/officeart/2018/2/layout/IconVerticalSolidList"/>
    <dgm:cxn modelId="{624677D9-40F6-421E-A285-B324451B67D7}" type="presParOf" srcId="{E757FDEA-7340-4D40-B1B0-9D03376416AE}" destId="{2BACBCBC-3378-4D68-934B-AA785429E7B0}" srcOrd="2" destOrd="0" presId="urn:microsoft.com/office/officeart/2018/2/layout/IconVerticalSolidList"/>
    <dgm:cxn modelId="{C15B4D6E-6BF9-4CCC-B495-653600720AF0}" type="presParOf" srcId="{2BACBCBC-3378-4D68-934B-AA785429E7B0}" destId="{1811442D-058B-4E78-AFC1-45C8C3195584}" srcOrd="0" destOrd="0" presId="urn:microsoft.com/office/officeart/2018/2/layout/IconVerticalSolidList"/>
    <dgm:cxn modelId="{19EF032A-F751-4835-90D3-BDB1B7DABEFD}" type="presParOf" srcId="{2BACBCBC-3378-4D68-934B-AA785429E7B0}" destId="{AB28F4B6-B189-4E72-8C68-2DFD7385B062}" srcOrd="1" destOrd="0" presId="urn:microsoft.com/office/officeart/2018/2/layout/IconVerticalSolidList"/>
    <dgm:cxn modelId="{4C2BEAFB-F76D-4DB2-86CB-45C10CA080B6}" type="presParOf" srcId="{2BACBCBC-3378-4D68-934B-AA785429E7B0}" destId="{2263996A-3785-49D6-B32C-F245F98A51F0}" srcOrd="2" destOrd="0" presId="urn:microsoft.com/office/officeart/2018/2/layout/IconVerticalSolidList"/>
    <dgm:cxn modelId="{F49E40A2-8987-4EB9-A7A7-2FE3C2107B08}" type="presParOf" srcId="{2BACBCBC-3378-4D68-934B-AA785429E7B0}" destId="{066EE3B1-E3AD-46BC-A8DA-E713E0D77A28}" srcOrd="3" destOrd="0" presId="urn:microsoft.com/office/officeart/2018/2/layout/IconVerticalSolidList"/>
    <dgm:cxn modelId="{2DB4CAF4-A2C4-4DEE-A4B6-3408E554CE7D}" type="presParOf" srcId="{E757FDEA-7340-4D40-B1B0-9D03376416AE}" destId="{B093DEE3-2676-4F3B-BBD9-5F27550A0E0A}" srcOrd="3" destOrd="0" presId="urn:microsoft.com/office/officeart/2018/2/layout/IconVerticalSolidList"/>
    <dgm:cxn modelId="{47C5172F-B554-4ABF-97EE-CC57136628A5}" type="presParOf" srcId="{E757FDEA-7340-4D40-B1B0-9D03376416AE}" destId="{F9E9FA31-695C-43FF-A16F-9507E816AB07}" srcOrd="4" destOrd="0" presId="urn:microsoft.com/office/officeart/2018/2/layout/IconVerticalSolidList"/>
    <dgm:cxn modelId="{F5302320-876D-4B10-88D6-79B78776E7E6}" type="presParOf" srcId="{F9E9FA31-695C-43FF-A16F-9507E816AB07}" destId="{4FFB2940-C82B-45E8-BD93-45B1AFD212F8}" srcOrd="0" destOrd="0" presId="urn:microsoft.com/office/officeart/2018/2/layout/IconVerticalSolidList"/>
    <dgm:cxn modelId="{508FBD3C-F322-47AF-A770-BE37A9317145}" type="presParOf" srcId="{F9E9FA31-695C-43FF-A16F-9507E816AB07}" destId="{B923D5C1-2A7B-4725-B491-462B2407B607}" srcOrd="1" destOrd="0" presId="urn:microsoft.com/office/officeart/2018/2/layout/IconVerticalSolidList"/>
    <dgm:cxn modelId="{1A1F7E17-D44E-4539-9AAA-C21FFB9BAE67}" type="presParOf" srcId="{F9E9FA31-695C-43FF-A16F-9507E816AB07}" destId="{55507022-54A5-432C-B373-830FE31A035F}" srcOrd="2" destOrd="0" presId="urn:microsoft.com/office/officeart/2018/2/layout/IconVerticalSolidList"/>
    <dgm:cxn modelId="{E638E66E-5D0B-4460-A897-F3A115AA1BD0}" type="presParOf" srcId="{F9E9FA31-695C-43FF-A16F-9507E816AB07}" destId="{A0023A19-1673-47E8-8128-1E80B3D76B9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2055E5A-20C2-4B76-BAEA-705E9402731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EF721D0-B87A-44B4-BF4A-EF54D1ABE342}">
      <dgm:prSet/>
      <dgm:spPr/>
      <dgm:t>
        <a:bodyPr/>
        <a:lstStyle/>
        <a:p>
          <a:r>
            <a:rPr lang="en-US"/>
            <a:t>​So, to conclude</a:t>
          </a:r>
        </a:p>
      </dgm:t>
    </dgm:pt>
    <dgm:pt modelId="{B5C8E614-D98D-4211-9B99-548862299BDA}" type="parTrans" cxnId="{93D02CDE-528C-4061-94D8-85211681CDFF}">
      <dgm:prSet/>
      <dgm:spPr/>
      <dgm:t>
        <a:bodyPr/>
        <a:lstStyle/>
        <a:p>
          <a:endParaRPr lang="en-US"/>
        </a:p>
      </dgm:t>
    </dgm:pt>
    <dgm:pt modelId="{1384AEBB-3073-4DE2-AECF-90AF93684304}" type="sibTrans" cxnId="{93D02CDE-528C-4061-94D8-85211681CDFF}">
      <dgm:prSet/>
      <dgm:spPr/>
      <dgm:t>
        <a:bodyPr/>
        <a:lstStyle/>
        <a:p>
          <a:endParaRPr lang="en-US"/>
        </a:p>
      </dgm:t>
    </dgm:pt>
    <dgm:pt modelId="{7FDBD19B-1C48-41C8-BDCB-3D2AEA37FE56}">
      <dgm:prSet/>
      <dgm:spPr/>
      <dgm:t>
        <a:bodyPr/>
        <a:lstStyle/>
        <a:p>
          <a:r>
            <a:rPr lang="en-US" baseline="0"/>
            <a:t>Highest impact variable = </a:t>
          </a:r>
          <a:r>
            <a:rPr lang="en-US" b="1" baseline="0"/>
            <a:t>R&amp;D _ Marketing _ Spend_ scaled</a:t>
          </a:r>
          <a:r>
            <a:rPr lang="en-US"/>
            <a:t>​</a:t>
          </a:r>
        </a:p>
      </dgm:t>
    </dgm:pt>
    <dgm:pt modelId="{E91B021F-A0BE-4B0C-8F6A-2AEE7ED545D7}" type="parTrans" cxnId="{2A5AC4B3-14F3-4CC6-A75F-7DD4D9E45624}">
      <dgm:prSet/>
      <dgm:spPr/>
      <dgm:t>
        <a:bodyPr/>
        <a:lstStyle/>
        <a:p>
          <a:endParaRPr lang="en-US"/>
        </a:p>
      </dgm:t>
    </dgm:pt>
    <dgm:pt modelId="{6F0D08E6-6ADD-44A2-AFFD-ACFB447DC438}" type="sibTrans" cxnId="{2A5AC4B3-14F3-4CC6-A75F-7DD4D9E45624}">
      <dgm:prSet/>
      <dgm:spPr/>
      <dgm:t>
        <a:bodyPr/>
        <a:lstStyle/>
        <a:p>
          <a:endParaRPr lang="en-US"/>
        </a:p>
      </dgm:t>
    </dgm:pt>
    <dgm:pt modelId="{E3D1B682-9640-476D-911E-94169A10DEEF}">
      <dgm:prSet/>
      <dgm:spPr/>
      <dgm:t>
        <a:bodyPr/>
        <a:lstStyle/>
        <a:p>
          <a:r>
            <a:rPr lang="en-US" baseline="0"/>
            <a:t>Administration contributes moderately</a:t>
          </a:r>
          <a:r>
            <a:rPr lang="en-US"/>
            <a:t>​</a:t>
          </a:r>
        </a:p>
      </dgm:t>
    </dgm:pt>
    <dgm:pt modelId="{53F4AB45-04A0-4E81-99B9-E0C0787A0FD7}" type="parTrans" cxnId="{3AA1AD2D-8167-4095-9CA0-EE0AB6A91927}">
      <dgm:prSet/>
      <dgm:spPr/>
      <dgm:t>
        <a:bodyPr/>
        <a:lstStyle/>
        <a:p>
          <a:endParaRPr lang="en-US"/>
        </a:p>
      </dgm:t>
    </dgm:pt>
    <dgm:pt modelId="{A55F9943-7E7C-4C40-A75B-80F1306B07ED}" type="sibTrans" cxnId="{3AA1AD2D-8167-4095-9CA0-EE0AB6A91927}">
      <dgm:prSet/>
      <dgm:spPr/>
      <dgm:t>
        <a:bodyPr/>
        <a:lstStyle/>
        <a:p>
          <a:endParaRPr lang="en-US"/>
        </a:p>
      </dgm:t>
    </dgm:pt>
    <dgm:pt modelId="{0C63DF0F-96D0-4BDC-94AD-9D0486B02F03}">
      <dgm:prSet/>
      <dgm:spPr/>
      <dgm:t>
        <a:bodyPr/>
        <a:lstStyle/>
        <a:p>
          <a:r>
            <a:rPr lang="en-US" baseline="0"/>
            <a:t>State variables contribute very little</a:t>
          </a:r>
          <a:r>
            <a:rPr lang="en-US"/>
            <a:t>​</a:t>
          </a:r>
        </a:p>
      </dgm:t>
    </dgm:pt>
    <dgm:pt modelId="{C281BA8F-2F13-4EBE-A290-5666084E60FD}" type="parTrans" cxnId="{3B8CE8EA-B7E4-456F-A1DC-028201031697}">
      <dgm:prSet/>
      <dgm:spPr/>
      <dgm:t>
        <a:bodyPr/>
        <a:lstStyle/>
        <a:p>
          <a:endParaRPr lang="en-US"/>
        </a:p>
      </dgm:t>
    </dgm:pt>
    <dgm:pt modelId="{3EEF1860-B15D-43C3-BBB8-D32039221D90}" type="sibTrans" cxnId="{3B8CE8EA-B7E4-456F-A1DC-028201031697}">
      <dgm:prSet/>
      <dgm:spPr/>
      <dgm:t>
        <a:bodyPr/>
        <a:lstStyle/>
        <a:p>
          <a:endParaRPr lang="en-US"/>
        </a:p>
      </dgm:t>
    </dgm:pt>
    <dgm:pt modelId="{2C493527-794E-4FCC-BBC2-D62D822AF51C}" type="pres">
      <dgm:prSet presAssocID="{52055E5A-20C2-4B76-BAEA-705E94027311}" presName="linear" presStyleCnt="0">
        <dgm:presLayoutVars>
          <dgm:animLvl val="lvl"/>
          <dgm:resizeHandles val="exact"/>
        </dgm:presLayoutVars>
      </dgm:prSet>
      <dgm:spPr/>
    </dgm:pt>
    <dgm:pt modelId="{E5C5053F-30D4-4A44-810A-99DCE8441B6A}" type="pres">
      <dgm:prSet presAssocID="{BEF721D0-B87A-44B4-BF4A-EF54D1ABE342}" presName="parentText" presStyleLbl="node1" presStyleIdx="0" presStyleCnt="1">
        <dgm:presLayoutVars>
          <dgm:chMax val="0"/>
          <dgm:bulletEnabled val="1"/>
        </dgm:presLayoutVars>
      </dgm:prSet>
      <dgm:spPr/>
    </dgm:pt>
    <dgm:pt modelId="{F7BE795B-16DD-4B4B-8C77-F9FF70859495}" type="pres">
      <dgm:prSet presAssocID="{BEF721D0-B87A-44B4-BF4A-EF54D1ABE342}" presName="childText" presStyleLbl="revTx" presStyleIdx="0" presStyleCnt="1">
        <dgm:presLayoutVars>
          <dgm:bulletEnabled val="1"/>
        </dgm:presLayoutVars>
      </dgm:prSet>
      <dgm:spPr/>
    </dgm:pt>
  </dgm:ptLst>
  <dgm:cxnLst>
    <dgm:cxn modelId="{3AA1AD2D-8167-4095-9CA0-EE0AB6A91927}" srcId="{BEF721D0-B87A-44B4-BF4A-EF54D1ABE342}" destId="{E3D1B682-9640-476D-911E-94169A10DEEF}" srcOrd="1" destOrd="0" parTransId="{53F4AB45-04A0-4E81-99B9-E0C0787A0FD7}" sibTransId="{A55F9943-7E7C-4C40-A75B-80F1306B07ED}"/>
    <dgm:cxn modelId="{1349DD38-937B-42AB-834D-4498A8CB31AC}" type="presOf" srcId="{BEF721D0-B87A-44B4-BF4A-EF54D1ABE342}" destId="{E5C5053F-30D4-4A44-810A-99DCE8441B6A}" srcOrd="0" destOrd="0" presId="urn:microsoft.com/office/officeart/2005/8/layout/vList2"/>
    <dgm:cxn modelId="{4963D944-7FD7-4AB3-85BC-90C3C01CB8C1}" type="presOf" srcId="{52055E5A-20C2-4B76-BAEA-705E94027311}" destId="{2C493527-794E-4FCC-BBC2-D62D822AF51C}" srcOrd="0" destOrd="0" presId="urn:microsoft.com/office/officeart/2005/8/layout/vList2"/>
    <dgm:cxn modelId="{DE44D295-D25A-4D24-ADA0-914AB3F8DFBE}" type="presOf" srcId="{7FDBD19B-1C48-41C8-BDCB-3D2AEA37FE56}" destId="{F7BE795B-16DD-4B4B-8C77-F9FF70859495}" srcOrd="0" destOrd="0" presId="urn:microsoft.com/office/officeart/2005/8/layout/vList2"/>
    <dgm:cxn modelId="{95DD4496-EE1A-4520-AF3E-614F4361F409}" type="presOf" srcId="{0C63DF0F-96D0-4BDC-94AD-9D0486B02F03}" destId="{F7BE795B-16DD-4B4B-8C77-F9FF70859495}" srcOrd="0" destOrd="2" presId="urn:microsoft.com/office/officeart/2005/8/layout/vList2"/>
    <dgm:cxn modelId="{2A5AC4B3-14F3-4CC6-A75F-7DD4D9E45624}" srcId="{BEF721D0-B87A-44B4-BF4A-EF54D1ABE342}" destId="{7FDBD19B-1C48-41C8-BDCB-3D2AEA37FE56}" srcOrd="0" destOrd="0" parTransId="{E91B021F-A0BE-4B0C-8F6A-2AEE7ED545D7}" sibTransId="{6F0D08E6-6ADD-44A2-AFFD-ACFB447DC438}"/>
    <dgm:cxn modelId="{F54143D1-079A-4AE4-A4B2-C87C118A4938}" type="presOf" srcId="{E3D1B682-9640-476D-911E-94169A10DEEF}" destId="{F7BE795B-16DD-4B4B-8C77-F9FF70859495}" srcOrd="0" destOrd="1" presId="urn:microsoft.com/office/officeart/2005/8/layout/vList2"/>
    <dgm:cxn modelId="{93D02CDE-528C-4061-94D8-85211681CDFF}" srcId="{52055E5A-20C2-4B76-BAEA-705E94027311}" destId="{BEF721D0-B87A-44B4-BF4A-EF54D1ABE342}" srcOrd="0" destOrd="0" parTransId="{B5C8E614-D98D-4211-9B99-548862299BDA}" sibTransId="{1384AEBB-3073-4DE2-AECF-90AF93684304}"/>
    <dgm:cxn modelId="{3B8CE8EA-B7E4-456F-A1DC-028201031697}" srcId="{BEF721D0-B87A-44B4-BF4A-EF54D1ABE342}" destId="{0C63DF0F-96D0-4BDC-94AD-9D0486B02F03}" srcOrd="2" destOrd="0" parTransId="{C281BA8F-2F13-4EBE-A290-5666084E60FD}" sibTransId="{3EEF1860-B15D-43C3-BBB8-D32039221D90}"/>
    <dgm:cxn modelId="{EE2681A9-02ED-4A02-AF68-A3428C7870C0}" type="presParOf" srcId="{2C493527-794E-4FCC-BBC2-D62D822AF51C}" destId="{E5C5053F-30D4-4A44-810A-99DCE8441B6A}" srcOrd="0" destOrd="0" presId="urn:microsoft.com/office/officeart/2005/8/layout/vList2"/>
    <dgm:cxn modelId="{BB33C2E8-0733-495E-8673-3280135606AD}" type="presParOf" srcId="{2C493527-794E-4FCC-BBC2-D62D822AF51C}" destId="{F7BE795B-16DD-4B4B-8C77-F9FF70859495}"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D4044C-ED10-4BC5-95EA-B37F7FACC0D4}">
      <dsp:nvSpPr>
        <dsp:cNvPr id="0" name=""/>
        <dsp:cNvSpPr/>
      </dsp:nvSpPr>
      <dsp:spPr>
        <a:xfrm>
          <a:off x="752566" y="965876"/>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7BD76A-F20E-4056-B023-4BDE3DBF05C9}">
      <dsp:nvSpPr>
        <dsp:cNvPr id="0" name=""/>
        <dsp:cNvSpPr/>
      </dsp:nvSpPr>
      <dsp:spPr>
        <a:xfrm>
          <a:off x="100682" y="2371928"/>
          <a:ext cx="2370489"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Data Cleaning:</a:t>
          </a:r>
          <a:r>
            <a:rPr lang="en-US" sz="1100" kern="1200"/>
            <a:t> Applied techniques to handle missing data and correct inconsistencies, deduplicated within the dataset for our model.</a:t>
          </a:r>
        </a:p>
      </dsp:txBody>
      <dsp:txXfrm>
        <a:off x="100682" y="2371928"/>
        <a:ext cx="2370489" cy="855000"/>
      </dsp:txXfrm>
    </dsp:sp>
    <dsp:sp modelId="{AD750B62-6C6B-4F4D-B212-58150D8E7F6B}">
      <dsp:nvSpPr>
        <dsp:cNvPr id="0" name=""/>
        <dsp:cNvSpPr/>
      </dsp:nvSpPr>
      <dsp:spPr>
        <a:xfrm>
          <a:off x="3537891" y="965876"/>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14E742-00AE-4355-9226-B642C1CDDB10}">
      <dsp:nvSpPr>
        <dsp:cNvPr id="0" name=""/>
        <dsp:cNvSpPr/>
      </dsp:nvSpPr>
      <dsp:spPr>
        <a:xfrm>
          <a:off x="2886007" y="2371928"/>
          <a:ext cx="2370489"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Exploratory Data Analysis (EDA):</a:t>
          </a:r>
          <a:r>
            <a:rPr lang="en-US" sz="1100" kern="1200"/>
            <a:t> Analyze initial relationships between spending categories and profit, forming early hypotheses about which factors are most influential. </a:t>
          </a:r>
        </a:p>
      </dsp:txBody>
      <dsp:txXfrm>
        <a:off x="2886007" y="2371928"/>
        <a:ext cx="2370489" cy="855000"/>
      </dsp:txXfrm>
    </dsp:sp>
    <dsp:sp modelId="{DB76AF8F-CB4A-480D-95B5-C0AE3507359A}">
      <dsp:nvSpPr>
        <dsp:cNvPr id="0" name=""/>
        <dsp:cNvSpPr/>
      </dsp:nvSpPr>
      <dsp:spPr>
        <a:xfrm>
          <a:off x="6323216" y="965876"/>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2778D8-D2A8-4B61-AFA0-E58CB7B2687B}">
      <dsp:nvSpPr>
        <dsp:cNvPr id="0" name=""/>
        <dsp:cNvSpPr/>
      </dsp:nvSpPr>
      <dsp:spPr>
        <a:xfrm>
          <a:off x="5671332" y="2371928"/>
          <a:ext cx="2370489"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Data Transformation: </a:t>
          </a:r>
          <a:r>
            <a:rPr lang="en-US" sz="1100" kern="1200"/>
            <a:t>Standardizing data formats, Scaling and Normalizing, Encoding categorical variables (State) and creating derived features for analysis. </a:t>
          </a:r>
        </a:p>
      </dsp:txBody>
      <dsp:txXfrm>
        <a:off x="5671332" y="2371928"/>
        <a:ext cx="2370489" cy="855000"/>
      </dsp:txXfrm>
    </dsp:sp>
    <dsp:sp modelId="{F014D0EE-6568-4B89-BD65-0BB1EB57929D}">
      <dsp:nvSpPr>
        <dsp:cNvPr id="0" name=""/>
        <dsp:cNvSpPr/>
      </dsp:nvSpPr>
      <dsp:spPr>
        <a:xfrm>
          <a:off x="9108541" y="965876"/>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677CFC-9B22-4CE6-88A5-92DD9E0E1ACC}">
      <dsp:nvSpPr>
        <dsp:cNvPr id="0" name=""/>
        <dsp:cNvSpPr/>
      </dsp:nvSpPr>
      <dsp:spPr>
        <a:xfrm>
          <a:off x="8456657" y="2371928"/>
          <a:ext cx="2370489"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Predictive Modelling: </a:t>
          </a:r>
          <a:r>
            <a:rPr lang="en-US" sz="1100" kern="1200"/>
            <a:t>Utilized </a:t>
          </a:r>
          <a:r>
            <a:rPr lang="en-US" sz="1100" kern="1200">
              <a:latin typeface="Calibri Light" panose="020F0302020204030204"/>
            </a:rPr>
            <a:t>an Ordinary Least Squares Regression</a:t>
          </a:r>
          <a:r>
            <a:rPr lang="en-US" sz="1100" kern="1200"/>
            <a:t> model in python to analyze the relationships between multiple factors versus profit.</a:t>
          </a:r>
        </a:p>
      </dsp:txBody>
      <dsp:txXfrm>
        <a:off x="8456657" y="2371928"/>
        <a:ext cx="2370489" cy="85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EC3F7A-1919-4FC1-88C3-7DEE505A779F}">
      <dsp:nvSpPr>
        <dsp:cNvPr id="0" name=""/>
        <dsp:cNvSpPr/>
      </dsp:nvSpPr>
      <dsp:spPr>
        <a:xfrm>
          <a:off x="0" y="0"/>
          <a:ext cx="996580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E895A4-E103-4B68-AE8B-1F504727B9F3}">
      <dsp:nvSpPr>
        <dsp:cNvPr id="0" name=""/>
        <dsp:cNvSpPr/>
      </dsp:nvSpPr>
      <dsp:spPr>
        <a:xfrm>
          <a:off x="0" y="0"/>
          <a:ext cx="1993160" cy="5247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Initial Data Observations</a:t>
          </a:r>
          <a:endParaRPr lang="en-US" sz="2500" kern="1200"/>
        </a:p>
      </dsp:txBody>
      <dsp:txXfrm>
        <a:off x="0" y="0"/>
        <a:ext cx="1993160" cy="5247590"/>
      </dsp:txXfrm>
    </dsp:sp>
    <dsp:sp modelId="{988ACA9C-638A-4977-BDC8-FC3D292F33D0}">
      <dsp:nvSpPr>
        <dsp:cNvPr id="0" name=""/>
        <dsp:cNvSpPr/>
      </dsp:nvSpPr>
      <dsp:spPr>
        <a:xfrm>
          <a:off x="2142647" y="31035"/>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CSV file of 1000 companies</a:t>
          </a:r>
        </a:p>
      </dsp:txBody>
      <dsp:txXfrm>
        <a:off x="2142647" y="31035"/>
        <a:ext cx="7823154" cy="620717"/>
      </dsp:txXfrm>
    </dsp:sp>
    <dsp:sp modelId="{BF06B3F8-0B49-40F3-AE73-33FE6ACABC20}">
      <dsp:nvSpPr>
        <dsp:cNvPr id="0" name=""/>
        <dsp:cNvSpPr/>
      </dsp:nvSpPr>
      <dsp:spPr>
        <a:xfrm>
          <a:off x="1993160" y="651752"/>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BE84C4-42CA-4FC8-8BF0-3C927C45708A}">
      <dsp:nvSpPr>
        <dsp:cNvPr id="0" name=""/>
        <dsp:cNvSpPr/>
      </dsp:nvSpPr>
      <dsp:spPr>
        <a:xfrm>
          <a:off x="2142647" y="682788"/>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There are 1002 rows, 5 columns (features).</a:t>
          </a:r>
        </a:p>
      </dsp:txBody>
      <dsp:txXfrm>
        <a:off x="2142647" y="682788"/>
        <a:ext cx="7823154" cy="620717"/>
      </dsp:txXfrm>
    </dsp:sp>
    <dsp:sp modelId="{9B7E969C-7A7A-4C86-8E1C-C1DC010FFEA0}">
      <dsp:nvSpPr>
        <dsp:cNvPr id="0" name=""/>
        <dsp:cNvSpPr/>
      </dsp:nvSpPr>
      <dsp:spPr>
        <a:xfrm>
          <a:off x="1993160" y="1303505"/>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F73B4D-2D7B-44B3-8E39-B4EB7A229591}">
      <dsp:nvSpPr>
        <dsp:cNvPr id="0" name=""/>
        <dsp:cNvSpPr/>
      </dsp:nvSpPr>
      <dsp:spPr>
        <a:xfrm>
          <a:off x="2142647" y="1334541"/>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Numeric and text datatypes found.</a:t>
          </a:r>
        </a:p>
      </dsp:txBody>
      <dsp:txXfrm>
        <a:off x="2142647" y="1334541"/>
        <a:ext cx="7823154" cy="620717"/>
      </dsp:txXfrm>
    </dsp:sp>
    <dsp:sp modelId="{EB39B1F6-D325-41BB-9D04-E420E3D87C2F}">
      <dsp:nvSpPr>
        <dsp:cNvPr id="0" name=""/>
        <dsp:cNvSpPr/>
      </dsp:nvSpPr>
      <dsp:spPr>
        <a:xfrm>
          <a:off x="1993160" y="1955258"/>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76E4ED-3DC1-4837-8240-65650C85E952}">
      <dsp:nvSpPr>
        <dsp:cNvPr id="0" name=""/>
        <dsp:cNvSpPr/>
      </dsp:nvSpPr>
      <dsp:spPr>
        <a:xfrm>
          <a:off x="2142647" y="1986294"/>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Values are missing in some rows.</a:t>
          </a:r>
        </a:p>
      </dsp:txBody>
      <dsp:txXfrm>
        <a:off x="2142647" y="1986294"/>
        <a:ext cx="7823154" cy="620717"/>
      </dsp:txXfrm>
    </dsp:sp>
    <dsp:sp modelId="{076C51A7-425B-428D-82A5-EE4AB5E9A103}">
      <dsp:nvSpPr>
        <dsp:cNvPr id="0" name=""/>
        <dsp:cNvSpPr/>
      </dsp:nvSpPr>
      <dsp:spPr>
        <a:xfrm>
          <a:off x="1993160" y="2607011"/>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7929E6-EDE4-44E6-A441-4C29160A4C76}">
      <dsp:nvSpPr>
        <dsp:cNvPr id="0" name=""/>
        <dsp:cNvSpPr/>
      </dsp:nvSpPr>
      <dsp:spPr>
        <a:xfrm>
          <a:off x="2142647" y="2638047"/>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State names are inconsistently formatted (e.g., capitalization issues).</a:t>
          </a:r>
        </a:p>
      </dsp:txBody>
      <dsp:txXfrm>
        <a:off x="2142647" y="2638047"/>
        <a:ext cx="7823154" cy="620717"/>
      </dsp:txXfrm>
    </dsp:sp>
    <dsp:sp modelId="{0C8A6D73-93A0-4B2C-ADD3-3EC6837A5833}">
      <dsp:nvSpPr>
        <dsp:cNvPr id="0" name=""/>
        <dsp:cNvSpPr/>
      </dsp:nvSpPr>
      <dsp:spPr>
        <a:xfrm>
          <a:off x="1993160" y="3258764"/>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D1330E-FB66-4078-8060-9379F3150788}">
      <dsp:nvSpPr>
        <dsp:cNvPr id="0" name=""/>
        <dsp:cNvSpPr/>
      </dsp:nvSpPr>
      <dsp:spPr>
        <a:xfrm>
          <a:off x="2142647" y="3289800"/>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Three duplicate values are found.</a:t>
          </a:r>
        </a:p>
      </dsp:txBody>
      <dsp:txXfrm>
        <a:off x="2142647" y="3289800"/>
        <a:ext cx="7823154" cy="620717"/>
      </dsp:txXfrm>
    </dsp:sp>
    <dsp:sp modelId="{F43FA90F-2A7E-4B99-887E-B0C6FEE968B1}">
      <dsp:nvSpPr>
        <dsp:cNvPr id="0" name=""/>
        <dsp:cNvSpPr/>
      </dsp:nvSpPr>
      <dsp:spPr>
        <a:xfrm>
          <a:off x="1993160" y="3910517"/>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D0E838-DBF7-4944-8715-09B5C34B1BAD}">
      <dsp:nvSpPr>
        <dsp:cNvPr id="0" name=""/>
        <dsp:cNvSpPr/>
      </dsp:nvSpPr>
      <dsp:spPr>
        <a:xfrm>
          <a:off x="2142647" y="3941553"/>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Some companies report zero R&amp;D or Marketing spend, which may represent outliers or  special cases.</a:t>
          </a:r>
        </a:p>
      </dsp:txBody>
      <dsp:txXfrm>
        <a:off x="2142647" y="3941553"/>
        <a:ext cx="7823154" cy="620717"/>
      </dsp:txXfrm>
    </dsp:sp>
    <dsp:sp modelId="{CA552739-7F92-4E73-B609-D3B5BEAEDB38}">
      <dsp:nvSpPr>
        <dsp:cNvPr id="0" name=""/>
        <dsp:cNvSpPr/>
      </dsp:nvSpPr>
      <dsp:spPr>
        <a:xfrm>
          <a:off x="1993160" y="4562270"/>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1C325D-5CAD-493E-BAB0-DF240A4D4E1E}">
      <dsp:nvSpPr>
        <dsp:cNvPr id="0" name=""/>
        <dsp:cNvSpPr/>
      </dsp:nvSpPr>
      <dsp:spPr>
        <a:xfrm>
          <a:off x="2142647" y="4593306"/>
          <a:ext cx="7823154" cy="620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Profit generally increases with R&amp;D spend, but the relationship with Marketing and Administration is less clear.</a:t>
          </a:r>
        </a:p>
      </dsp:txBody>
      <dsp:txXfrm>
        <a:off x="2142647" y="4593306"/>
        <a:ext cx="7823154" cy="620717"/>
      </dsp:txXfrm>
    </dsp:sp>
    <dsp:sp modelId="{B02E4B77-BD8C-4F25-B274-AF1D5180C0C2}">
      <dsp:nvSpPr>
        <dsp:cNvPr id="0" name=""/>
        <dsp:cNvSpPr/>
      </dsp:nvSpPr>
      <dsp:spPr>
        <a:xfrm>
          <a:off x="1993160" y="5214023"/>
          <a:ext cx="797264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866E0-9837-4D1B-A796-3F3C1336A345}">
      <dsp:nvSpPr>
        <dsp:cNvPr id="0" name=""/>
        <dsp:cNvSpPr/>
      </dsp:nvSpPr>
      <dsp:spPr>
        <a:xfrm>
          <a:off x="0" y="41889"/>
          <a:ext cx="10966173"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Before Scaling (Raw Values):</a:t>
          </a:r>
        </a:p>
      </dsp:txBody>
      <dsp:txXfrm>
        <a:off x="36296" y="78185"/>
        <a:ext cx="10893581" cy="670943"/>
      </dsp:txXfrm>
    </dsp:sp>
    <dsp:sp modelId="{ACC6E872-B406-4270-9572-AC3BB22F69BB}">
      <dsp:nvSpPr>
        <dsp:cNvPr id="0" name=""/>
        <dsp:cNvSpPr/>
      </dsp:nvSpPr>
      <dsp:spPr>
        <a:xfrm>
          <a:off x="0" y="785424"/>
          <a:ext cx="10966173" cy="753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17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err="1"/>
            <a:t>Total_Spend</a:t>
          </a:r>
          <a:r>
            <a:rPr lang="en-US" sz="2400" kern="1200"/>
            <a:t> (R&amp;D + Marketing)Administration have very different ranges (hundreds of thousands vs. tens of thousands).</a:t>
          </a:r>
        </a:p>
      </dsp:txBody>
      <dsp:txXfrm>
        <a:off x="0" y="785424"/>
        <a:ext cx="10966173" cy="753997"/>
      </dsp:txXfrm>
    </dsp:sp>
    <dsp:sp modelId="{305258C0-3223-45F3-8DEA-FA179FE0E96F}">
      <dsp:nvSpPr>
        <dsp:cNvPr id="0" name=""/>
        <dsp:cNvSpPr/>
      </dsp:nvSpPr>
      <dsp:spPr>
        <a:xfrm>
          <a:off x="0" y="1539421"/>
          <a:ext cx="10966173"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After Scaling (Standardization):</a:t>
          </a:r>
        </a:p>
      </dsp:txBody>
      <dsp:txXfrm>
        <a:off x="36296" y="1575717"/>
        <a:ext cx="10893581" cy="670943"/>
      </dsp:txXfrm>
    </dsp:sp>
    <dsp:sp modelId="{2712E4DD-30AC-4784-BB29-F0B40B9D03EE}">
      <dsp:nvSpPr>
        <dsp:cNvPr id="0" name=""/>
        <dsp:cNvSpPr/>
      </dsp:nvSpPr>
      <dsp:spPr>
        <a:xfrm>
          <a:off x="0" y="2282956"/>
          <a:ext cx="10966173" cy="83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17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All predictors are on the same scale (e.g., mean = 0, std = 1).</a:t>
          </a:r>
        </a:p>
        <a:p>
          <a:pPr marL="228600" lvl="1" indent="-228600" algn="l" defTabSz="1066800">
            <a:lnSpc>
              <a:spcPct val="90000"/>
            </a:lnSpc>
            <a:spcBef>
              <a:spcPct val="0"/>
            </a:spcBef>
            <a:spcAft>
              <a:spcPct val="20000"/>
            </a:spcAft>
            <a:buChar char="•"/>
          </a:pPr>
          <a:r>
            <a:rPr lang="en-US" sz="2400" kern="1200"/>
            <a:t>Easier to compare the impact of R&amp;D vs. Marketing vs. Administration.</a:t>
          </a:r>
        </a:p>
      </dsp:txBody>
      <dsp:txXfrm>
        <a:off x="0" y="2282956"/>
        <a:ext cx="10966173" cy="8342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AE059-C197-4FBF-A30B-76678DBDA8BF}">
      <dsp:nvSpPr>
        <dsp:cNvPr id="0" name=""/>
        <dsp:cNvSpPr/>
      </dsp:nvSpPr>
      <dsp:spPr>
        <a:xfrm>
          <a:off x="0" y="2771"/>
          <a:ext cx="4818888" cy="5903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D7330F-654F-4149-84EE-B0604192D072}">
      <dsp:nvSpPr>
        <dsp:cNvPr id="0" name=""/>
        <dsp:cNvSpPr/>
      </dsp:nvSpPr>
      <dsp:spPr>
        <a:xfrm>
          <a:off x="178592" y="135609"/>
          <a:ext cx="324713" cy="3247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086102-654E-4CC0-93BE-1BAFD28B643D}">
      <dsp:nvSpPr>
        <dsp:cNvPr id="0" name=""/>
        <dsp:cNvSpPr/>
      </dsp:nvSpPr>
      <dsp:spPr>
        <a:xfrm>
          <a:off x="681898" y="2771"/>
          <a:ext cx="4136989" cy="590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3" tIns="62483" rIns="62483" bIns="62483" numCol="1" spcCol="1270" anchor="ctr" anchorCtr="0">
          <a:noAutofit/>
        </a:bodyPr>
        <a:lstStyle/>
        <a:p>
          <a:pPr marL="0" lvl="0" indent="0" algn="l" defTabSz="844550">
            <a:lnSpc>
              <a:spcPct val="100000"/>
            </a:lnSpc>
            <a:spcBef>
              <a:spcPct val="0"/>
            </a:spcBef>
            <a:spcAft>
              <a:spcPct val="35000"/>
            </a:spcAft>
            <a:buNone/>
          </a:pPr>
          <a:r>
            <a:rPr lang="en-US" sz="1900" kern="1200"/>
            <a:t>Administration _ scaled</a:t>
          </a:r>
        </a:p>
      </dsp:txBody>
      <dsp:txXfrm>
        <a:off x="681898" y="2771"/>
        <a:ext cx="4136989" cy="590388"/>
      </dsp:txXfrm>
    </dsp:sp>
    <dsp:sp modelId="{953FD7DC-5F7C-45AD-B1FB-1FED699A8BC9}">
      <dsp:nvSpPr>
        <dsp:cNvPr id="0" name=""/>
        <dsp:cNvSpPr/>
      </dsp:nvSpPr>
      <dsp:spPr>
        <a:xfrm>
          <a:off x="0" y="740756"/>
          <a:ext cx="4818888" cy="5903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8D58E8-1F55-4E16-8B2A-738C076D3455}">
      <dsp:nvSpPr>
        <dsp:cNvPr id="0" name=""/>
        <dsp:cNvSpPr/>
      </dsp:nvSpPr>
      <dsp:spPr>
        <a:xfrm>
          <a:off x="178592" y="873594"/>
          <a:ext cx="324713" cy="3247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DCEEC7-FF4A-41A8-B8C5-CE2A6BAB1EFF}">
      <dsp:nvSpPr>
        <dsp:cNvPr id="0" name=""/>
        <dsp:cNvSpPr/>
      </dsp:nvSpPr>
      <dsp:spPr>
        <a:xfrm>
          <a:off x="681898" y="740756"/>
          <a:ext cx="4136989" cy="590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3" tIns="62483" rIns="62483" bIns="62483" numCol="1" spcCol="1270" anchor="ctr" anchorCtr="0">
          <a:noAutofit/>
        </a:bodyPr>
        <a:lstStyle/>
        <a:p>
          <a:pPr marL="0" lvl="0" indent="0" algn="l" defTabSz="844550">
            <a:lnSpc>
              <a:spcPct val="100000"/>
            </a:lnSpc>
            <a:spcBef>
              <a:spcPct val="0"/>
            </a:spcBef>
            <a:spcAft>
              <a:spcPct val="35000"/>
            </a:spcAft>
            <a:buNone/>
          </a:pPr>
          <a:r>
            <a:rPr lang="en-US" sz="1900" kern="1200"/>
            <a:t>R&amp;D _ Marketing _ Spend_ scaled</a:t>
          </a:r>
        </a:p>
      </dsp:txBody>
      <dsp:txXfrm>
        <a:off x="681898" y="740756"/>
        <a:ext cx="4136989" cy="590388"/>
      </dsp:txXfrm>
    </dsp:sp>
    <dsp:sp modelId="{255ADD6D-F4DA-4361-A735-D44F6FFAF8CD}">
      <dsp:nvSpPr>
        <dsp:cNvPr id="0" name=""/>
        <dsp:cNvSpPr/>
      </dsp:nvSpPr>
      <dsp:spPr>
        <a:xfrm>
          <a:off x="0" y="1478741"/>
          <a:ext cx="4818888" cy="5903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602A88-5937-4E25-A289-5075280008CD}">
      <dsp:nvSpPr>
        <dsp:cNvPr id="0" name=""/>
        <dsp:cNvSpPr/>
      </dsp:nvSpPr>
      <dsp:spPr>
        <a:xfrm>
          <a:off x="178592" y="1611579"/>
          <a:ext cx="324713" cy="3247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C502C0-1887-471B-9CF7-A4CB0F7D7609}">
      <dsp:nvSpPr>
        <dsp:cNvPr id="0" name=""/>
        <dsp:cNvSpPr/>
      </dsp:nvSpPr>
      <dsp:spPr>
        <a:xfrm>
          <a:off x="681898" y="1478741"/>
          <a:ext cx="4136989" cy="590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3" tIns="62483" rIns="62483" bIns="62483" numCol="1" spcCol="1270" anchor="ctr" anchorCtr="0">
          <a:noAutofit/>
        </a:bodyPr>
        <a:lstStyle/>
        <a:p>
          <a:pPr marL="0" lvl="0" indent="0" algn="l" defTabSz="844550">
            <a:lnSpc>
              <a:spcPct val="100000"/>
            </a:lnSpc>
            <a:spcBef>
              <a:spcPct val="0"/>
            </a:spcBef>
            <a:spcAft>
              <a:spcPct val="35000"/>
            </a:spcAft>
            <a:buNone/>
          </a:pPr>
          <a:r>
            <a:rPr lang="en-US" sz="1900" kern="1200"/>
            <a:t>State _ California</a:t>
          </a:r>
        </a:p>
      </dsp:txBody>
      <dsp:txXfrm>
        <a:off x="681898" y="1478741"/>
        <a:ext cx="4136989" cy="590388"/>
      </dsp:txXfrm>
    </dsp:sp>
    <dsp:sp modelId="{C59D2DC4-63E0-45FE-860C-FDCDFE4065AD}">
      <dsp:nvSpPr>
        <dsp:cNvPr id="0" name=""/>
        <dsp:cNvSpPr/>
      </dsp:nvSpPr>
      <dsp:spPr>
        <a:xfrm>
          <a:off x="0" y="2216727"/>
          <a:ext cx="4818888" cy="5903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1CE5C4-17AC-4954-8989-7C080192C9B0}">
      <dsp:nvSpPr>
        <dsp:cNvPr id="0" name=""/>
        <dsp:cNvSpPr/>
      </dsp:nvSpPr>
      <dsp:spPr>
        <a:xfrm>
          <a:off x="178592" y="2349564"/>
          <a:ext cx="324713" cy="3247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0BC73C-631E-41E6-80AB-6AB194C1245D}">
      <dsp:nvSpPr>
        <dsp:cNvPr id="0" name=""/>
        <dsp:cNvSpPr/>
      </dsp:nvSpPr>
      <dsp:spPr>
        <a:xfrm>
          <a:off x="681898" y="2216727"/>
          <a:ext cx="4136989" cy="590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3" tIns="62483" rIns="62483" bIns="62483" numCol="1" spcCol="1270" anchor="ctr" anchorCtr="0">
          <a:noAutofit/>
        </a:bodyPr>
        <a:lstStyle/>
        <a:p>
          <a:pPr marL="0" lvl="0" indent="0" algn="l" defTabSz="844550">
            <a:lnSpc>
              <a:spcPct val="100000"/>
            </a:lnSpc>
            <a:spcBef>
              <a:spcPct val="0"/>
            </a:spcBef>
            <a:spcAft>
              <a:spcPct val="35000"/>
            </a:spcAft>
            <a:buNone/>
          </a:pPr>
          <a:r>
            <a:rPr lang="en-US" sz="1900" kern="1200"/>
            <a:t>State _ Florida</a:t>
          </a:r>
        </a:p>
      </dsp:txBody>
      <dsp:txXfrm>
        <a:off x="681898" y="2216727"/>
        <a:ext cx="4136989" cy="590388"/>
      </dsp:txXfrm>
    </dsp:sp>
    <dsp:sp modelId="{8C8C5BAC-04D2-4F1E-8B99-61B6C088151C}">
      <dsp:nvSpPr>
        <dsp:cNvPr id="0" name=""/>
        <dsp:cNvSpPr/>
      </dsp:nvSpPr>
      <dsp:spPr>
        <a:xfrm>
          <a:off x="0" y="2954712"/>
          <a:ext cx="4818888" cy="5903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9DB488-36D3-4452-9C29-4E0596DBAACD}">
      <dsp:nvSpPr>
        <dsp:cNvPr id="0" name=""/>
        <dsp:cNvSpPr/>
      </dsp:nvSpPr>
      <dsp:spPr>
        <a:xfrm>
          <a:off x="178592" y="3087549"/>
          <a:ext cx="324713" cy="32471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AADCAF-DDA7-4067-8B39-E3C02D70A301}">
      <dsp:nvSpPr>
        <dsp:cNvPr id="0" name=""/>
        <dsp:cNvSpPr/>
      </dsp:nvSpPr>
      <dsp:spPr>
        <a:xfrm>
          <a:off x="681898" y="2954712"/>
          <a:ext cx="4136989" cy="590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3" tIns="62483" rIns="62483" bIns="62483" numCol="1" spcCol="1270" anchor="ctr" anchorCtr="0">
          <a:noAutofit/>
        </a:bodyPr>
        <a:lstStyle/>
        <a:p>
          <a:pPr marL="0" lvl="0" indent="0" algn="l" defTabSz="844550">
            <a:lnSpc>
              <a:spcPct val="100000"/>
            </a:lnSpc>
            <a:spcBef>
              <a:spcPct val="0"/>
            </a:spcBef>
            <a:spcAft>
              <a:spcPct val="35000"/>
            </a:spcAft>
            <a:buNone/>
          </a:pPr>
          <a:r>
            <a:rPr lang="en-US" sz="1900" kern="1200"/>
            <a:t>State _ New York</a:t>
          </a:r>
        </a:p>
      </dsp:txBody>
      <dsp:txXfrm>
        <a:off x="681898" y="2954712"/>
        <a:ext cx="4136989" cy="5903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A28B57-80A6-4C25-AD82-A543C424311D}">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CDE17C-CC87-47BA-88B9-A4C1D083F73A}">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DAD14C-E306-41BE-85AC-FC7DAF22CCF6}">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100000"/>
            </a:lnSpc>
            <a:spcBef>
              <a:spcPct val="0"/>
            </a:spcBef>
            <a:spcAft>
              <a:spcPct val="35000"/>
            </a:spcAft>
            <a:buNone/>
          </a:pPr>
          <a:r>
            <a:rPr lang="en-US" sz="2500" b="0" i="0" kern="1200" baseline="0"/>
            <a:t>Model explains </a:t>
          </a:r>
          <a:r>
            <a:rPr lang="en-US" sz="2500" i="0" kern="1200" baseline="0"/>
            <a:t>how much of profit </a:t>
          </a:r>
          <a:r>
            <a:rPr lang="en-US" sz="2500" kern="1200"/>
            <a:t>is predictable</a:t>
          </a:r>
        </a:p>
      </dsp:txBody>
      <dsp:txXfrm>
        <a:off x="1844034" y="682"/>
        <a:ext cx="4401230" cy="1596566"/>
      </dsp:txXfrm>
    </dsp:sp>
    <dsp:sp modelId="{1811442D-058B-4E78-AFC1-45C8C3195584}">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28F4B6-B189-4E72-8C68-2DFD7385B062}">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6EE3B1-E3AD-46BC-A8DA-E713E0D77A28}">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100000"/>
            </a:lnSpc>
            <a:spcBef>
              <a:spcPct val="0"/>
            </a:spcBef>
            <a:spcAft>
              <a:spcPct val="35000"/>
            </a:spcAft>
            <a:buNone/>
          </a:pPr>
          <a:r>
            <a:rPr lang="en-US" sz="2500" b="0" i="0" kern="1200" baseline="0"/>
            <a:t>Lower RMSE → better accuracy</a:t>
          </a:r>
          <a:endParaRPr lang="en-US" sz="2500" kern="1200"/>
        </a:p>
      </dsp:txBody>
      <dsp:txXfrm>
        <a:off x="1844034" y="1996390"/>
        <a:ext cx="4401230" cy="1596566"/>
      </dsp:txXfrm>
    </dsp:sp>
    <dsp:sp modelId="{4FFB2940-C82B-45E8-BD93-45B1AFD212F8}">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23D5C1-2A7B-4725-B491-462B2407B607}">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023A19-1673-47E8-8128-1E80B3D76B90}">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100000"/>
            </a:lnSpc>
            <a:spcBef>
              <a:spcPct val="0"/>
            </a:spcBef>
            <a:spcAft>
              <a:spcPct val="35000"/>
            </a:spcAft>
            <a:buNone/>
          </a:pPr>
          <a:r>
            <a:rPr lang="en-US" sz="2500" b="0" i="0" kern="1200" baseline="0"/>
            <a:t>Higher R² → stronger model fit</a:t>
          </a:r>
          <a:endParaRPr lang="en-US" sz="2500" kern="1200"/>
        </a:p>
      </dsp:txBody>
      <dsp:txXfrm>
        <a:off x="1844034" y="3992098"/>
        <a:ext cx="4401230" cy="15965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C5053F-30D4-4A44-810A-99DCE8441B6A}">
      <dsp:nvSpPr>
        <dsp:cNvPr id="0" name=""/>
        <dsp:cNvSpPr/>
      </dsp:nvSpPr>
      <dsp:spPr>
        <a:xfrm>
          <a:off x="0" y="32228"/>
          <a:ext cx="8928339" cy="767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​So, to conclude</a:t>
          </a:r>
        </a:p>
      </dsp:txBody>
      <dsp:txXfrm>
        <a:off x="37467" y="69695"/>
        <a:ext cx="8853405" cy="692586"/>
      </dsp:txXfrm>
    </dsp:sp>
    <dsp:sp modelId="{F7BE795B-16DD-4B4B-8C77-F9FF70859495}">
      <dsp:nvSpPr>
        <dsp:cNvPr id="0" name=""/>
        <dsp:cNvSpPr/>
      </dsp:nvSpPr>
      <dsp:spPr>
        <a:xfrm>
          <a:off x="0" y="799748"/>
          <a:ext cx="8928339" cy="1291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475"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baseline="0"/>
            <a:t>Highest impact variable = </a:t>
          </a:r>
          <a:r>
            <a:rPr lang="en-US" sz="2500" b="1" kern="1200" baseline="0"/>
            <a:t>R&amp;D _ Marketing _ Spend_ scaled</a:t>
          </a:r>
          <a:r>
            <a:rPr lang="en-US" sz="2500" kern="1200"/>
            <a:t>​</a:t>
          </a:r>
        </a:p>
        <a:p>
          <a:pPr marL="228600" lvl="1" indent="-228600" algn="l" defTabSz="1111250">
            <a:lnSpc>
              <a:spcPct val="90000"/>
            </a:lnSpc>
            <a:spcBef>
              <a:spcPct val="0"/>
            </a:spcBef>
            <a:spcAft>
              <a:spcPct val="20000"/>
            </a:spcAft>
            <a:buChar char="•"/>
          </a:pPr>
          <a:r>
            <a:rPr lang="en-US" sz="2500" kern="1200" baseline="0"/>
            <a:t>Administration contributes moderately</a:t>
          </a:r>
          <a:r>
            <a:rPr lang="en-US" sz="2500" kern="1200"/>
            <a:t>​</a:t>
          </a:r>
        </a:p>
        <a:p>
          <a:pPr marL="228600" lvl="1" indent="-228600" algn="l" defTabSz="1111250">
            <a:lnSpc>
              <a:spcPct val="90000"/>
            </a:lnSpc>
            <a:spcBef>
              <a:spcPct val="0"/>
            </a:spcBef>
            <a:spcAft>
              <a:spcPct val="20000"/>
            </a:spcAft>
            <a:buChar char="•"/>
          </a:pPr>
          <a:r>
            <a:rPr lang="en-US" sz="2500" kern="1200" baseline="0"/>
            <a:t>State variables contribute very little</a:t>
          </a:r>
          <a:r>
            <a:rPr lang="en-US" sz="2500" kern="1200"/>
            <a:t>​</a:t>
          </a:r>
        </a:p>
      </dsp:txBody>
      <dsp:txXfrm>
        <a:off x="0" y="799748"/>
        <a:ext cx="8928339" cy="129168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3BDFD5-9D06-44DF-9093-107F913A1E06}" type="datetimeFigureOut">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59C68E-E7DA-483E-BF39-08ECAAB67F52}" type="slidenum">
              <a:t>‹#›</a:t>
            </a:fld>
            <a:endParaRPr lang="en-US"/>
          </a:p>
        </p:txBody>
      </p:sp>
    </p:spTree>
    <p:extLst>
      <p:ext uri="{BB962C8B-B14F-4D97-AF65-F5344CB8AC3E}">
        <p14:creationId xmlns:p14="http://schemas.microsoft.com/office/powerpoint/2010/main" val="3394599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all!</a:t>
            </a:r>
            <a:br>
              <a:rPr lang="en-US" dirty="0">
                <a:cs typeface="+mn-lt"/>
              </a:rPr>
            </a:br>
            <a:r>
              <a:rPr lang="en-US" dirty="0"/>
              <a:t>We are </a:t>
            </a:r>
            <a:r>
              <a:rPr lang="en-US" b="1" dirty="0"/>
              <a:t>Group 3</a:t>
            </a:r>
            <a:r>
              <a:rPr lang="en-US" dirty="0"/>
              <a:t> and today we will be presenting our project titled </a:t>
            </a:r>
            <a:r>
              <a:rPr lang="en-US" b="1" dirty="0"/>
              <a:t>‘Which Spending Drives Profit? – A Budget Optimization Analysis.’</a:t>
            </a:r>
            <a:endParaRPr lang="en-US" dirty="0"/>
          </a:p>
          <a:p>
            <a:endParaRPr lang="en-US" b="1" dirty="0"/>
          </a:p>
          <a:p>
            <a:r>
              <a:rPr lang="en-US" dirty="0"/>
              <a:t>We are focusing on one key business question, </a:t>
            </a:r>
            <a:r>
              <a:rPr lang="en-US" i="1" dirty="0"/>
              <a:t>Where should a company invest its money to maximize profit?</a:t>
            </a:r>
            <a:endParaRPr lang="en-US" dirty="0"/>
          </a:p>
          <a:p>
            <a:r>
              <a:rPr lang="en-US" dirty="0"/>
              <a:t>Throughout this presentation, we will walk you through the business problem, the dataset, our analytical approach, and finally, our recommendations based on the results.</a:t>
            </a:r>
            <a:endParaRPr lang="en-US" dirty="0">
              <a:ea typeface="Calibri"/>
              <a:cs typeface="Calibri"/>
            </a:endParaRPr>
          </a:p>
          <a:p>
            <a:r>
              <a:rPr lang="en-US" dirty="0"/>
              <a:t>Let’s get started.</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1</a:t>
            </a:fld>
            <a:endParaRPr lang="en-US"/>
          </a:p>
        </p:txBody>
      </p:sp>
    </p:spTree>
    <p:extLst>
      <p:ext uri="{BB962C8B-B14F-4D97-AF65-F5344CB8AC3E}">
        <p14:creationId xmlns:p14="http://schemas.microsoft.com/office/powerpoint/2010/main" val="3334043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a:solidFill>
                <a:srgbClr val="000000"/>
              </a:solidFill>
              <a:ea typeface="Calibri"/>
              <a:cs typeface="Calibri"/>
            </a:endParaRPr>
          </a:p>
          <a:p>
            <a:pPr marL="171450" indent="-171450">
              <a:buFont typeface="Arial"/>
              <a:buChar char="•"/>
            </a:pPr>
            <a:r>
              <a:rPr lang="en-US"/>
              <a:t>Companies typically spend across three main areas namely </a:t>
            </a:r>
            <a:r>
              <a:rPr lang="en-US" b="1"/>
              <a:t>Research and Development, Marketing, and Administration</a:t>
            </a:r>
            <a:r>
              <a:rPr lang="en-US"/>
              <a:t>. But not all spending contributes equally to profit.</a:t>
            </a:r>
            <a:endParaRPr lang="en-US">
              <a:solidFill>
                <a:srgbClr val="444444"/>
              </a:solidFill>
              <a:ea typeface="Calibri" panose="020F0502020204030204"/>
              <a:cs typeface="Calibri" panose="020F0502020204030204"/>
            </a:endParaRPr>
          </a:p>
          <a:p>
            <a:pPr marL="171450" indent="-171450">
              <a:buFont typeface="Arial"/>
              <a:buChar char="•"/>
            </a:pPr>
            <a:r>
              <a:rPr lang="en-US"/>
              <a:t>Many organizations still lack clarity on a critical question, </a:t>
            </a:r>
            <a:r>
              <a:rPr lang="en-US" b="1"/>
              <a:t>which of these investments actually drives higher profit?</a:t>
            </a:r>
            <a:endParaRPr lang="en-US">
              <a:ea typeface="Calibri" panose="020F0502020204030204"/>
              <a:cs typeface="Calibri" panose="020F0502020204030204"/>
            </a:endParaRPr>
          </a:p>
          <a:p>
            <a:pPr marL="171450" indent="-171450">
              <a:buFont typeface="Arial"/>
              <a:buChar char="•"/>
            </a:pPr>
            <a:r>
              <a:rPr lang="en-US"/>
              <a:t>Without this understanding, companies often rely on assumptions or past practices when allocating their budgets.</a:t>
            </a:r>
            <a:endParaRPr lang="en-US">
              <a:ea typeface="Calibri" panose="020F0502020204030204"/>
              <a:cs typeface="Calibri" panose="020F0502020204030204"/>
            </a:endParaRPr>
          </a:p>
          <a:p>
            <a:pPr marL="171450" indent="-171450">
              <a:buFont typeface="Arial"/>
              <a:buChar char="•"/>
            </a:pPr>
            <a:r>
              <a:rPr lang="en-US"/>
              <a:t>This uncertainty leads to </a:t>
            </a:r>
            <a:r>
              <a:rPr lang="en-US" b="1"/>
              <a:t>inefficient spending</a:t>
            </a:r>
            <a:r>
              <a:rPr lang="en-US"/>
              <a:t>, where money may be directed into areas that generate low returns, while high-impact areas remain underfunded.</a:t>
            </a:r>
            <a:endParaRPr lang="en-US">
              <a:ea typeface="Calibri"/>
              <a:cs typeface="Calibri"/>
            </a:endParaRPr>
          </a:p>
          <a:p>
            <a:pPr marL="171450" indent="-171450">
              <a:buFont typeface="Arial"/>
              <a:buChar char="•"/>
            </a:pPr>
            <a:r>
              <a:rPr lang="en-US"/>
              <a:t>As a result, businesses miss opportunities to maximize profit and improve performance.</a:t>
            </a:r>
            <a:endParaRPr lang="en-US">
              <a:ea typeface="Calibri"/>
              <a:cs typeface="Calibri"/>
            </a:endParaRPr>
          </a:p>
          <a:p>
            <a:pPr marL="171450" indent="-171450">
              <a:buFont typeface="Arial"/>
              <a:buChar char="•"/>
            </a:pPr>
            <a:endParaRPr lang="en-US"/>
          </a:p>
          <a:p>
            <a:r>
              <a:rPr lang="en-US"/>
              <a:t>Our goal was to use </a:t>
            </a:r>
            <a:r>
              <a:rPr lang="en-US" b="1"/>
              <a:t>data analysis and statistical modeling</a:t>
            </a:r>
            <a:r>
              <a:rPr lang="en-US"/>
              <a:t> to identify: </a:t>
            </a:r>
            <a:endParaRPr lang="en-US">
              <a:solidFill>
                <a:srgbClr val="444444"/>
              </a:solidFill>
              <a:ea typeface="Calibri"/>
              <a:cs typeface="Calibri"/>
            </a:endParaRPr>
          </a:p>
          <a:p>
            <a:pPr marL="171450" indent="-171450">
              <a:buFont typeface="Arial"/>
              <a:buChar char="•"/>
            </a:pPr>
            <a:r>
              <a:rPr lang="en-US"/>
              <a:t>which department has the </a:t>
            </a:r>
            <a:r>
              <a:rPr lang="en-US" i="1"/>
              <a:t>strongest impact on profit</a:t>
            </a:r>
            <a:r>
              <a:rPr lang="en-US"/>
              <a:t> </a:t>
            </a:r>
            <a:endParaRPr lang="en-US">
              <a:solidFill>
                <a:srgbClr val="444444"/>
              </a:solidFill>
              <a:ea typeface="Calibri" panose="020F0502020204030204"/>
              <a:cs typeface="Calibri" panose="020F0502020204030204"/>
            </a:endParaRPr>
          </a:p>
          <a:p>
            <a:pPr marL="171450" indent="-171450">
              <a:buFont typeface="Arial"/>
              <a:buChar char="•"/>
            </a:pPr>
            <a:r>
              <a:rPr lang="en-US"/>
              <a:t>where businesses should prioritize their budget for the best returns.</a:t>
            </a:r>
            <a:endParaRPr lang="en-US">
              <a:ea typeface="Calibri"/>
              <a:cs typeface="Calibri"/>
            </a:endParaRPr>
          </a:p>
          <a:p>
            <a:endParaRPr lang="en-US"/>
          </a:p>
          <a:p>
            <a:r>
              <a:rPr lang="en-US"/>
              <a:t>To turn this challenge into actionable insights, we applied data-driven techniques. Let’s move on to see how we conducted our analysis</a:t>
            </a:r>
            <a:endParaRPr lang="en-US">
              <a:ea typeface="Calibri"/>
              <a:cs typeface="+mn-lt"/>
            </a:endParaRPr>
          </a:p>
        </p:txBody>
      </p:sp>
      <p:sp>
        <p:nvSpPr>
          <p:cNvPr id="4" name="Slide Number Placeholder 3"/>
          <p:cNvSpPr>
            <a:spLocks noGrp="1"/>
          </p:cNvSpPr>
          <p:nvPr>
            <p:ph type="sldNum" sz="quarter" idx="5"/>
          </p:nvPr>
        </p:nvSpPr>
        <p:spPr/>
        <p:txBody>
          <a:bodyPr/>
          <a:lstStyle/>
          <a:p>
            <a:fld id="{A059C68E-E7DA-483E-BF39-08ECAAB67F52}" type="slidenum">
              <a:rPr lang="en-US"/>
              <a:t>2</a:t>
            </a:fld>
            <a:endParaRPr lang="en-US"/>
          </a:p>
        </p:txBody>
      </p:sp>
    </p:spTree>
    <p:extLst>
      <p:ext uri="{BB962C8B-B14F-4D97-AF65-F5344CB8AC3E}">
        <p14:creationId xmlns:p14="http://schemas.microsoft.com/office/powerpoint/2010/main" val="177217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Our objective is </a:t>
            </a:r>
            <a:r>
              <a:rPr lang="en-US"/>
              <a:t>rather than relying on intuition or industry assumptions, our goal is to develop a </a:t>
            </a:r>
            <a:r>
              <a:rPr lang="en-US" b="1"/>
              <a:t>data-driven model</a:t>
            </a:r>
            <a:r>
              <a:rPr lang="en-US"/>
              <a:t> that helps companies make smarter budgeting decisions and allocate resources more effectively.</a:t>
            </a:r>
          </a:p>
          <a:p>
            <a:endParaRPr lang="en-US">
              <a:ea typeface="Calibri"/>
              <a:cs typeface="Calibri"/>
            </a:endParaRPr>
          </a:p>
          <a:p>
            <a:r>
              <a:rPr lang="en-US"/>
              <a:t>To do this, we cleaned and analyzed the data, applied regression and correlation analysis and built a predictive model to estimate profit based on spending patterns.</a:t>
            </a:r>
            <a:endParaRPr lang="en-US">
              <a:ea typeface="Calibri"/>
              <a:cs typeface="Calibri"/>
            </a:endParaRPr>
          </a:p>
          <a:p>
            <a:endParaRPr lang="en-US">
              <a:ea typeface="Calibri"/>
              <a:cs typeface="Calibri"/>
            </a:endParaRPr>
          </a:p>
          <a:p>
            <a:r>
              <a:rPr lang="en-US"/>
              <a:t>Most importantly, we translated our findings into practical business insights, helping companies invest in the areas that deliver the </a:t>
            </a:r>
            <a:r>
              <a:rPr lang="en-US" b="1"/>
              <a:t>highest returns rather than relying on assumptions.</a:t>
            </a:r>
            <a:endParaRPr lang="en-US"/>
          </a:p>
        </p:txBody>
      </p:sp>
      <p:sp>
        <p:nvSpPr>
          <p:cNvPr id="4" name="Slide Number Placeholder 3"/>
          <p:cNvSpPr>
            <a:spLocks noGrp="1"/>
          </p:cNvSpPr>
          <p:nvPr>
            <p:ph type="sldNum" sz="quarter" idx="5"/>
          </p:nvPr>
        </p:nvSpPr>
        <p:spPr/>
        <p:txBody>
          <a:bodyPr/>
          <a:lstStyle/>
          <a:p>
            <a:fld id="{A059C68E-E7DA-483E-BF39-08ECAAB67F52}" type="slidenum">
              <a:rPr lang="en-US"/>
              <a:t>3</a:t>
            </a:fld>
            <a:endParaRPr lang="en-US"/>
          </a:p>
        </p:txBody>
      </p:sp>
    </p:spTree>
    <p:extLst>
      <p:ext uri="{BB962C8B-B14F-4D97-AF65-F5344CB8AC3E}">
        <p14:creationId xmlns:p14="http://schemas.microsoft.com/office/powerpoint/2010/main" val="2796390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ensure reliable and meaningful results, we followed a structures data analysis process.</a:t>
            </a:r>
          </a:p>
          <a:p>
            <a:endParaRPr lang="en-US"/>
          </a:p>
          <a:p>
            <a:pPr marL="171450" indent="-171450">
              <a:buFont typeface="Arial"/>
              <a:buChar char="•"/>
            </a:pPr>
            <a:r>
              <a:rPr lang="en-US"/>
              <a:t>In </a:t>
            </a:r>
            <a:r>
              <a:rPr lang="en-US" b="1"/>
              <a:t>data cleaning</a:t>
            </a:r>
            <a:r>
              <a:rPr lang="en-US"/>
              <a:t>, we handled missing values, corrected inconsistencies and removed duplicate records to ensure the quality and integrity of our dataset.</a:t>
            </a:r>
            <a:endParaRPr lang="en-US">
              <a:ea typeface="Calibri"/>
              <a:cs typeface="Calibri"/>
            </a:endParaRPr>
          </a:p>
          <a:p>
            <a:pPr marL="171450" indent="-171450">
              <a:buFont typeface="Arial"/>
              <a:buChar char="•"/>
            </a:pPr>
            <a:r>
              <a:rPr lang="en-US"/>
              <a:t>Next, we performed </a:t>
            </a:r>
            <a:r>
              <a:rPr lang="en-US" b="1"/>
              <a:t>Exploratory Data Analysis</a:t>
            </a:r>
            <a:r>
              <a:rPr lang="en-US"/>
              <a:t> (EDA), to understand initial patterns and relationships between spending categories and profit allowing us to form early data-driven hypotheses.</a:t>
            </a:r>
            <a:endParaRPr lang="en-US">
              <a:ea typeface="Calibri"/>
              <a:cs typeface="Calibri"/>
            </a:endParaRPr>
          </a:p>
          <a:p>
            <a:pPr marL="171450" indent="-171450">
              <a:buFont typeface="Arial"/>
              <a:buChar char="•"/>
            </a:pPr>
            <a:r>
              <a:rPr lang="en-US"/>
              <a:t>We then applied </a:t>
            </a:r>
            <a:r>
              <a:rPr lang="en-US" b="1"/>
              <a:t>data transformation</a:t>
            </a:r>
            <a:r>
              <a:rPr lang="en-US"/>
              <a:t> techniques, including scaling to standardize spending amounts, encoding categorical variables such as state and engineering additional features to improve model performance.</a:t>
            </a:r>
            <a:endParaRPr lang="en-US">
              <a:ea typeface="Calibri"/>
              <a:cs typeface="Calibri"/>
            </a:endParaRPr>
          </a:p>
          <a:p>
            <a:pPr marL="171450" indent="-171450">
              <a:buFont typeface="Arial"/>
              <a:buChar char="•"/>
            </a:pPr>
            <a:r>
              <a:rPr lang="en-US"/>
              <a:t>Finally, we built a </a:t>
            </a:r>
            <a:r>
              <a:rPr lang="en-US" b="1"/>
              <a:t>OLS Regression model in Python to quantify the impact of each spending category on profit and identify the strongest predictors for business decision-making</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4</a:t>
            </a:fld>
            <a:endParaRPr lang="en-US"/>
          </a:p>
        </p:txBody>
      </p:sp>
    </p:spTree>
    <p:extLst>
      <p:ext uri="{BB962C8B-B14F-4D97-AF65-F5344CB8AC3E}">
        <p14:creationId xmlns:p14="http://schemas.microsoft.com/office/powerpoint/2010/main" val="2792847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started by reviewing the raw dataset to understand its structure and quality.</a:t>
            </a:r>
            <a:endParaRPr lang="en-US">
              <a:ea typeface="Calibri"/>
              <a:cs typeface="Calibri"/>
            </a:endParaRPr>
          </a:p>
          <a:p>
            <a:endParaRPr lang="en-US"/>
          </a:p>
          <a:p>
            <a:pPr marL="171450" indent="-171450">
              <a:buFont typeface="Arial"/>
              <a:buChar char="•"/>
            </a:pPr>
            <a:r>
              <a:rPr lang="en-US"/>
              <a:t>The data was provided as a CSV file containing financial information from approximately </a:t>
            </a:r>
            <a:r>
              <a:rPr lang="en-US" b="1"/>
              <a:t>1,000 companies</a:t>
            </a:r>
            <a:r>
              <a:rPr lang="en-US"/>
              <a:t>.</a:t>
            </a:r>
            <a:endParaRPr lang="en-US">
              <a:ea typeface="Calibri"/>
              <a:cs typeface="Calibri"/>
            </a:endParaRPr>
          </a:p>
          <a:p>
            <a:pPr marL="171450" indent="-171450">
              <a:buFont typeface="Arial"/>
              <a:buChar char="•"/>
            </a:pPr>
            <a:r>
              <a:rPr lang="en-US"/>
              <a:t>We observed that the dataset contained </a:t>
            </a:r>
            <a:r>
              <a:rPr lang="en-US" b="1"/>
              <a:t>1,002 rows and 5 columns</a:t>
            </a:r>
            <a:r>
              <a:rPr lang="en-US"/>
              <a:t> with a mix of numerical values and text-based variables.</a:t>
            </a:r>
            <a:endParaRPr lang="en-US">
              <a:ea typeface="Calibri"/>
              <a:cs typeface="Calibri"/>
            </a:endParaRPr>
          </a:p>
          <a:p>
            <a:pPr marL="171450" indent="-171450">
              <a:buFont typeface="Arial"/>
              <a:buChar char="•"/>
            </a:pPr>
            <a:r>
              <a:rPr lang="en-US"/>
              <a:t>During inspection, we found that </a:t>
            </a:r>
            <a:r>
              <a:rPr lang="en-US" b="1"/>
              <a:t>some values were missing and several state names were inconsistently formatted, such as differences in capitalization and spelling.</a:t>
            </a:r>
            <a:endParaRPr lang="en-US">
              <a:ea typeface="Calibri" panose="020F0502020204030204"/>
              <a:cs typeface="Calibri" panose="020F0502020204030204"/>
            </a:endParaRPr>
          </a:p>
          <a:p>
            <a:pPr marL="171450" indent="-171450">
              <a:buFont typeface="Arial"/>
              <a:buChar char="•"/>
            </a:pPr>
            <a:r>
              <a:rPr lang="en-US"/>
              <a:t>We also identified </a:t>
            </a:r>
            <a:r>
              <a:rPr lang="en-US" b="1"/>
              <a:t>three duplicate records</a:t>
            </a:r>
            <a:r>
              <a:rPr lang="en-US"/>
              <a:t> which required removal to prevent skewing the results.</a:t>
            </a:r>
            <a:endParaRPr lang="en-US">
              <a:ea typeface="Calibri"/>
              <a:cs typeface="Calibri"/>
            </a:endParaRPr>
          </a:p>
          <a:p>
            <a:pPr marL="171450" indent="-171450">
              <a:buFont typeface="Arial"/>
              <a:buChar char="•"/>
            </a:pPr>
            <a:r>
              <a:rPr lang="en-US"/>
              <a:t>In addition, some companies reported </a:t>
            </a:r>
            <a:r>
              <a:rPr lang="en-US" b="1"/>
              <a:t>zero spending</a:t>
            </a:r>
            <a:r>
              <a:rPr lang="en-US"/>
              <a:t> on R&amp;D or Marketing. These may represent either data entry issues or special business cases, so they were reviewed carefully during cleaning.</a:t>
            </a:r>
            <a:endParaRPr lang="en-US">
              <a:ea typeface="Calibri"/>
              <a:cs typeface="Calibri"/>
            </a:endParaRPr>
          </a:p>
          <a:p>
            <a:pPr marL="171450" indent="-171450">
              <a:buFont typeface="Arial"/>
              <a:buChar char="•"/>
            </a:pPr>
            <a:r>
              <a:rPr lang="en-US"/>
              <a:t>An early pattern emerged showing that profit generally increases with R&amp;D investment, while the relationship with Marketing and Administration was less immediately clear.</a:t>
            </a:r>
            <a:endParaRPr lang="en-US">
              <a:ea typeface="Calibri"/>
              <a:cs typeface="Calibri"/>
            </a:endParaRPr>
          </a:p>
          <a:p>
            <a:pPr marL="171450" indent="-171450">
              <a:buFont typeface="Arial"/>
              <a:buChar char="•"/>
            </a:pPr>
            <a:r>
              <a:rPr lang="en-US"/>
              <a:t>These observations guided our data cleaning and modeling strategy for more accurate analysis late</a:t>
            </a:r>
            <a:endParaRPr lang="en-US">
              <a:ea typeface="Calibri"/>
              <a:cs typeface="Calibri"/>
            </a:endParaRPr>
          </a:p>
          <a:p>
            <a:pPr marL="171450" indent="-171450">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5</a:t>
            </a:fld>
            <a:endParaRPr lang="en-US"/>
          </a:p>
        </p:txBody>
      </p:sp>
    </p:spTree>
    <p:extLst>
      <p:ext uri="{BB962C8B-B14F-4D97-AF65-F5344CB8AC3E}">
        <p14:creationId xmlns:p14="http://schemas.microsoft.com/office/powerpoint/2010/main" val="1756344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“Let’s begin with the crucial step of data cleaning, starting with how we handled missing values.
First, in the Profit column, we identified rows with completely blank profit values. For example, one record had all other financial data and a state listed, but the profit field was empty. Since profit is our target variable for regression modelling, these missing entries significantly reduce the dataset’s usability. Therefore, we decided to remove these rows entirely to ensure the integrity of our predictive modelling.</a:t>
            </a:r>
          </a:p>
          <a:p>
            <a:endParaRPr lang="en-GB"/>
          </a:p>
          <a:p>
            <a:r>
              <a:rPr lang="en-GB"/>
              <a:t>Next, we addressed missing values in our spending columns using imputation:
For R&amp;D Spend and Marketing Spend, we filled the empty cells with the mean value of each respective column.
For the Administration column, we used the median value for imputation, as it is less sensitive to outliers.</a:t>
            </a:r>
            <a:endParaRPr lang="en-GB">
              <a:ea typeface="Calibri"/>
              <a:cs typeface="Calibri"/>
            </a:endParaRPr>
          </a:p>
          <a:p>
            <a:endParaRPr lang="en-GB"/>
          </a:p>
          <a:p>
            <a:endParaRPr lang="en-GB"/>
          </a:p>
          <a:p>
            <a:r>
              <a:rPr lang="en-GB"/>
              <a:t>Finally, we checked for Data Type Consistency. All key numeric columns—R&amp;D Spend, Administration, Marketing Spend, and Profit—are correctly formatted as floats. </a:t>
            </a:r>
          </a:p>
          <a:p>
            <a:r>
              <a:rPr lang="en-GB"/>
              <a:t>The Profit column was converted to numeric format, and invalid values were safely handled as missing data. This verification is essential to ensure smooth data processing in our models and to avoid any potential type conversion errors later on.</a:t>
            </a:r>
            <a:endParaRPr lang="en-GB">
              <a:ea typeface="Calibri"/>
              <a:cs typeface="Calibri"/>
            </a:endParaRPr>
          </a:p>
          <a:p>
            <a:endParaRPr lang="en-US"/>
          </a:p>
        </p:txBody>
      </p:sp>
      <p:sp>
        <p:nvSpPr>
          <p:cNvPr id="4" name="Slide Number Placeholder 3"/>
          <p:cNvSpPr>
            <a:spLocks noGrp="1"/>
          </p:cNvSpPr>
          <p:nvPr>
            <p:ph type="sldNum" sz="quarter" idx="5"/>
          </p:nvPr>
        </p:nvSpPr>
        <p:spPr/>
        <p:txBody>
          <a:bodyPr/>
          <a:lstStyle/>
          <a:p>
            <a:fld id="{A059C68E-E7DA-483E-BF39-08ECAAB67F52}" type="slidenum">
              <a:rPr lang="en-GB"/>
              <a:t>6</a:t>
            </a:fld>
            <a:endParaRPr lang="en-GB"/>
          </a:p>
        </p:txBody>
      </p:sp>
    </p:spTree>
    <p:extLst>
      <p:ext uri="{BB962C8B-B14F-4D97-AF65-F5344CB8AC3E}">
        <p14:creationId xmlns:p14="http://schemas.microsoft.com/office/powerpoint/2010/main" val="392684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Moving on to the second phase of cleaning, we tackled inconsistencies and examined unusual data points.
We found Inconsistent Categorical Values in the ‘State’ column. For instance, ‘NEW York’, ‘New York’, and ‘NEW York’ appeared as different entries but refer to the same state. This kind of inconsistency causes duplication during grouping or state-level analysis, which can mislead our insights. The solution was standardization—converting all entries to a consistent format, like ‘New York’.</a:t>
            </a:r>
          </a:p>
          <a:p>
            <a:endParaRPr lang="en-GB"/>
          </a:p>
          <a:p>
            <a:r>
              <a:rPr lang="en-GB"/>
              <a:t>We also noted the presence of Zero Spending in the data.
Some records show $0 in R&amp;D Spend.
Similarly, several rows report $0 in Marketing Spend.
It’s important to highlight that these zeros are not necessarily errors. They could represent legitimate business strategies where a company, in a given period, chose not to invest in R&amp;D or marketing. We have kept these entries in the dataset but will need to consider their potential impact when interpreting our models, as they may represent distinct operational profiles.</a:t>
            </a:r>
            <a:endParaRPr lang="en-GB">
              <a:ea typeface="Calibri"/>
              <a:cs typeface="Calibri"/>
            </a:endParaRPr>
          </a:p>
          <a:p>
            <a:endParaRPr lang="en-GB">
              <a:ea typeface="Calibri"/>
              <a:cs typeface="Calibri"/>
            </a:endParaRPr>
          </a:p>
          <a:p>
            <a:r>
              <a:rPr lang="en-GB"/>
              <a:t>Now that the data is prepared, let’s explore what insights it reveals</a:t>
            </a:r>
            <a:endParaRPr lang="en-GB">
              <a:ea typeface="Calibri"/>
              <a:cs typeface="Calibri"/>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A059C68E-E7DA-483E-BF39-08ECAAB67F52}" type="slidenum">
              <a:rPr lang="en-GB"/>
              <a:t>7</a:t>
            </a:fld>
            <a:endParaRPr lang="en-GB"/>
          </a:p>
        </p:txBody>
      </p:sp>
    </p:spTree>
    <p:extLst>
      <p:ext uri="{BB962C8B-B14F-4D97-AF65-F5344CB8AC3E}">
        <p14:creationId xmlns:p14="http://schemas.microsoft.com/office/powerpoint/2010/main" val="3855454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Distribution Analysis - R&amp;D </a:t>
            </a:r>
            <a:r>
              <a:rPr lang="en-US" err="1"/>
              <a:t>Spend:"The</a:t>
            </a:r>
            <a:r>
              <a:rPr lang="en-US"/>
              <a:t> R&amp;D spending distribution reveals a fascinating bimodal pattern. Companies fall into two distinct camps: those investing around $50,000 and those investing closer to $120,000. This suggests two different business models at play. We also identified 12 outlier companies with exceptionally high R&amp;D budgets, which warrant further investigation."</a:t>
            </a:r>
            <a:endParaRPr lang="en-US">
              <a:ea typeface="Calibri"/>
              <a:cs typeface="Calibri"/>
            </a:endParaRPr>
          </a:p>
          <a:p>
            <a:endParaRPr lang="en-US">
              <a:ea typeface="Calibri"/>
              <a:cs typeface="Calibri"/>
            </a:endParaRPr>
          </a:p>
          <a:p>
            <a:r>
              <a:rPr lang="en-US"/>
              <a:t>Distribution Analysis - Administration </a:t>
            </a:r>
            <a:r>
              <a:rPr lang="en-US" err="1"/>
              <a:t>Costs:Next</a:t>
            </a:r>
            <a:r>
              <a:rPr lang="en-US"/>
              <a:t>, when we look at Administration spending, we see a very different pattern.</a:t>
            </a:r>
            <a:br>
              <a:rPr lang="en-US">
                <a:cs typeface="+mn-lt"/>
              </a:rPr>
            </a:br>
            <a:r>
              <a:rPr lang="en-US"/>
              <a:t> The distribution is near-</a:t>
            </a:r>
            <a:r>
              <a:rPr lang="en-US" err="1"/>
              <a:t>normal,a</a:t>
            </a:r>
            <a:r>
              <a:rPr lang="en-US"/>
              <a:t> bell-shaped curve with values tightly clustered around one hundred twenty-two thousand dollars.</a:t>
            </a:r>
            <a:endParaRPr lang="en-US">
              <a:ea typeface="Calibri"/>
              <a:cs typeface="Calibri"/>
            </a:endParaRPr>
          </a:p>
          <a:p>
            <a:r>
              <a:rPr lang="en-US"/>
              <a:t>Although the overall range stretches from about fifty-one thousand to over three hundred twenty thousand, the majority of companies fall within a narrow band.</a:t>
            </a:r>
            <a:br>
              <a:rPr lang="en-US">
                <a:cs typeface="+mn-lt"/>
              </a:rPr>
            </a:br>
            <a:r>
              <a:rPr lang="en-US"/>
              <a:t> This category shows the lowest variability among all spending types.</a:t>
            </a:r>
            <a:endParaRPr lang="en-US">
              <a:ea typeface="Calibri"/>
              <a:cs typeface="Calibri"/>
            </a:endParaRPr>
          </a:p>
          <a:p>
            <a:r>
              <a:rPr lang="en-US"/>
              <a:t>The business insight here is that administration costs tend to be relatively standardized across companies.</a:t>
            </a:r>
            <a:br>
              <a:rPr lang="en-US" b="1">
                <a:cs typeface="+mn-lt"/>
              </a:rPr>
            </a:br>
            <a:endParaRPr lang="en-US" b="1">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GB"/>
              <a:t>8</a:t>
            </a:fld>
            <a:endParaRPr lang="en-GB"/>
          </a:p>
        </p:txBody>
      </p:sp>
    </p:spTree>
    <p:extLst>
      <p:ext uri="{BB962C8B-B14F-4D97-AF65-F5344CB8AC3E}">
        <p14:creationId xmlns:p14="http://schemas.microsoft.com/office/powerpoint/2010/main" val="1198270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Distribution Analysis - Marketing </a:t>
            </a:r>
            <a:r>
              <a:rPr lang="en-US" err="1"/>
              <a:t>Spend:"Marketing</a:t>
            </a:r>
            <a:r>
              <a:rPr lang="en-US"/>
              <a:t> spend shows the most diversity of all categories, ranging from zero to nearly $472,000. The right-skewed distribution tells us most companies invest moderately, but there's a significant subset pursuing aggressive marketing strategies. This variability makes marketing a prime candidate for optimization analysis."</a:t>
            </a:r>
          </a:p>
          <a:p>
            <a:endParaRPr lang="en-US">
              <a:ea typeface="Calibri"/>
              <a:cs typeface="Calibri"/>
            </a:endParaRPr>
          </a:p>
          <a:p>
            <a:r>
              <a:rPr lang="en-US"/>
              <a:t>Distribution Analysis – </a:t>
            </a:r>
            <a:r>
              <a:rPr lang="en-US" err="1"/>
              <a:t>Profit:"The</a:t>
            </a:r>
            <a:r>
              <a:rPr lang="en-US"/>
              <a:t> profit distribution reveals significant disparities in company performance. While the average profit is around $120,000, we see some companies earning just $15,000 while others exceed $476,000. This massive range over 30 times difference underscores how critical effective budget allocation is to business success."</a:t>
            </a:r>
          </a:p>
        </p:txBody>
      </p:sp>
      <p:sp>
        <p:nvSpPr>
          <p:cNvPr id="4" name="Slide Number Placeholder 3"/>
          <p:cNvSpPr>
            <a:spLocks noGrp="1"/>
          </p:cNvSpPr>
          <p:nvPr>
            <p:ph type="sldNum" sz="quarter" idx="5"/>
          </p:nvPr>
        </p:nvSpPr>
        <p:spPr/>
        <p:txBody>
          <a:bodyPr/>
          <a:lstStyle/>
          <a:p>
            <a:fld id="{A059C68E-E7DA-483E-BF39-08ECAAB67F52}" type="slidenum">
              <a:rPr lang="en-GB"/>
              <a:t>9</a:t>
            </a:fld>
            <a:endParaRPr lang="en-GB"/>
          </a:p>
        </p:txBody>
      </p:sp>
    </p:spTree>
    <p:extLst>
      <p:ext uri="{BB962C8B-B14F-4D97-AF65-F5344CB8AC3E}">
        <p14:creationId xmlns:p14="http://schemas.microsoft.com/office/powerpoint/2010/main" val="1182112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comparative boxplot gives us a bird's-eye view of all our variables. Notice how Administration has the tightest distribution while Marketing shows the most extreme variations. The 12 outliers we detected are particularly interesting as these are companies that spend and earn at exceptional levels, representing potential case studies for best practices.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GB"/>
              <a:t>10</a:t>
            </a:fld>
            <a:endParaRPr lang="en-GB"/>
          </a:p>
        </p:txBody>
      </p:sp>
    </p:spTree>
    <p:extLst>
      <p:ext uri="{BB962C8B-B14F-4D97-AF65-F5344CB8AC3E}">
        <p14:creationId xmlns:p14="http://schemas.microsoft.com/office/powerpoint/2010/main" val="291782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you can see from the scatter plot, there is a </a:t>
            </a:r>
            <a:r>
              <a:rPr lang="en-US" b="1"/>
              <a:t>clear upward trend</a:t>
            </a:r>
            <a:r>
              <a:rPr lang="en-US"/>
              <a:t>, which shows that companies investing more in R&amp;D generally achieve higher profits. This upward slope indicates that R&amp;D is a major driver of company performance.</a:t>
            </a:r>
          </a:p>
          <a:p>
            <a:r>
              <a:rPr lang="en-US"/>
              <a:t>The correlation coefficient between </a:t>
            </a:r>
            <a:r>
              <a:rPr lang="en-US" b="1"/>
              <a:t>Profit and R&amp;D Spend is 0.94</a:t>
            </a:r>
            <a:r>
              <a:rPr lang="en-US"/>
              <a:t>, which is extremely strong and positive. This means increases in R&amp;D spending are very closely associated with increases in profit.</a:t>
            </a:r>
            <a:endParaRPr lang="en-US">
              <a:ea typeface="Calibri"/>
              <a:cs typeface="Calibri"/>
            </a:endParaRPr>
          </a:p>
          <a:p>
            <a:r>
              <a:rPr lang="en-US"/>
              <a:t>Among all spending factors, </a:t>
            </a:r>
            <a:r>
              <a:rPr lang="en-US" b="1"/>
              <a:t>R&amp;D investment shows the most consistent relationship with profitability</a:t>
            </a:r>
            <a:r>
              <a:rPr lang="en-US"/>
              <a:t>. This suggests that innovation and product development activities significantly contribute to business growth.</a:t>
            </a:r>
            <a:endParaRPr lang="en-US">
              <a:ea typeface="Calibri"/>
              <a:cs typeface="Calibri"/>
            </a:endParaRPr>
          </a:p>
          <a:p>
            <a:r>
              <a:rPr lang="en-US"/>
              <a:t>Overall, the key takeaway is that </a:t>
            </a:r>
            <a:r>
              <a:rPr lang="en-US" b="1"/>
              <a:t>every dollar spent on R&amp;D tends to generate substantial returns</a:t>
            </a:r>
            <a:r>
              <a:rPr lang="en-US"/>
              <a:t>, and companies that invest heavily in R&amp;D typically experience higher profit outcomes.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t>11</a:t>
            </a:fld>
            <a:endParaRPr lang="en-US"/>
          </a:p>
        </p:txBody>
      </p:sp>
    </p:spTree>
    <p:extLst>
      <p:ext uri="{BB962C8B-B14F-4D97-AF65-F5344CB8AC3E}">
        <p14:creationId xmlns:p14="http://schemas.microsoft.com/office/powerpoint/2010/main" val="38375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the scatter plot on the right, we can see there is a </a:t>
            </a:r>
            <a:r>
              <a:rPr lang="en-US" b="1"/>
              <a:t>positive upward trend</a:t>
            </a:r>
            <a:r>
              <a:rPr lang="en-US"/>
              <a:t>, but the data points are more scattered compared to R&amp;D. This tells us that while marketing does influence profit, its impact tends to vary more from company to company.</a:t>
            </a:r>
          </a:p>
          <a:p>
            <a:r>
              <a:rPr lang="en-US"/>
              <a:t>The correlation between </a:t>
            </a:r>
            <a:r>
              <a:rPr lang="en-US" b="1"/>
              <a:t>Profit and Marketing Spend is 0.92</a:t>
            </a:r>
            <a:r>
              <a:rPr lang="en-US"/>
              <a:t>, which is still very strong and positive. This means higher marketing investment is generally associated with higher profitability.</a:t>
            </a:r>
            <a:endParaRPr lang="en-GB"/>
          </a:p>
          <a:p>
            <a:r>
              <a:rPr lang="en-US"/>
              <a:t>However, the greater spread in the points indicates that </a:t>
            </a:r>
            <a:r>
              <a:rPr lang="en-US" b="1"/>
              <a:t>marketing effectiveness depends heavily on execution</a:t>
            </a:r>
            <a:r>
              <a:rPr lang="en-US"/>
              <a:t>. In other words, marketing can be a powerful driver, but it doesn’t guarantee consistent results the way R&amp;D spending does.</a:t>
            </a:r>
            <a:endParaRPr lang="en-GB"/>
          </a:p>
          <a:p>
            <a:r>
              <a:rPr lang="en-US"/>
              <a:t>Overall, this makes marketing the </a:t>
            </a:r>
            <a:r>
              <a:rPr lang="en-US" b="1"/>
              <a:t>second-most important profit driver</a:t>
            </a:r>
            <a:r>
              <a:rPr lang="en-US"/>
              <a:t> after R&amp;D. It clearly contributes to profit growth but with more variability in outcomes.</a:t>
            </a:r>
            <a:endParaRPr lang="en-GB"/>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GB"/>
              <a:t>12</a:t>
            </a:fld>
            <a:endParaRPr lang="en-GB"/>
          </a:p>
        </p:txBody>
      </p:sp>
    </p:spTree>
    <p:extLst>
      <p:ext uri="{BB962C8B-B14F-4D97-AF65-F5344CB8AC3E}">
        <p14:creationId xmlns:p14="http://schemas.microsoft.com/office/powerpoint/2010/main" val="3817253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are looking at the relationship between </a:t>
            </a:r>
            <a:r>
              <a:rPr lang="en-US" i="1"/>
              <a:t>Administration spending</a:t>
            </a:r>
            <a:r>
              <a:rPr lang="en-US"/>
              <a:t> and </a:t>
            </a:r>
            <a:r>
              <a:rPr lang="en-US" i="1"/>
              <a:t>Profit</a:t>
            </a:r>
            <a:r>
              <a:rPr lang="en-US"/>
              <a:t>.</a:t>
            </a:r>
          </a:p>
          <a:p>
            <a:r>
              <a:rPr lang="en-US"/>
              <a:t>From the scatter plot on the right, we can see that there is </a:t>
            </a:r>
            <a:r>
              <a:rPr lang="en-US" b="1"/>
              <a:t>no clear or strong visual pattern</a:t>
            </a:r>
            <a:r>
              <a:rPr lang="en-US"/>
              <a:t>. The points are fairly scattered, indicating that administrative expenses do not strongly explain variations in profit.</a:t>
            </a:r>
            <a:endParaRPr lang="en-GB"/>
          </a:p>
          <a:p>
            <a:r>
              <a:rPr lang="en-US"/>
              <a:t>When we calculate the correlation value, we get </a:t>
            </a:r>
            <a:r>
              <a:rPr lang="en-US" b="1"/>
              <a:t>0.74</a:t>
            </a:r>
            <a:r>
              <a:rPr lang="en-US"/>
              <a:t>, which is technically a </a:t>
            </a:r>
            <a:r>
              <a:rPr lang="en-US" i="1"/>
              <a:t>positive</a:t>
            </a:r>
            <a:r>
              <a:rPr lang="en-US"/>
              <a:t> correlation. However, based on the distribution of the points, this correlation appears to be influenced by a few higher-profit observations rather than a consistent trend across the data.</a:t>
            </a:r>
            <a:endParaRPr lang="en-GB"/>
          </a:p>
          <a:p>
            <a:r>
              <a:rPr lang="en-US"/>
              <a:t>This suggests that </a:t>
            </a:r>
            <a:r>
              <a:rPr lang="en-US" b="1"/>
              <a:t>increasing administrative spending does not directly lead to higher profit</a:t>
            </a:r>
            <a:r>
              <a:rPr lang="en-US"/>
              <a:t>. Instead, it’s more likely that companies that are already performing well tend to have higher administrative budgets not that admin spending causes the profit.</a:t>
            </a:r>
            <a:endParaRPr lang="en-GB"/>
          </a:p>
          <a:p>
            <a:r>
              <a:rPr lang="en-US"/>
              <a:t>The key takeaway here is:</a:t>
            </a:r>
            <a:endParaRPr lang="en-GB"/>
          </a:p>
          <a:p>
            <a:pPr marL="285750" indent="-285750">
              <a:buFont typeface="Arial"/>
              <a:buChar char="•"/>
            </a:pPr>
            <a:r>
              <a:rPr lang="en-US"/>
              <a:t>Administration cost should be </a:t>
            </a:r>
            <a:r>
              <a:rPr lang="en-US" b="1"/>
              <a:t>optimized</a:t>
            </a:r>
            <a:r>
              <a:rPr lang="en-US"/>
              <a:t>, not expanded as a strategy to increase profit.</a:t>
            </a:r>
            <a:endParaRPr lang="en-GB"/>
          </a:p>
          <a:p>
            <a:pPr marL="285750" indent="-285750">
              <a:buFont typeface="Arial"/>
              <a:buChar char="•"/>
            </a:pPr>
            <a:r>
              <a:rPr lang="en-US"/>
              <a:t>Operational efficiency is important, but compared to other growth-focused expenses, administration has a </a:t>
            </a:r>
            <a:r>
              <a:rPr lang="en-US" b="1"/>
              <a:t>weaker impact</a:t>
            </a:r>
            <a:r>
              <a:rPr lang="en-US"/>
              <a:t> on profitability.</a:t>
            </a:r>
            <a:endParaRPr lang="en-GB"/>
          </a:p>
          <a:p>
            <a:r>
              <a:rPr lang="en-US"/>
              <a:t>Overall, this plot tells us that administrative spending plays more of a supporting role rather than being a major profit driver.</a:t>
            </a:r>
            <a:endParaRPr lang="en-GB"/>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GB"/>
              <a:t>13</a:t>
            </a:fld>
            <a:endParaRPr lang="en-GB"/>
          </a:p>
        </p:txBody>
      </p:sp>
    </p:spTree>
    <p:extLst>
      <p:ext uri="{BB962C8B-B14F-4D97-AF65-F5344CB8AC3E}">
        <p14:creationId xmlns:p14="http://schemas.microsoft.com/office/powerpoint/2010/main" val="4204435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look at the correlation heatmap, which helps us understand how different types of spending relate to Profit.</a:t>
            </a:r>
          </a:p>
          <a:p>
            <a:r>
              <a:rPr lang="en-US"/>
              <a:t>Starting with </a:t>
            </a:r>
            <a:r>
              <a:rPr lang="en-US" b="1"/>
              <a:t>R&amp;D Spend</a:t>
            </a:r>
            <a:r>
              <a:rPr lang="en-US"/>
              <a:t>, we can see it has the </a:t>
            </a:r>
            <a:r>
              <a:rPr lang="en-US" b="1"/>
              <a:t>strongest positive correlation</a:t>
            </a:r>
            <a:r>
              <a:rPr lang="en-US"/>
              <a:t> with Profit. This makes R&amp;D the clearest and most consistent driver of profitability. Companies that invest more in research and development tend to achieve significantly higher profits.</a:t>
            </a:r>
            <a:endParaRPr lang="en-US">
              <a:ea typeface="Calibri"/>
              <a:cs typeface="Calibri"/>
            </a:endParaRPr>
          </a:p>
          <a:p>
            <a:r>
              <a:rPr lang="en-US"/>
              <a:t>Next, </a:t>
            </a:r>
            <a:r>
              <a:rPr lang="en-US" b="1"/>
              <a:t>Marketing Spend</a:t>
            </a:r>
            <a:r>
              <a:rPr lang="en-US"/>
              <a:t> shows a </a:t>
            </a:r>
            <a:r>
              <a:rPr lang="en-US" b="1"/>
              <a:t>moderate to strong correlation</a:t>
            </a:r>
            <a:r>
              <a:rPr lang="en-US"/>
              <a:t> with Profit. This means marketing definitely contributes to profitability, but it is not as consistently impactful as R&amp;D. The relationship is positive, but the effect varies more across companies.</a:t>
            </a:r>
            <a:endParaRPr lang="en-US">
              <a:ea typeface="Calibri"/>
              <a:cs typeface="Calibri"/>
            </a:endParaRPr>
          </a:p>
          <a:p>
            <a:r>
              <a:rPr lang="en-US"/>
              <a:t>Finally, </a:t>
            </a:r>
            <a:r>
              <a:rPr lang="en-US" b="1"/>
              <a:t>Administration Spend</a:t>
            </a:r>
            <a:r>
              <a:rPr lang="en-US"/>
              <a:t> has the </a:t>
            </a:r>
            <a:r>
              <a:rPr lang="en-US" b="1"/>
              <a:t>weakest correlation</a:t>
            </a:r>
            <a:r>
              <a:rPr lang="en-US"/>
              <a:t> with Profit compared to the other two spending categories. This tells us that administrative expenses have little direct impact on profitability. Increasing admin budgets doesn’t necessarily translate into higher profit.</a:t>
            </a:r>
            <a:endParaRPr lang="en-US">
              <a:ea typeface="Calibri"/>
              <a:cs typeface="Calibri"/>
            </a:endParaRPr>
          </a:p>
          <a:p>
            <a:r>
              <a:rPr lang="en-US"/>
              <a:t>Overall, this heatmap helps us clearly identify spending priorities .R&amp;D creates the strongest profit impact, marketing helps but less reliably, and administration should be optimized rather than expanded.</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GB"/>
              <a:t>14</a:t>
            </a:fld>
            <a:endParaRPr lang="en-GB"/>
          </a:p>
        </p:txBody>
      </p:sp>
    </p:spTree>
    <p:extLst>
      <p:ext uri="{BB962C8B-B14F-4D97-AF65-F5344CB8AC3E}">
        <p14:creationId xmlns:p14="http://schemas.microsoft.com/office/powerpoint/2010/main" val="4087967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let’s look at the state-wise average profit comparison.</a:t>
            </a:r>
          </a:p>
          <a:p>
            <a:r>
              <a:rPr lang="en-US"/>
              <a:t>From the bar chart, we can see that the differences in average profit across the three states are actually quite small. Florida has the highest average profit at around </a:t>
            </a:r>
            <a:r>
              <a:rPr lang="en-US" b="1"/>
              <a:t>$120,000</a:t>
            </a:r>
            <a:r>
              <a:rPr lang="en-US"/>
              <a:t>, followed by California at about </a:t>
            </a:r>
            <a:r>
              <a:rPr lang="en-US" b="1"/>
              <a:t>$118,500</a:t>
            </a:r>
            <a:r>
              <a:rPr lang="en-US"/>
              <a:t>, and New York at roughly </a:t>
            </a:r>
            <a:r>
              <a:rPr lang="en-US" b="1"/>
              <a:t>$118,000</a:t>
            </a:r>
            <a:r>
              <a:rPr lang="en-US"/>
              <a:t>, which is the lowest.</a:t>
            </a:r>
            <a:endParaRPr lang="en-GB"/>
          </a:p>
          <a:p>
            <a:r>
              <a:rPr lang="en-US"/>
              <a:t>Even though Florida technically ranks highest, the gap between the states is extremely small — roughly a </a:t>
            </a:r>
            <a:r>
              <a:rPr lang="en-US" b="1"/>
              <a:t>2% difference</a:t>
            </a:r>
            <a:r>
              <a:rPr lang="en-US"/>
              <a:t>. This tells us that </a:t>
            </a:r>
            <a:r>
              <a:rPr lang="en-US" b="1"/>
              <a:t>location is not a major driver of profit</a:t>
            </a:r>
            <a:r>
              <a:rPr lang="en-US"/>
              <a:t> in this dataset.</a:t>
            </a:r>
            <a:endParaRPr lang="en-GB"/>
          </a:p>
          <a:p>
            <a:r>
              <a:rPr lang="en-US"/>
              <a:t>Instead, what this suggests is that business performance is influenced far more by internal factors like spending strategy and business model rather than geography. It also implies that market conditions across these three states are relatively uniform, meaning no state provides a strong advantage or disadvantage in terms of profit.</a:t>
            </a:r>
            <a:endParaRPr lang="en-GB"/>
          </a:p>
          <a:p>
            <a:r>
              <a:rPr lang="en-US"/>
              <a:t>So overall, the key takeaway is that state location has very minimal impact on profitability for these companies.</a:t>
            </a:r>
            <a:endParaRPr lang="en-GB"/>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GB"/>
              <a:t>15</a:t>
            </a:fld>
            <a:endParaRPr lang="en-GB"/>
          </a:p>
        </p:txBody>
      </p:sp>
    </p:spTree>
    <p:extLst>
      <p:ext uri="{BB962C8B-B14F-4D97-AF65-F5344CB8AC3E}">
        <p14:creationId xmlns:p14="http://schemas.microsoft.com/office/powerpoint/2010/main" val="1977833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Bef>
                <a:spcPts val="2500"/>
              </a:spcBef>
            </a:pPr>
            <a:r>
              <a:rPr lang="en-US" b="1">
                <a:cs typeface="+mn-lt"/>
              </a:rPr>
              <a:t>Purpose:</a:t>
            </a:r>
            <a:br>
              <a:rPr lang="en-US" b="1">
                <a:cs typeface="+mn-lt"/>
              </a:rPr>
            </a:br>
            <a:r>
              <a:rPr lang="en-US" b="1">
                <a:solidFill>
                  <a:srgbClr val="0F0F0F"/>
                </a:solidFill>
              </a:rPr>
              <a:t>Standardizing Column Names</a:t>
            </a:r>
            <a:endParaRPr lang="en-US">
              <a:solidFill>
                <a:srgbClr val="0F0F0F"/>
              </a:solidFill>
            </a:endParaRPr>
          </a:p>
          <a:p>
            <a:pPr lvl="1">
              <a:lnSpc>
                <a:spcPct val="120000"/>
              </a:lnSpc>
              <a:spcBef>
                <a:spcPts val="500"/>
              </a:spcBef>
            </a:pPr>
            <a:r>
              <a:rPr lang="en-US">
                <a:solidFill>
                  <a:srgbClr val="0F0F0F"/>
                </a:solidFill>
              </a:rPr>
              <a:t>Normalize column names by replacing spaces and </a:t>
            </a:r>
            <a:r>
              <a:rPr lang="en-US" err="1">
                <a:solidFill>
                  <a:srgbClr val="0F0F0F"/>
                </a:solidFill>
              </a:rPr>
              <a:t>specialcharacters</a:t>
            </a:r>
            <a:r>
              <a:rPr lang="en-US">
                <a:solidFill>
                  <a:srgbClr val="0F0F0F"/>
                </a:solidFill>
              </a:rPr>
              <a:t> with underscores for consistency.</a:t>
            </a:r>
            <a:endParaRPr lang="en-US">
              <a:solidFill>
                <a:srgbClr val="0F0F0F"/>
              </a:solidFill>
              <a:ea typeface="Calibri"/>
              <a:cs typeface="Calibri"/>
            </a:endParaRPr>
          </a:p>
          <a:p>
            <a:pPr>
              <a:lnSpc>
                <a:spcPct val="120000"/>
              </a:lnSpc>
              <a:spcBef>
                <a:spcPts val="2500"/>
              </a:spcBef>
            </a:pPr>
            <a:r>
              <a:rPr lang="en-US" b="1">
                <a:solidFill>
                  <a:srgbClr val="0F0F0F"/>
                </a:solidFill>
              </a:rPr>
              <a:t>Correct Data Types</a:t>
            </a:r>
            <a:endParaRPr lang="en-US">
              <a:solidFill>
                <a:srgbClr val="0F0F0F"/>
              </a:solidFill>
            </a:endParaRPr>
          </a:p>
          <a:p>
            <a:pPr lvl="1">
              <a:lnSpc>
                <a:spcPct val="120000"/>
              </a:lnSpc>
              <a:spcBef>
                <a:spcPts val="500"/>
              </a:spcBef>
            </a:pPr>
            <a:r>
              <a:rPr lang="en-US">
                <a:solidFill>
                  <a:srgbClr val="0F0F0F"/>
                </a:solidFill>
              </a:rPr>
              <a:t>Convert numeric columns to correct data types to </a:t>
            </a:r>
            <a:r>
              <a:rPr lang="en-US" err="1">
                <a:solidFill>
                  <a:srgbClr val="0F0F0F"/>
                </a:solidFill>
              </a:rPr>
              <a:t>avoiderrors</a:t>
            </a:r>
            <a:r>
              <a:rPr lang="en-US">
                <a:solidFill>
                  <a:srgbClr val="0F0F0F"/>
                </a:solidFill>
              </a:rPr>
              <a:t> during calculations and modeling.</a:t>
            </a:r>
            <a:endParaRPr lang="en-US">
              <a:solidFill>
                <a:srgbClr val="0F0F0F"/>
              </a:solidFill>
              <a:ea typeface="Calibri"/>
              <a:cs typeface="Calibri"/>
            </a:endParaRPr>
          </a:p>
          <a:p>
            <a:pPr>
              <a:lnSpc>
                <a:spcPct val="120000"/>
              </a:lnSpc>
              <a:spcBef>
                <a:spcPts val="2500"/>
              </a:spcBef>
            </a:pPr>
            <a:r>
              <a:rPr lang="en-US" b="1">
                <a:solidFill>
                  <a:srgbClr val="0F0F0F"/>
                </a:solidFill>
              </a:rPr>
              <a:t>Benefits of Normalization</a:t>
            </a:r>
            <a:endParaRPr lang="en-US">
              <a:solidFill>
                <a:srgbClr val="0F0F0F"/>
              </a:solidFill>
            </a:endParaRPr>
          </a:p>
          <a:p>
            <a:pPr lvl="1">
              <a:lnSpc>
                <a:spcPct val="120000"/>
              </a:lnSpc>
              <a:spcBef>
                <a:spcPts val="500"/>
              </a:spcBef>
            </a:pPr>
            <a:r>
              <a:rPr lang="en-US">
                <a:solidFill>
                  <a:srgbClr val="0F0F0F"/>
                </a:solidFill>
              </a:rPr>
              <a:t>Normalization ensures reproducibility, reduces risk, </a:t>
            </a:r>
            <a:r>
              <a:rPr lang="en-US" err="1">
                <a:solidFill>
                  <a:srgbClr val="0F0F0F"/>
                </a:solidFill>
              </a:rPr>
              <a:t>andsimplifies</a:t>
            </a:r>
            <a:r>
              <a:rPr lang="en-US">
                <a:solidFill>
                  <a:srgbClr val="0F0F0F"/>
                </a:solidFill>
              </a:rPr>
              <a:t> collaboration across teams.</a:t>
            </a:r>
            <a:endParaRPr lang="en-US">
              <a:solidFill>
                <a:srgbClr val="0F0F0F"/>
              </a:solidFill>
              <a:ea typeface="Calibri"/>
              <a:cs typeface="Calibri"/>
            </a:endParaRPr>
          </a:p>
          <a:p>
            <a:pPr lvl="1">
              <a:lnSpc>
                <a:spcPct val="120000"/>
              </a:lnSpc>
              <a:spcBef>
                <a:spcPts val="500"/>
              </a:spcBef>
            </a:pPr>
            <a:endParaRPr lang="en-US">
              <a:solidFill>
                <a:srgbClr val="0F0F0F"/>
              </a:solidFill>
              <a:ea typeface="Calibri"/>
              <a:cs typeface="Calibri"/>
            </a:endParaRPr>
          </a:p>
          <a:p>
            <a:pPr>
              <a:lnSpc>
                <a:spcPct val="110000"/>
              </a:lnSpc>
              <a:spcBef>
                <a:spcPts val="2500"/>
              </a:spcBef>
            </a:pPr>
            <a:r>
              <a:rPr lang="en-US" b="1">
                <a:solidFill>
                  <a:srgbClr val="0F0F0F"/>
                </a:solidFill>
                <a:ea typeface="Calibri"/>
                <a:cs typeface="Calibri"/>
              </a:rPr>
              <a:t>Business Impact:</a:t>
            </a:r>
          </a:p>
          <a:p>
            <a:pPr>
              <a:lnSpc>
                <a:spcPct val="110000"/>
              </a:lnSpc>
              <a:spcBef>
                <a:spcPts val="2500"/>
              </a:spcBef>
            </a:pPr>
            <a:r>
              <a:rPr lang="en-US" b="1">
                <a:solidFill>
                  <a:srgbClr val="0F0F0F"/>
                </a:solidFill>
              </a:rPr>
              <a:t>Data Normalization Benefits</a:t>
            </a:r>
            <a:endParaRPr lang="en-US">
              <a:solidFill>
                <a:srgbClr val="0F0F0F"/>
              </a:solidFill>
              <a:ea typeface="Calibri"/>
              <a:cs typeface="Calibri"/>
            </a:endParaRPr>
          </a:p>
          <a:p>
            <a:pPr lvl="1">
              <a:lnSpc>
                <a:spcPct val="110000"/>
              </a:lnSpc>
              <a:spcBef>
                <a:spcPts val="500"/>
              </a:spcBef>
            </a:pPr>
            <a:r>
              <a:rPr lang="en-US">
                <a:solidFill>
                  <a:srgbClr val="0F0F0F"/>
                </a:solidFill>
              </a:rPr>
              <a:t>Normalization stabilizes data schemas and prevents costly errors, ensuring </a:t>
            </a:r>
            <a:r>
              <a:rPr lang="en-US" err="1">
                <a:solidFill>
                  <a:srgbClr val="0F0F0F"/>
                </a:solidFill>
              </a:rPr>
              <a:t>reliableanalytics</a:t>
            </a:r>
            <a:r>
              <a:rPr lang="en-US">
                <a:solidFill>
                  <a:srgbClr val="0F0F0F"/>
                </a:solidFill>
              </a:rPr>
              <a:t> outcomes.</a:t>
            </a:r>
            <a:endParaRPr lang="en-US">
              <a:solidFill>
                <a:srgbClr val="0F0F0F"/>
              </a:solidFill>
              <a:ea typeface="Calibri"/>
              <a:cs typeface="Calibri"/>
            </a:endParaRPr>
          </a:p>
          <a:p>
            <a:pPr>
              <a:lnSpc>
                <a:spcPct val="110000"/>
              </a:lnSpc>
              <a:spcBef>
                <a:spcPts val="2500"/>
              </a:spcBef>
            </a:pPr>
            <a:r>
              <a:rPr lang="en-US" b="1">
                <a:solidFill>
                  <a:srgbClr val="0F0F0F"/>
                </a:solidFill>
              </a:rPr>
              <a:t>Business Value of Normalization</a:t>
            </a:r>
            <a:endParaRPr lang="en-US">
              <a:solidFill>
                <a:srgbClr val="0F0F0F"/>
              </a:solidFill>
            </a:endParaRPr>
          </a:p>
          <a:p>
            <a:pPr lvl="1">
              <a:lnSpc>
                <a:spcPct val="110000"/>
              </a:lnSpc>
              <a:spcBef>
                <a:spcPts val="500"/>
              </a:spcBef>
            </a:pPr>
            <a:r>
              <a:rPr lang="en-US">
                <a:solidFill>
                  <a:srgbClr val="0F0F0F"/>
                </a:solidFill>
              </a:rPr>
              <a:t>It enables faster analytics turnaround and increases stakeholder confidence in </a:t>
            </a:r>
            <a:r>
              <a:rPr lang="en-US" err="1">
                <a:solidFill>
                  <a:srgbClr val="0F0F0F"/>
                </a:solidFill>
              </a:rPr>
              <a:t>dataintegrity</a:t>
            </a:r>
            <a:r>
              <a:rPr lang="en-US">
                <a:solidFill>
                  <a:srgbClr val="0F0F0F"/>
                </a:solidFill>
              </a:rPr>
              <a:t>.</a:t>
            </a:r>
            <a:endParaRPr lang="en-US">
              <a:solidFill>
                <a:srgbClr val="0F0F0F"/>
              </a:solidFill>
              <a:ea typeface="Calibri"/>
              <a:cs typeface="Calibri"/>
            </a:endParaRPr>
          </a:p>
          <a:p>
            <a:pPr>
              <a:lnSpc>
                <a:spcPct val="110000"/>
              </a:lnSpc>
              <a:spcBef>
                <a:spcPts val="2500"/>
              </a:spcBef>
            </a:pPr>
            <a:r>
              <a:rPr lang="en-US" b="1">
                <a:solidFill>
                  <a:srgbClr val="0F0F0F"/>
                </a:solidFill>
              </a:rPr>
              <a:t>Feature Engineering Next Steps</a:t>
            </a:r>
            <a:endParaRPr lang="en-US">
              <a:solidFill>
                <a:srgbClr val="0F0F0F"/>
              </a:solidFill>
            </a:endParaRPr>
          </a:p>
          <a:p>
            <a:pPr lvl="1">
              <a:lnSpc>
                <a:spcPct val="110000"/>
              </a:lnSpc>
              <a:spcBef>
                <a:spcPts val="500"/>
              </a:spcBef>
            </a:pPr>
            <a:r>
              <a:rPr lang="en-US">
                <a:solidFill>
                  <a:srgbClr val="0F0F0F"/>
                </a:solidFill>
              </a:rPr>
              <a:t>Derived metrics like </a:t>
            </a:r>
            <a:r>
              <a:rPr lang="en-US" err="1">
                <a:solidFill>
                  <a:srgbClr val="0F0F0F"/>
                </a:solidFill>
              </a:rPr>
              <a:t>Total_Spend</a:t>
            </a:r>
            <a:r>
              <a:rPr lang="en-US">
                <a:solidFill>
                  <a:srgbClr val="0F0F0F"/>
                </a:solidFill>
              </a:rPr>
              <a:t> help address multicollinearity and improve </a:t>
            </a:r>
            <a:r>
              <a:rPr lang="en-US" err="1">
                <a:solidFill>
                  <a:srgbClr val="0F0F0F"/>
                </a:solidFill>
              </a:rPr>
              <a:t>modelperformance</a:t>
            </a:r>
            <a:r>
              <a:rPr lang="en-US">
                <a:solidFill>
                  <a:srgbClr val="0F0F0F"/>
                </a:solidFill>
              </a:rPr>
              <a:t>.</a:t>
            </a:r>
            <a:endParaRPr lang="en-US">
              <a:solidFill>
                <a:srgbClr val="0F0F0F"/>
              </a:solidFill>
              <a:ea typeface="Calibri"/>
              <a:cs typeface="Calibri"/>
            </a:endParaRPr>
          </a:p>
          <a:p>
            <a:pPr>
              <a:lnSpc>
                <a:spcPct val="110000"/>
              </a:lnSpc>
              <a:spcBef>
                <a:spcPts val="2500"/>
              </a:spcBef>
            </a:pPr>
            <a:r>
              <a:rPr lang="en-US" b="1">
                <a:solidFill>
                  <a:srgbClr val="0F0F0F"/>
                </a:solidFill>
              </a:rPr>
              <a:t>Strategic Decision-Making</a:t>
            </a:r>
            <a:endParaRPr lang="en-US">
              <a:solidFill>
                <a:srgbClr val="0F0F0F"/>
              </a:solidFill>
            </a:endParaRPr>
          </a:p>
          <a:p>
            <a:pPr lvl="1">
              <a:lnSpc>
                <a:spcPct val="110000"/>
              </a:lnSpc>
              <a:spcBef>
                <a:spcPts val="500"/>
              </a:spcBef>
            </a:pPr>
            <a:r>
              <a:rPr lang="en-US">
                <a:solidFill>
                  <a:srgbClr val="0F0F0F"/>
                </a:solidFill>
              </a:rPr>
              <a:t>Traceable transformations aligned with business goals enable accurate forecasting </a:t>
            </a:r>
            <a:r>
              <a:rPr lang="en-US" err="1">
                <a:solidFill>
                  <a:srgbClr val="0F0F0F"/>
                </a:solidFill>
              </a:rPr>
              <a:t>anddecisions</a:t>
            </a:r>
            <a:r>
              <a:rPr lang="en-US">
                <a:solidFill>
                  <a:srgbClr val="0F0F0F"/>
                </a:solidFill>
              </a:rPr>
              <a:t>.</a:t>
            </a:r>
            <a:endParaRPr lang="en-US">
              <a:solidFill>
                <a:srgbClr val="0F0F0F"/>
              </a:solidFill>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17</a:t>
            </a:fld>
            <a:endParaRPr lang="en-US"/>
          </a:p>
        </p:txBody>
      </p:sp>
    </p:spTree>
    <p:extLst>
      <p:ext uri="{BB962C8B-B14F-4D97-AF65-F5344CB8AC3E}">
        <p14:creationId xmlns:p14="http://schemas.microsoft.com/office/powerpoint/2010/main" val="2129227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One-hot encoding</a:t>
            </a:r>
            <a:r>
              <a:rPr lang="en-US"/>
              <a:t> transforms categories — such as different states — into numerical values so that machine learning algorithms can process the information correctly</a:t>
            </a:r>
          </a:p>
        </p:txBody>
      </p:sp>
      <p:sp>
        <p:nvSpPr>
          <p:cNvPr id="4" name="Slide Number Placeholder 3"/>
          <p:cNvSpPr>
            <a:spLocks noGrp="1"/>
          </p:cNvSpPr>
          <p:nvPr>
            <p:ph type="sldNum" sz="quarter" idx="5"/>
          </p:nvPr>
        </p:nvSpPr>
        <p:spPr/>
        <p:txBody>
          <a:bodyPr/>
          <a:lstStyle/>
          <a:p>
            <a:fld id="{A059C68E-E7DA-483E-BF39-08ECAAB67F52}" type="slidenum">
              <a:rPr lang="en-US"/>
              <a:t>18</a:t>
            </a:fld>
            <a:endParaRPr lang="en-US"/>
          </a:p>
        </p:txBody>
      </p:sp>
    </p:spTree>
    <p:extLst>
      <p:ext uri="{BB962C8B-B14F-4D97-AF65-F5344CB8AC3E}">
        <p14:creationId xmlns:p14="http://schemas.microsoft.com/office/powerpoint/2010/main" val="3929904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VIF?</a:t>
            </a:r>
          </a:p>
          <a:p>
            <a:r>
              <a:rPr lang="en-US" b="1"/>
              <a:t>Variance Inflation Factor (VIF)</a:t>
            </a:r>
            <a:r>
              <a:rPr lang="en-US"/>
              <a:t> measures how much a predictor’s variance is inflated due to correlation with other predictors:</a:t>
            </a:r>
            <a:endParaRPr lang="en-US">
              <a:ea typeface="Calibri"/>
              <a:cs typeface="Calibri"/>
            </a:endParaRPr>
          </a:p>
          <a:p>
            <a:r>
              <a:rPr lang="en-US" err="1"/>
              <a:t>VIFj</a:t>
            </a:r>
            <a:r>
              <a:rPr lang="en-US"/>
              <a:t>=11−Rj2\text{VIF}_j = \frac{1}{1 - R^2_j}</a:t>
            </a:r>
            <a:r>
              <a:rPr lang="en-US" err="1"/>
              <a:t>VIFj</a:t>
            </a:r>
            <a:r>
              <a:rPr lang="en-US"/>
              <a:t> =1−Rj2 1 </a:t>
            </a:r>
            <a:endParaRPr lang="en-US">
              <a:ea typeface="Calibri"/>
              <a:cs typeface="Calibri"/>
            </a:endParaRPr>
          </a:p>
          <a:p>
            <a:r>
              <a:rPr lang="en-US"/>
              <a:t>Where Rj2R^2_jRj2  is the coefficient of determination when regressing predictor </a:t>
            </a:r>
            <a:r>
              <a:rPr lang="en-US" err="1"/>
              <a:t>XjX_jXj</a:t>
            </a:r>
            <a:r>
              <a:rPr lang="en-US"/>
              <a:t>  on all other predictors.</a:t>
            </a:r>
            <a:endParaRPr lang="en-US">
              <a:ea typeface="Calibri"/>
              <a:cs typeface="Calibri"/>
            </a:endParaRPr>
          </a:p>
          <a:p>
            <a:pPr marL="171450" indent="-171450">
              <a:buFont typeface="Arial"/>
              <a:buChar char="•"/>
            </a:pPr>
            <a:r>
              <a:rPr lang="en-US" b="1"/>
              <a:t>VIF ≈ 1</a:t>
            </a:r>
            <a:r>
              <a:rPr lang="en-US"/>
              <a:t> → No multicollinearity (safe)</a:t>
            </a:r>
            <a:endParaRPr lang="en-US">
              <a:ea typeface="Calibri"/>
              <a:cs typeface="Calibri"/>
            </a:endParaRPr>
          </a:p>
          <a:p>
            <a:pPr marL="171450" indent="-171450">
              <a:buFont typeface="Arial"/>
              <a:buChar char="•"/>
            </a:pPr>
            <a:r>
              <a:rPr lang="en-US" b="1"/>
              <a:t>VIF ≥ 5</a:t>
            </a:r>
            <a:r>
              <a:rPr lang="en-US"/>
              <a:t> → High concern</a:t>
            </a:r>
            <a:endParaRPr lang="en-US">
              <a:ea typeface="Calibri"/>
              <a:cs typeface="Calibri"/>
            </a:endParaRPr>
          </a:p>
          <a:p>
            <a:pPr marL="171450" indent="-171450">
              <a:buFont typeface="Arial"/>
              <a:buChar char="•"/>
            </a:pPr>
            <a:r>
              <a:rPr lang="en-US" b="1"/>
              <a:t>VIF ≥ 10</a:t>
            </a:r>
            <a:r>
              <a:rPr lang="en-US"/>
              <a:t> → Severe problem</a:t>
            </a:r>
            <a:endParaRPr lang="en-US">
              <a:ea typeface="Calibri"/>
              <a:cs typeface="Calibri"/>
            </a:endParaRPr>
          </a:p>
          <a:p>
            <a:r>
              <a:rPr lang="en-US"/>
              <a:t>Our transformation reduced VIF from </a:t>
            </a:r>
            <a:r>
              <a:rPr lang="en-US" b="1"/>
              <a:t>25+ and 22+</a:t>
            </a:r>
            <a:r>
              <a:rPr lang="en-US"/>
              <a:t> (R&amp;D and Marketing) to </a:t>
            </a:r>
            <a:r>
              <a:rPr lang="en-US" b="1"/>
              <a:t>~1.42</a:t>
            </a:r>
            <a:r>
              <a:rPr lang="en-US"/>
              <a:t> for </a:t>
            </a:r>
            <a:r>
              <a:rPr lang="en-US" err="1"/>
              <a:t>Total_Spend</a:t>
            </a:r>
            <a:r>
              <a:rPr lang="en-US"/>
              <a:t> and Administration — a dramatic improvement in model stability.</a:t>
            </a:r>
            <a:endParaRPr lang="en-US">
              <a:solidFill>
                <a:srgbClr val="444444"/>
              </a:solidFill>
            </a:endParaRPr>
          </a:p>
          <a:p>
            <a:br>
              <a:rPr lang="en-US">
                <a:ea typeface="Calibri"/>
                <a:cs typeface="+mn-lt"/>
              </a:rPr>
            </a:br>
            <a:r>
              <a:rPr lang="en-US" b="1"/>
              <a:t>Why It Matters</a:t>
            </a:r>
            <a:endParaRPr lang="en-US">
              <a:solidFill>
                <a:srgbClr val="000000"/>
              </a:solidFill>
              <a:ea typeface="Calibri"/>
              <a:cs typeface="Calibri"/>
            </a:endParaRPr>
          </a:p>
          <a:p>
            <a:r>
              <a:rPr lang="en-US"/>
              <a:t>Multicollinearity inflates variance in model coefficients, leading to:</a:t>
            </a:r>
            <a:endParaRPr lang="en-US">
              <a:ea typeface="Calibri"/>
              <a:cs typeface="Calibri"/>
            </a:endParaRPr>
          </a:p>
          <a:p>
            <a:pPr marL="171450" indent="-171450">
              <a:buFont typeface="Arial"/>
              <a:buChar char="•"/>
            </a:pPr>
            <a:r>
              <a:rPr lang="en-US"/>
              <a:t>Unpredictable forecasts</a:t>
            </a:r>
            <a:endParaRPr lang="en-US">
              <a:ea typeface="Calibri"/>
              <a:cs typeface="Calibri"/>
            </a:endParaRPr>
          </a:p>
          <a:p>
            <a:pPr marL="171450" indent="-171450">
              <a:buFont typeface="Arial"/>
              <a:buChar char="•"/>
            </a:pPr>
            <a:r>
              <a:rPr lang="en-US"/>
              <a:t>Poor interpretability</a:t>
            </a:r>
            <a:endParaRPr lang="en-US">
              <a:ea typeface="Calibri"/>
              <a:cs typeface="Calibri"/>
            </a:endParaRPr>
          </a:p>
          <a:p>
            <a:pPr marL="171450" indent="-171450">
              <a:buFont typeface="Arial"/>
              <a:buChar char="•"/>
            </a:pPr>
            <a:r>
              <a:rPr lang="en-US"/>
              <a:t>Risky business decisions</a:t>
            </a:r>
            <a:endParaRPr lang="en-US">
              <a:ea typeface="Calibri"/>
              <a:cs typeface="Calibri"/>
            </a:endParaRPr>
          </a:p>
          <a:p>
            <a:r>
              <a:rPr lang="en-US"/>
              <a:t>By reducing multicollinearity, models become </a:t>
            </a:r>
            <a:r>
              <a:rPr lang="en-US" b="1"/>
              <a:t>stable, interpretable, and trustworthy</a:t>
            </a:r>
            <a:r>
              <a:rPr lang="en-US"/>
              <a:t>, enabling confident budget planning and forecasting.</a:t>
            </a:r>
            <a:endParaRPr lang="en-US">
              <a:ea typeface="Calibri"/>
              <a:cs typeface="Calibri"/>
            </a:endParaRPr>
          </a:p>
          <a:p>
            <a:endParaRPr lang="en-US">
              <a:ea typeface="Calibri"/>
              <a:cs typeface="+mn-lt"/>
            </a:endParaRPr>
          </a:p>
          <a:p>
            <a:r>
              <a:rPr lang="en-US" b="1"/>
              <a:t>Why We Did This</a:t>
            </a:r>
            <a:endParaRPr lang="en-US"/>
          </a:p>
          <a:p>
            <a:r>
              <a:rPr lang="en-US"/>
              <a:t>Our original dataset had </a:t>
            </a:r>
            <a:r>
              <a:rPr lang="en-US" b="1"/>
              <a:t>R&amp;D Spend</a:t>
            </a:r>
            <a:r>
              <a:rPr lang="en-US"/>
              <a:t> and </a:t>
            </a:r>
            <a:r>
              <a:rPr lang="en-US" b="1"/>
              <a:t>Marketing Spend</a:t>
            </a:r>
            <a:r>
              <a:rPr lang="en-US"/>
              <a:t> highly correlated. This caused </a:t>
            </a:r>
            <a:r>
              <a:rPr lang="en-US" b="1"/>
              <a:t>multicollinearity</a:t>
            </a:r>
            <a:r>
              <a:rPr lang="en-US"/>
              <a:t>, making models unstable and coefficients unreliable. To fix this, we engineered </a:t>
            </a:r>
            <a:r>
              <a:rPr lang="en-US" b="1" err="1"/>
              <a:t>Total_Spend</a:t>
            </a:r>
            <a:r>
              <a:rPr lang="en-US"/>
              <a:t> (combining R&amp;D + Marketing) and kept </a:t>
            </a:r>
            <a:r>
              <a:rPr lang="en-US" b="1"/>
              <a:t>Administration</a:t>
            </a:r>
            <a:r>
              <a:rPr lang="en-US"/>
              <a:t> as a separate feature.</a:t>
            </a:r>
            <a:endParaRPr lang="en-US">
              <a:ea typeface="Calibri"/>
              <a:cs typeface="Calibri"/>
            </a:endParaRPr>
          </a:p>
          <a:p>
            <a:endParaRPr lang="en-US">
              <a:ea typeface="Calibri"/>
              <a:cs typeface="+mn-lt"/>
            </a:endParaRPr>
          </a:p>
          <a:p>
            <a:r>
              <a:rPr lang="en-US"/>
              <a:t>What We Did</a:t>
            </a:r>
            <a:endParaRPr lang="en-US">
              <a:ea typeface="Calibri"/>
              <a:cs typeface="Calibri"/>
            </a:endParaRPr>
          </a:p>
          <a:p>
            <a:pPr marL="171450" indent="-171450">
              <a:buFont typeface="Arial"/>
              <a:buChar char="•"/>
            </a:pPr>
            <a:r>
              <a:rPr lang="en-US" b="1"/>
              <a:t>Normalized columns</a:t>
            </a:r>
            <a:r>
              <a:rPr lang="en-US"/>
              <a:t> for consistency.</a:t>
            </a:r>
            <a:endParaRPr lang="en-US">
              <a:ea typeface="Calibri"/>
              <a:cs typeface="Calibri"/>
            </a:endParaRPr>
          </a:p>
          <a:p>
            <a:pPr marL="171450" indent="-171450">
              <a:buFont typeface="Arial"/>
              <a:buChar char="•"/>
            </a:pPr>
            <a:r>
              <a:rPr lang="en-US" b="1"/>
              <a:t>Engineered </a:t>
            </a:r>
            <a:r>
              <a:rPr lang="en-US" b="1" err="1"/>
              <a:t>Total_Spend</a:t>
            </a:r>
            <a:r>
              <a:rPr lang="en-US"/>
              <a:t> by combining </a:t>
            </a:r>
            <a:r>
              <a:rPr lang="en-US" b="1" err="1"/>
              <a:t>R_D_Spend</a:t>
            </a:r>
            <a:r>
              <a:rPr lang="en-US" b="1"/>
              <a:t> + </a:t>
            </a:r>
            <a:r>
              <a:rPr lang="en-US" b="1" err="1"/>
              <a:t>Marketing_Spend</a:t>
            </a:r>
            <a:r>
              <a:rPr lang="en-US"/>
              <a:t> to reduce redundancy.</a:t>
            </a:r>
            <a:endParaRPr lang="en-US">
              <a:ea typeface="Calibri"/>
              <a:cs typeface="Calibri"/>
            </a:endParaRPr>
          </a:p>
          <a:p>
            <a:pPr marL="171450" indent="-171450">
              <a:buFont typeface="Arial"/>
              <a:buChar char="•"/>
            </a:pPr>
            <a:r>
              <a:rPr lang="en-US" b="1"/>
              <a:t>One-hot encoded states</a:t>
            </a:r>
            <a:r>
              <a:rPr lang="en-US"/>
              <a:t> (California, Florida, New York) as 0/1 flags for regional effects.</a:t>
            </a:r>
            <a:endParaRPr lang="en-US">
              <a:ea typeface="Calibri"/>
              <a:cs typeface="Calibri"/>
            </a:endParaRPr>
          </a:p>
          <a:p>
            <a:pPr marL="171450" indent="-171450">
              <a:buFont typeface="Arial"/>
              <a:buChar char="•"/>
            </a:pPr>
            <a:endParaRPr lang="en-US">
              <a:ea typeface="Calibri"/>
              <a:cs typeface="Calibri"/>
            </a:endParaRPr>
          </a:p>
          <a:p>
            <a:r>
              <a:rPr lang="en-US" b="1"/>
              <a:t>ORIGINAL VS REDUCED SCHEMA VIF ANALYSIS</a:t>
            </a:r>
            <a:endParaRPr lang="en-US"/>
          </a:p>
          <a:p>
            <a:r>
              <a:rPr lang="en-US" b="1"/>
              <a:t>Understanding VIF</a:t>
            </a:r>
            <a:br>
              <a:rPr lang="en-US" b="1">
                <a:cs typeface="+mn-lt"/>
              </a:rPr>
            </a:br>
            <a:r>
              <a:rPr lang="en-US" b="1"/>
              <a:t> Variance Inflation Factor detects multicollinearity affecting stability of regression coefficient estimates.</a:t>
            </a:r>
            <a:endParaRPr lang="en-US"/>
          </a:p>
          <a:p>
            <a:r>
              <a:rPr lang="en-US" b="1"/>
              <a:t>Original Schema Issues</a:t>
            </a:r>
            <a:br>
              <a:rPr lang="en-US" b="1">
                <a:cs typeface="+mn-lt"/>
              </a:rPr>
            </a:br>
            <a:r>
              <a:rPr lang="en-US" b="1"/>
              <a:t> Original schema showed high VIF for R&amp;D and Marketing, indicating severe multicollinearity problems.</a:t>
            </a:r>
            <a:endParaRPr lang="en-US"/>
          </a:p>
          <a:p>
            <a:r>
              <a:rPr lang="en-US" b="1"/>
              <a:t>Reduced Schema Benefits</a:t>
            </a:r>
            <a:br>
              <a:rPr lang="en-US" b="1">
                <a:cs typeface="+mn-lt"/>
              </a:rPr>
            </a:br>
            <a:r>
              <a:rPr lang="en-US" b="1"/>
              <a:t> Consolidating features into </a:t>
            </a:r>
            <a:r>
              <a:rPr lang="en-US" b="1" err="1"/>
              <a:t>Total_Spend</a:t>
            </a:r>
            <a:r>
              <a:rPr lang="en-US" b="1"/>
              <a:t> lowered VIF values, improving model stability and reliability.</a:t>
            </a:r>
            <a:endParaRPr lang="en-US"/>
          </a:p>
          <a:p>
            <a:r>
              <a:rPr lang="en-US" b="1"/>
              <a:t>Future Modeling Impact</a:t>
            </a:r>
            <a:br>
              <a:rPr lang="en-US" b="1">
                <a:cs typeface="+mn-lt"/>
              </a:rPr>
            </a:br>
            <a:r>
              <a:rPr lang="en-US" b="1"/>
              <a:t> Reduced multicollinearity leads to better forecasting, interpretability, and compliance in models.</a:t>
            </a:r>
            <a:endParaRPr lang="en-US"/>
          </a:p>
          <a:p>
            <a:endParaRPr lang="en-US">
              <a:ea typeface="Calibri"/>
              <a:cs typeface="Calibri"/>
            </a:endParaRPr>
          </a:p>
          <a:p>
            <a:endParaRPr lang="en-US">
              <a:ea typeface="Calibri"/>
              <a:cs typeface="+mn-lt"/>
            </a:endParaRPr>
          </a:p>
          <a:p>
            <a:endParaRPr lang="en-US">
              <a:ea typeface="Calibri"/>
              <a:cs typeface="+mn-lt"/>
            </a:endParaRPr>
          </a:p>
          <a:p>
            <a:endParaRPr lang="en-US">
              <a:ea typeface="Calibri"/>
              <a:cs typeface="+mn-lt"/>
            </a:endParaRPr>
          </a:p>
          <a:p>
            <a:endParaRPr lang="en-US">
              <a:ea typeface="Calibri"/>
              <a:cs typeface="+mn-lt"/>
            </a:endParaRPr>
          </a:p>
        </p:txBody>
      </p:sp>
      <p:sp>
        <p:nvSpPr>
          <p:cNvPr id="4" name="Slide Number Placeholder 3"/>
          <p:cNvSpPr>
            <a:spLocks noGrp="1"/>
          </p:cNvSpPr>
          <p:nvPr>
            <p:ph type="sldNum" sz="quarter" idx="5"/>
          </p:nvPr>
        </p:nvSpPr>
        <p:spPr/>
        <p:txBody>
          <a:bodyPr/>
          <a:lstStyle/>
          <a:p>
            <a:fld id="{A059C68E-E7DA-483E-BF39-08ECAAB67F52}" type="slidenum">
              <a:rPr lang="en-US"/>
              <a:t>19</a:t>
            </a:fld>
            <a:endParaRPr lang="en-US"/>
          </a:p>
        </p:txBody>
      </p:sp>
    </p:spTree>
    <p:extLst>
      <p:ext uri="{BB962C8B-B14F-4D97-AF65-F5344CB8AC3E}">
        <p14:creationId xmlns:p14="http://schemas.microsoft.com/office/powerpoint/2010/main" val="4124472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mn-lt"/>
              </a:rPr>
              <a:t>What We Did (Scaling)</a:t>
            </a:r>
            <a:endParaRPr lang="en-US"/>
          </a:p>
          <a:p>
            <a:pPr marL="285750" indent="-285750">
              <a:buFont typeface="Arial"/>
              <a:buChar char="•"/>
            </a:pPr>
            <a:r>
              <a:rPr lang="en-US">
                <a:ea typeface="Calibri"/>
                <a:cs typeface="+mn-lt"/>
              </a:rPr>
              <a:t>Applied </a:t>
            </a:r>
            <a:r>
              <a:rPr lang="en-US" b="1">
                <a:ea typeface="Calibri"/>
                <a:cs typeface="+mn-lt"/>
              </a:rPr>
              <a:t>z-score standardization</a:t>
            </a:r>
            <a:r>
              <a:rPr lang="en-US">
                <a:ea typeface="Calibri"/>
                <a:cs typeface="+mn-lt"/>
              </a:rPr>
              <a:t> to </a:t>
            </a:r>
            <a:r>
              <a:rPr lang="en-US" err="1">
                <a:ea typeface="Calibri"/>
                <a:cs typeface="+mn-lt"/>
              </a:rPr>
              <a:t>Total_Spend</a:t>
            </a:r>
            <a:r>
              <a:rPr lang="en-US">
                <a:ea typeface="Calibri"/>
                <a:cs typeface="+mn-lt"/>
              </a:rPr>
              <a:t> and Administration.</a:t>
            </a:r>
          </a:p>
          <a:p>
            <a:pPr marL="285750" indent="-285750">
              <a:buFont typeface="Arial"/>
              <a:buChar char="•"/>
            </a:pPr>
            <a:r>
              <a:rPr lang="en-US">
                <a:ea typeface="Calibri"/>
                <a:cs typeface="+mn-lt"/>
              </a:rPr>
              <a:t>Formula: </a:t>
            </a:r>
          </a:p>
          <a:p>
            <a:r>
              <a:rPr lang="en-US">
                <a:ea typeface="Calibri"/>
                <a:cs typeface="+mn-lt"/>
              </a:rPr>
              <a:t>z=x−</a:t>
            </a:r>
            <a:r>
              <a:rPr lang="en-US" err="1">
                <a:ea typeface="Calibri"/>
                <a:cs typeface="+mn-lt"/>
              </a:rPr>
              <a:t>meanstdz</a:t>
            </a:r>
            <a:r>
              <a:rPr lang="en-US">
                <a:ea typeface="Calibri"/>
                <a:cs typeface="+mn-lt"/>
              </a:rPr>
              <a:t> = \frac{x - \text{mean}}{\text{std}}z=</a:t>
            </a:r>
            <a:r>
              <a:rPr lang="en-US" err="1">
                <a:ea typeface="Calibri"/>
                <a:cs typeface="+mn-lt"/>
              </a:rPr>
              <a:t>stdx</a:t>
            </a:r>
            <a:r>
              <a:rPr lang="en-US">
                <a:ea typeface="Calibri"/>
                <a:cs typeface="+mn-lt"/>
              </a:rPr>
              <a:t>−mean </a:t>
            </a:r>
          </a:p>
          <a:p>
            <a:pPr marL="285750" indent="-285750">
              <a:buFont typeface="Arial"/>
              <a:buChar char="•"/>
            </a:pPr>
            <a:r>
              <a:rPr lang="en-US">
                <a:ea typeface="Calibri"/>
                <a:cs typeface="+mn-lt"/>
              </a:rPr>
              <a:t>This ensures both features have </a:t>
            </a:r>
            <a:r>
              <a:rPr lang="en-US" b="1">
                <a:ea typeface="Calibri"/>
                <a:cs typeface="+mn-lt"/>
              </a:rPr>
              <a:t>mean = 0</a:t>
            </a:r>
            <a:r>
              <a:rPr lang="en-US">
                <a:ea typeface="Calibri"/>
                <a:cs typeface="+mn-lt"/>
              </a:rPr>
              <a:t> and </a:t>
            </a:r>
            <a:r>
              <a:rPr lang="en-US" b="1">
                <a:ea typeface="Calibri"/>
                <a:cs typeface="+mn-lt"/>
              </a:rPr>
              <a:t>standard deviation = 1</a:t>
            </a:r>
            <a:r>
              <a:rPr lang="en-US">
                <a:ea typeface="Calibri"/>
                <a:cs typeface="+mn-lt"/>
              </a:rPr>
              <a:t>.</a:t>
            </a:r>
          </a:p>
          <a:p>
            <a:pPr marL="285750" indent="-285750">
              <a:buFont typeface="Arial"/>
              <a:buChar char="•"/>
            </a:pPr>
            <a:endParaRPr lang="en-US">
              <a:ea typeface="Calibri"/>
              <a:cs typeface="+mn-lt"/>
            </a:endParaRPr>
          </a:p>
          <a:p>
            <a:r>
              <a:rPr lang="en-US">
                <a:ea typeface="Calibri"/>
                <a:cs typeface="+mn-lt"/>
              </a:rPr>
              <a:t>Business Impact</a:t>
            </a:r>
          </a:p>
          <a:p>
            <a:pPr marL="171450" indent="-171450">
              <a:buFont typeface="Arial"/>
              <a:buChar char="•"/>
            </a:pPr>
            <a:r>
              <a:rPr lang="en-US">
                <a:ea typeface="Calibri"/>
                <a:cs typeface="+mn-lt"/>
              </a:rPr>
              <a:t>Scaled features allow </a:t>
            </a:r>
            <a:r>
              <a:rPr lang="en-US" b="1">
                <a:ea typeface="Calibri"/>
                <a:cs typeface="+mn-lt"/>
              </a:rPr>
              <a:t>fair comparison</a:t>
            </a:r>
            <a:r>
              <a:rPr lang="en-US">
                <a:ea typeface="Calibri"/>
                <a:cs typeface="+mn-lt"/>
              </a:rPr>
              <a:t> of predictors.</a:t>
            </a:r>
          </a:p>
          <a:p>
            <a:pPr marL="171450" indent="-171450">
              <a:buFont typeface="Arial"/>
              <a:buChar char="•"/>
            </a:pPr>
            <a:r>
              <a:rPr lang="en-US">
                <a:ea typeface="Calibri"/>
                <a:cs typeface="+mn-lt"/>
              </a:rPr>
              <a:t>Enables advanced models like </a:t>
            </a:r>
            <a:r>
              <a:rPr lang="en-US" b="1">
                <a:ea typeface="Calibri"/>
                <a:cs typeface="+mn-lt"/>
              </a:rPr>
              <a:t>Ridge/Lasso</a:t>
            </a:r>
            <a:r>
              <a:rPr lang="en-US">
                <a:ea typeface="Calibri"/>
                <a:cs typeface="+mn-lt"/>
              </a:rPr>
              <a:t> and </a:t>
            </a:r>
            <a:r>
              <a:rPr lang="en-US" b="1">
                <a:ea typeface="Calibri"/>
                <a:cs typeface="+mn-lt"/>
              </a:rPr>
              <a:t>tree-based ensembles</a:t>
            </a:r>
            <a:r>
              <a:rPr lang="en-US">
                <a:ea typeface="Calibri"/>
                <a:cs typeface="+mn-lt"/>
              </a:rPr>
              <a:t> without bias toward high-magnitude features.</a:t>
            </a:r>
          </a:p>
          <a:p>
            <a:pPr marL="171450" indent="-171450">
              <a:buFont typeface="Arial"/>
              <a:buChar char="•"/>
            </a:pPr>
            <a:r>
              <a:rPr lang="en-US">
                <a:ea typeface="Calibri"/>
                <a:cs typeface="+mn-lt"/>
              </a:rPr>
              <a:t>Supports </a:t>
            </a:r>
            <a:r>
              <a:rPr lang="en-US" b="1">
                <a:ea typeface="Calibri"/>
                <a:cs typeface="+mn-lt"/>
              </a:rPr>
              <a:t>consistent performance</a:t>
            </a:r>
            <a:r>
              <a:rPr lang="en-US">
                <a:ea typeface="Calibri"/>
                <a:cs typeface="+mn-lt"/>
              </a:rPr>
              <a:t> across different datasets and time periods.</a:t>
            </a:r>
          </a:p>
          <a:p>
            <a:br>
              <a:rPr lang="en-US">
                <a:ea typeface="Calibri"/>
                <a:cs typeface="+mn-lt"/>
              </a:rPr>
            </a:br>
            <a:r>
              <a:rPr lang="en-US">
                <a:ea typeface="Calibri"/>
                <a:cs typeface="+mn-lt"/>
              </a:rPr>
              <a:t>Why It Matters</a:t>
            </a:r>
          </a:p>
          <a:p>
            <a:pPr marL="171450" indent="-171450">
              <a:buFont typeface="Arial"/>
              <a:buChar char="•"/>
            </a:pPr>
            <a:r>
              <a:rPr lang="en-US">
                <a:ea typeface="Calibri"/>
                <a:cs typeface="+mn-lt"/>
              </a:rPr>
              <a:t>Many algorithms (e.g., </a:t>
            </a:r>
            <a:r>
              <a:rPr lang="en-US" b="1">
                <a:ea typeface="Calibri"/>
                <a:cs typeface="+mn-lt"/>
              </a:rPr>
              <a:t>linear regression</a:t>
            </a:r>
            <a:r>
              <a:rPr lang="en-US">
                <a:ea typeface="Calibri"/>
                <a:cs typeface="+mn-lt"/>
              </a:rPr>
              <a:t>, </a:t>
            </a:r>
            <a:r>
              <a:rPr lang="en-US" b="1">
                <a:ea typeface="Calibri"/>
                <a:cs typeface="+mn-lt"/>
              </a:rPr>
              <a:t>regularization methods</a:t>
            </a:r>
            <a:r>
              <a:rPr lang="en-US">
                <a:ea typeface="Calibri"/>
                <a:cs typeface="+mn-lt"/>
              </a:rPr>
              <a:t>, </a:t>
            </a:r>
            <a:r>
              <a:rPr lang="en-US" b="1">
                <a:ea typeface="Calibri"/>
                <a:cs typeface="+mn-lt"/>
              </a:rPr>
              <a:t>distance-based models</a:t>
            </a:r>
            <a:r>
              <a:rPr lang="en-US">
                <a:ea typeface="Calibri"/>
                <a:cs typeface="+mn-lt"/>
              </a:rPr>
              <a:t>) are </a:t>
            </a:r>
            <a:r>
              <a:rPr lang="en-US" b="1">
                <a:ea typeface="Calibri"/>
                <a:cs typeface="+mn-lt"/>
              </a:rPr>
              <a:t>scale-sensitive</a:t>
            </a:r>
            <a:r>
              <a:rPr lang="en-US">
                <a:ea typeface="Calibri"/>
                <a:cs typeface="+mn-lt"/>
              </a:rPr>
              <a:t>.</a:t>
            </a:r>
          </a:p>
          <a:p>
            <a:pPr marL="171450" indent="-171450">
              <a:buFont typeface="Arial"/>
              <a:buChar char="•"/>
            </a:pPr>
            <a:r>
              <a:rPr lang="en-US">
                <a:ea typeface="Calibri"/>
                <a:cs typeface="+mn-lt"/>
              </a:rPr>
              <a:t>Without scaling, features with large numeric ranges dominate the model, skewing coefficients and predictions.</a:t>
            </a:r>
          </a:p>
          <a:p>
            <a:pPr marL="171450" indent="-171450">
              <a:buFont typeface="Arial"/>
              <a:buChar char="•"/>
            </a:pPr>
            <a:r>
              <a:rPr lang="en-US">
                <a:ea typeface="Calibri"/>
                <a:cs typeface="+mn-lt"/>
              </a:rPr>
              <a:t>Standardization improves: </a:t>
            </a:r>
          </a:p>
          <a:p>
            <a:pPr marL="628650" lvl="1" indent="-171450">
              <a:buFont typeface="Arial"/>
              <a:buChar char="•"/>
            </a:pPr>
            <a:r>
              <a:rPr lang="en-US" b="1">
                <a:ea typeface="Calibri"/>
                <a:cs typeface="+mn-lt"/>
              </a:rPr>
              <a:t>Model stability</a:t>
            </a:r>
            <a:endParaRPr lang="en-US">
              <a:ea typeface="Calibri"/>
              <a:cs typeface="+mn-lt"/>
            </a:endParaRPr>
          </a:p>
          <a:p>
            <a:pPr marL="628650" lvl="1" indent="-171450">
              <a:buFont typeface="Arial"/>
              <a:buChar char="•"/>
            </a:pPr>
            <a:r>
              <a:rPr lang="en-US" b="1">
                <a:ea typeface="Calibri"/>
                <a:cs typeface="+mn-lt"/>
              </a:rPr>
              <a:t>Convergence speed</a:t>
            </a:r>
            <a:endParaRPr lang="en-US">
              <a:ea typeface="Calibri"/>
              <a:cs typeface="+mn-lt"/>
            </a:endParaRPr>
          </a:p>
          <a:p>
            <a:pPr marL="628650" lvl="1" indent="-171450">
              <a:buFont typeface="Arial"/>
              <a:buChar char="•"/>
            </a:pPr>
            <a:r>
              <a:rPr lang="en-US" b="1">
                <a:ea typeface="Calibri"/>
                <a:cs typeface="+mn-lt"/>
              </a:rPr>
              <a:t>Interpretability of coefficients</a:t>
            </a:r>
            <a:endParaRPr lang="en-US">
              <a:ea typeface="Calibri"/>
              <a:cs typeface="+mn-lt"/>
            </a:endParaRPr>
          </a:p>
          <a:p>
            <a:br>
              <a:rPr lang="en-US">
                <a:ea typeface="Calibri"/>
                <a:cs typeface="+mn-lt"/>
              </a:rPr>
            </a:br>
            <a:r>
              <a:rPr lang="en-US">
                <a:solidFill>
                  <a:srgbClr val="616161"/>
                </a:solidFill>
                <a:ea typeface="Calibri"/>
                <a:cs typeface="+mn-lt"/>
              </a:rPr>
              <a:t>Review:</a:t>
            </a:r>
            <a:br>
              <a:rPr lang="en-US">
                <a:cs typeface="+mn-lt"/>
              </a:rPr>
            </a:br>
            <a:r>
              <a:rPr lang="en-US">
                <a:solidFill>
                  <a:srgbClr val="616161"/>
                </a:solidFill>
              </a:rPr>
              <a:t>What: Apply z‑score scaling to </a:t>
            </a:r>
            <a:r>
              <a:rPr lang="en-US" err="1">
                <a:solidFill>
                  <a:srgbClr val="A31515"/>
                </a:solidFill>
              </a:rPr>
              <a:t>Total_Spend</a:t>
            </a:r>
            <a:r>
              <a:rPr lang="en-US">
                <a:solidFill>
                  <a:srgbClr val="616161"/>
                </a:solidFill>
              </a:rPr>
              <a:t> (R&amp;D + Marketing) and </a:t>
            </a:r>
            <a:r>
              <a:rPr lang="en-US">
                <a:solidFill>
                  <a:srgbClr val="A31515"/>
                </a:solidFill>
              </a:rPr>
              <a:t>Administration</a:t>
            </a:r>
            <a:r>
              <a:rPr lang="en-US">
                <a:solidFill>
                  <a:srgbClr val="616161"/>
                </a:solidFill>
              </a:rPr>
              <a:t> so each feature has mean=0 and std=1.</a:t>
            </a:r>
            <a:endParaRPr lang="en-US">
              <a:solidFill>
                <a:srgbClr val="616161"/>
              </a:solidFill>
              <a:ea typeface="Calibri"/>
              <a:cs typeface="Calibri"/>
            </a:endParaRPr>
          </a:p>
          <a:p>
            <a:r>
              <a:rPr lang="en-US"/>
              <a:t>Formula: </a:t>
            </a:r>
            <a:endParaRPr lang="en-US">
              <a:solidFill>
                <a:srgbClr val="444444"/>
              </a:solidFill>
              <a:ea typeface="Calibri" panose="020F0502020204030204"/>
              <a:cs typeface="Calibri" panose="020F0502020204030204"/>
            </a:endParaRPr>
          </a:p>
          <a:p>
            <a:r>
              <a:rPr lang="en-US"/>
              <a:t>z=x−</a:t>
            </a:r>
            <a:r>
              <a:rPr lang="en-US" err="1"/>
              <a:t>meanstdz</a:t>
            </a:r>
            <a:r>
              <a:rPr lang="en-US"/>
              <a:t> = \frac{x - \text{mean}}{\text{std}}z=</a:t>
            </a:r>
            <a:r>
              <a:rPr lang="en-US" err="1"/>
              <a:t>stdx</a:t>
            </a:r>
            <a:r>
              <a:rPr lang="en-US"/>
              <a:t>−mean </a:t>
            </a:r>
            <a:endParaRPr lang="en-US">
              <a:solidFill>
                <a:srgbClr val="444444"/>
              </a:solidFill>
            </a:endParaRPr>
          </a:p>
          <a:p>
            <a:br>
              <a:rPr lang="en-US">
                <a:cs typeface="+mn-lt"/>
              </a:rPr>
            </a:br>
            <a:r>
              <a:rPr lang="en-US">
                <a:solidFill>
                  <a:srgbClr val="616161"/>
                </a:solidFill>
              </a:rPr>
              <a:t>Why: Removes magnitude bias so large-value features don’t dominate models and comparisons.</a:t>
            </a:r>
            <a:br>
              <a:rPr lang="en-US">
                <a:cs typeface="+mn-lt"/>
              </a:rPr>
            </a:br>
            <a:r>
              <a:rPr lang="en-US">
                <a:solidFill>
                  <a:srgbClr val="616161"/>
                </a:solidFill>
              </a:rPr>
              <a:t>How: Compute z = (x − mean)/std using population std (</a:t>
            </a:r>
            <a:r>
              <a:rPr lang="en-US" err="1">
                <a:solidFill>
                  <a:srgbClr val="A31515"/>
                </a:solidFill>
              </a:rPr>
              <a:t>ddof</a:t>
            </a:r>
            <a:r>
              <a:rPr lang="en-US">
                <a:solidFill>
                  <a:srgbClr val="A31515"/>
                </a:solidFill>
              </a:rPr>
              <a:t>=0</a:t>
            </a:r>
            <a:r>
              <a:rPr lang="en-US">
                <a:solidFill>
                  <a:srgbClr val="616161"/>
                </a:solidFill>
              </a:rPr>
              <a:t>), persist means/</a:t>
            </a:r>
            <a:r>
              <a:rPr lang="en-US" err="1">
                <a:solidFill>
                  <a:srgbClr val="616161"/>
                </a:solidFill>
              </a:rPr>
              <a:t>stds</a:t>
            </a:r>
            <a:r>
              <a:rPr lang="en-US">
                <a:solidFill>
                  <a:srgbClr val="616161"/>
                </a:solidFill>
              </a:rPr>
              <a:t> in </a:t>
            </a:r>
            <a:r>
              <a:rPr lang="en-US" err="1">
                <a:solidFill>
                  <a:srgbClr val="A31515"/>
                </a:solidFill>
              </a:rPr>
              <a:t>scale_stats</a:t>
            </a:r>
            <a:r>
              <a:rPr lang="en-US">
                <a:solidFill>
                  <a:srgbClr val="616161"/>
                </a:solidFill>
              </a:rPr>
              <a:t>, and save </a:t>
            </a:r>
            <a:r>
              <a:rPr lang="en-US" err="1">
                <a:solidFill>
                  <a:srgbClr val="A31515"/>
                </a:solidFill>
              </a:rPr>
              <a:t>Total_Spend_scaled</a:t>
            </a:r>
            <a:r>
              <a:rPr lang="en-US">
                <a:solidFill>
                  <a:srgbClr val="616161"/>
                </a:solidFill>
              </a:rPr>
              <a:t> and </a:t>
            </a:r>
            <a:r>
              <a:rPr lang="en-US" err="1">
                <a:solidFill>
                  <a:srgbClr val="A31515"/>
                </a:solidFill>
              </a:rPr>
              <a:t>Administration_scaled</a:t>
            </a:r>
            <a:r>
              <a:rPr lang="en-US">
                <a:solidFill>
                  <a:srgbClr val="616161"/>
                </a:solidFill>
              </a:rPr>
              <a:t>.</a:t>
            </a:r>
            <a:br>
              <a:rPr lang="en-US">
                <a:cs typeface="+mn-lt"/>
              </a:rPr>
            </a:br>
            <a:r>
              <a:rPr lang="en-US">
                <a:solidFill>
                  <a:srgbClr val="616161"/>
                </a:solidFill>
              </a:rPr>
              <a:t>Business impact: Improves model stability, interpretability, and fairness; reduces risk of biased or unstable decisions caused by scale differences.</a:t>
            </a:r>
            <a:br>
              <a:rPr lang="en-US">
                <a:cs typeface="+mn-lt"/>
              </a:rPr>
            </a:br>
            <a:endParaRPr lang="en-US">
              <a:solidFill>
                <a:srgbClr val="616161"/>
              </a:solidFill>
              <a:ea typeface="Calibri"/>
              <a:cs typeface="Calibri"/>
            </a:endParaRPr>
          </a:p>
          <a:p>
            <a:br>
              <a:rPr lang="en-US">
                <a:solidFill>
                  <a:srgbClr val="444444"/>
                </a:solidFill>
              </a:rPr>
            </a:br>
            <a:endParaRPr lang="en-US">
              <a:solidFill>
                <a:srgbClr val="444444"/>
              </a:solidFill>
            </a:endParaRPr>
          </a:p>
        </p:txBody>
      </p:sp>
      <p:sp>
        <p:nvSpPr>
          <p:cNvPr id="4" name="Slide Number Placeholder 3"/>
          <p:cNvSpPr>
            <a:spLocks noGrp="1"/>
          </p:cNvSpPr>
          <p:nvPr>
            <p:ph type="sldNum" sz="quarter" idx="5"/>
          </p:nvPr>
        </p:nvSpPr>
        <p:spPr/>
        <p:txBody>
          <a:bodyPr/>
          <a:lstStyle/>
          <a:p>
            <a:fld id="{A059C68E-E7DA-483E-BF39-08ECAAB67F52}" type="slidenum">
              <a:rPr lang="en-US"/>
              <a:t>21</a:t>
            </a:fld>
            <a:endParaRPr lang="en-US"/>
          </a:p>
        </p:txBody>
      </p:sp>
    </p:spTree>
    <p:extLst>
      <p:ext uri="{BB962C8B-B14F-4D97-AF65-F5344CB8AC3E}">
        <p14:creationId xmlns:p14="http://schemas.microsoft.com/office/powerpoint/2010/main" val="2366435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So this is a sample of our dataset before and after transformation</a:t>
            </a:r>
          </a:p>
        </p:txBody>
      </p:sp>
      <p:sp>
        <p:nvSpPr>
          <p:cNvPr id="4" name="Slide Number Placeholder 3"/>
          <p:cNvSpPr>
            <a:spLocks noGrp="1"/>
          </p:cNvSpPr>
          <p:nvPr>
            <p:ph type="sldNum" sz="quarter" idx="5"/>
          </p:nvPr>
        </p:nvSpPr>
        <p:spPr/>
        <p:txBody>
          <a:bodyPr/>
          <a:lstStyle/>
          <a:p>
            <a:fld id="{A059C68E-E7DA-483E-BF39-08ECAAB67F52}" type="slidenum">
              <a:rPr lang="en-US"/>
              <a:t>22</a:t>
            </a:fld>
            <a:endParaRPr lang="en-US"/>
          </a:p>
        </p:txBody>
      </p:sp>
    </p:spTree>
    <p:extLst>
      <p:ext uri="{BB962C8B-B14F-4D97-AF65-F5344CB8AC3E}">
        <p14:creationId xmlns:p14="http://schemas.microsoft.com/office/powerpoint/2010/main" val="32370960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I am presenting my project titled </a:t>
            </a:r>
            <a:r>
              <a:rPr lang="en-US" b="1"/>
              <a:t>Profit Prediction Using Linear Regression</a:t>
            </a:r>
            <a:r>
              <a:rPr lang="en-US"/>
              <a:t>.</a:t>
            </a:r>
          </a:p>
          <a:p>
            <a:endParaRPr lang="en-US"/>
          </a:p>
          <a:p>
            <a:r>
              <a:rPr lang="en-US"/>
              <a:t>This study is based on a dataset containing </a:t>
            </a:r>
            <a:r>
              <a:rPr lang="en-US" b="1"/>
              <a:t>993 companies</a:t>
            </a:r>
            <a:r>
              <a:rPr lang="en-US"/>
              <a:t>, where all variables are cleaned, transformed and scaled for model efficiency. The purpose of this work is not just to predict profit, but to understand why profit increases — what actually drives it, and which business factor contributes the most.</a:t>
            </a:r>
            <a:endParaRPr lang="en-US">
              <a:ea typeface="Calibri"/>
              <a:cs typeface="Calibri"/>
            </a:endParaRPr>
          </a:p>
          <a:p>
            <a:endParaRPr lang="en-US"/>
          </a:p>
          <a:p>
            <a:r>
              <a:rPr lang="en-US"/>
              <a:t>My objective in this project is simple but powerful:</a:t>
            </a:r>
            <a:endParaRPr lang="en-US">
              <a:ea typeface="Calibri"/>
              <a:cs typeface="Calibri"/>
            </a:endParaRPr>
          </a:p>
          <a:p>
            <a:endParaRPr lang="en-US"/>
          </a:p>
          <a:p>
            <a:r>
              <a:rPr lang="en-US"/>
              <a:t>1.Build a prediction model using selected features</a:t>
            </a:r>
            <a:br>
              <a:rPr lang="en-US">
                <a:cs typeface="+mn-lt"/>
              </a:rPr>
            </a:br>
            <a:r>
              <a:rPr lang="en-US"/>
              <a:t>2.Analyse how each variable influences company profit</a:t>
            </a:r>
            <a:br>
              <a:rPr lang="en-US">
                <a:cs typeface="+mn-lt"/>
              </a:rPr>
            </a:br>
            <a:r>
              <a:rPr lang="en-US"/>
              <a:t>3.Identify the strongest profit-generating factor mathematically</a:t>
            </a:r>
            <a:endParaRPr lang="en-US">
              <a:ea typeface="Calibri"/>
              <a:cs typeface="Calibri"/>
            </a:endParaRPr>
          </a:p>
          <a:p>
            <a:endParaRPr lang="en-US"/>
          </a:p>
          <a:p>
            <a:r>
              <a:rPr lang="en-US"/>
              <a:t>By the end of this presentation, you will clearly see which business investment yields the highest return.</a:t>
            </a:r>
            <a:endParaRPr lang="en-US">
              <a:ea typeface="Calibri"/>
              <a:cs typeface="Calibri"/>
            </a:endParaRPr>
          </a:p>
          <a:p>
            <a:endParaRPr lang="en-US">
              <a:ea typeface="Calibri"/>
              <a:cs typeface="Calibri"/>
            </a:endParaRPr>
          </a:p>
          <a:p>
            <a:endParaRPr lang="en-US">
              <a:ea typeface="Calibri"/>
              <a:cs typeface="Calibri"/>
            </a:endParaRPr>
          </a:p>
          <a:p>
            <a:r>
              <a:rPr lang="en-US"/>
              <a:t>Companies spend a lot on administration, R&amp;D, and marketing — but we don’t know which one truly boosts profit.</a:t>
            </a:r>
            <a:endParaRPr lang="en-US">
              <a:solidFill>
                <a:srgbClr val="444444"/>
              </a:solidFill>
            </a:endParaRPr>
          </a:p>
          <a:p>
            <a:endParaRPr lang="en-US">
              <a:solidFill>
                <a:srgbClr val="444444"/>
              </a:solidFill>
            </a:endParaRPr>
          </a:p>
          <a:p>
            <a:r>
              <a:rPr lang="en-US"/>
              <a:t>Just looking at numbers isn’t enough.</a:t>
            </a:r>
            <a:endParaRPr lang="en-US">
              <a:solidFill>
                <a:srgbClr val="444444"/>
              </a:solidFill>
            </a:endParaRPr>
          </a:p>
          <a:p>
            <a:endParaRPr lang="en-US">
              <a:solidFill>
                <a:srgbClr val="444444"/>
              </a:solidFill>
            </a:endParaRPr>
          </a:p>
          <a:p>
            <a:r>
              <a:rPr lang="en-US"/>
              <a:t>So we built a model that can:</a:t>
            </a:r>
            <a:endParaRPr lang="en-US">
              <a:solidFill>
                <a:srgbClr val="444444"/>
              </a:solidFill>
            </a:endParaRPr>
          </a:p>
          <a:p>
            <a:endParaRPr lang="en-US">
              <a:solidFill>
                <a:srgbClr val="444444"/>
              </a:solidFill>
            </a:endParaRPr>
          </a:p>
          <a:p>
            <a:pPr marL="171450" indent="-171450">
              <a:buFont typeface="Arial"/>
              <a:buChar char="•"/>
            </a:pPr>
            <a:r>
              <a:rPr lang="en-US"/>
              <a:t>Measure the impact of each spend</a:t>
            </a:r>
            <a:endParaRPr lang="en-US">
              <a:solidFill>
                <a:srgbClr val="444444"/>
              </a:solidFill>
            </a:endParaRPr>
          </a:p>
          <a:p>
            <a:pPr marL="171450" indent="-171450">
              <a:buFont typeface="Arial"/>
              <a:buChar char="•"/>
            </a:pPr>
            <a:r>
              <a:rPr lang="en-US"/>
              <a:t>Predict profit accurately</a:t>
            </a:r>
            <a:endParaRPr lang="en-US">
              <a:solidFill>
                <a:srgbClr val="444444"/>
              </a:solidFill>
            </a:endParaRPr>
          </a:p>
          <a:p>
            <a:pPr marL="171450" indent="-171450">
              <a:buFont typeface="Arial"/>
              <a:buChar char="•"/>
            </a:pPr>
            <a:r>
              <a:rPr lang="en-US"/>
              <a:t>Identify which investment gives the highest return</a:t>
            </a:r>
            <a:endParaRPr lang="en-US">
              <a:solidFill>
                <a:srgbClr val="444444"/>
              </a:solidFill>
              <a:ea typeface="Calibri" panose="020F0502020204030204"/>
              <a:cs typeface="Calibri" panose="020F0502020204030204"/>
            </a:endParaRPr>
          </a:p>
          <a:p>
            <a:endParaRPr lang="en-US">
              <a:solidFill>
                <a:srgbClr val="444444"/>
              </a:solidFill>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24</a:t>
            </a:fld>
            <a:endParaRPr lang="en-US"/>
          </a:p>
        </p:txBody>
      </p:sp>
    </p:spTree>
    <p:extLst>
      <p:ext uri="{BB962C8B-B14F-4D97-AF65-F5344CB8AC3E}">
        <p14:creationId xmlns:p14="http://schemas.microsoft.com/office/powerpoint/2010/main" val="26680515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model, we focused only on 5 key variables:</a:t>
            </a:r>
          </a:p>
          <a:p>
            <a:endParaRPr lang="en-US"/>
          </a:p>
          <a:p>
            <a:r>
              <a:rPr lang="en-US" b="1"/>
              <a:t>Administration _ scaled, </a:t>
            </a:r>
            <a:r>
              <a:rPr lang="en-US" b="1" err="1"/>
              <a:t>Total_Spend_scaled</a:t>
            </a:r>
            <a:r>
              <a:rPr lang="en-US" b="1"/>
              <a:t>, and the State dummies — California, Florida, New York.</a:t>
            </a:r>
            <a:endParaRPr lang="en-US"/>
          </a:p>
          <a:p>
            <a:endParaRPr lang="en-US" b="1"/>
          </a:p>
          <a:p>
            <a:r>
              <a:rPr lang="en-US"/>
              <a:t>Instead of guessing manually, the model helps us:</a:t>
            </a:r>
            <a:endParaRPr lang="en-US">
              <a:ea typeface="Calibri"/>
              <a:cs typeface="Calibri"/>
            </a:endParaRPr>
          </a:p>
          <a:p>
            <a:endParaRPr lang="en-US"/>
          </a:p>
          <a:p>
            <a:pPr marL="171450" indent="-171450">
              <a:buFont typeface="Arial"/>
              <a:buChar char="•"/>
            </a:pPr>
            <a:r>
              <a:rPr lang="en-US"/>
              <a:t>Measure how each of these 5 features affects profit</a:t>
            </a:r>
            <a:endParaRPr lang="en-US">
              <a:ea typeface="Calibri" panose="020F0502020204030204"/>
              <a:cs typeface="Calibri" panose="020F0502020204030204"/>
            </a:endParaRPr>
          </a:p>
          <a:p>
            <a:pPr marL="171450" indent="-171450">
              <a:buFont typeface="Arial"/>
              <a:buChar char="•"/>
            </a:pPr>
            <a:r>
              <a:rPr lang="en-US"/>
              <a:t>Predict future profit based on spending</a:t>
            </a:r>
            <a:endParaRPr lang="en-US">
              <a:ea typeface="Calibri"/>
              <a:cs typeface="Calibri"/>
            </a:endParaRPr>
          </a:p>
          <a:p>
            <a:pPr marL="171450" indent="-171450">
              <a:buFont typeface="Arial"/>
              <a:buChar char="•"/>
            </a:pPr>
            <a:r>
              <a:rPr lang="en-US"/>
              <a:t>Identify which variable gives the highest return</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25</a:t>
            </a:fld>
            <a:endParaRPr lang="en-US"/>
          </a:p>
        </p:txBody>
      </p:sp>
    </p:spTree>
    <p:extLst>
      <p:ext uri="{BB962C8B-B14F-4D97-AF65-F5344CB8AC3E}">
        <p14:creationId xmlns:p14="http://schemas.microsoft.com/office/powerpoint/2010/main" val="9301356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selected only five features because they directly influence profit and work cleanly with linear regression.</a:t>
            </a:r>
          </a:p>
          <a:p>
            <a:endParaRPr lang="en-US"/>
          </a:p>
          <a:p>
            <a:r>
              <a:rPr lang="en-US"/>
              <a:t>The spend values were scaled so that all inputs are treated equally without unit dominance.</a:t>
            </a:r>
            <a:endParaRPr lang="en-US">
              <a:ea typeface="Calibri" panose="020F0502020204030204"/>
              <a:cs typeface="Calibri" panose="020F0502020204030204"/>
            </a:endParaRPr>
          </a:p>
          <a:p>
            <a:br>
              <a:rPr lang="en-US">
                <a:cs typeface="+mn-lt"/>
              </a:rPr>
            </a:br>
            <a:r>
              <a:rPr lang="en-US"/>
              <a:t> I combined R&amp;D and Marketing as one feature to reflect innovation value and to avoid multicollinearity from the original dataset.</a:t>
            </a:r>
            <a:endParaRPr lang="en-US">
              <a:ea typeface="Calibri"/>
              <a:cs typeface="Calibri"/>
            </a:endParaRPr>
          </a:p>
          <a:p>
            <a:endParaRPr lang="en-US"/>
          </a:p>
          <a:p>
            <a:r>
              <a:rPr lang="en-US"/>
              <a:t>The state columns were converted into dummy values —</a:t>
            </a:r>
            <a:br>
              <a:rPr lang="en-US">
                <a:cs typeface="+mn-lt"/>
              </a:rPr>
            </a:br>
            <a:r>
              <a:rPr lang="en-US"/>
              <a:t> </a:t>
            </a:r>
            <a:r>
              <a:rPr lang="en-US" b="1"/>
              <a:t>1 means present and 0 means absent</a:t>
            </a:r>
            <a:r>
              <a:rPr lang="en-US"/>
              <a:t> — making them machine-readable.</a:t>
            </a:r>
            <a:endParaRPr lang="en-US">
              <a:ea typeface="Calibri"/>
              <a:cs typeface="Calibri"/>
            </a:endParaRPr>
          </a:p>
          <a:p>
            <a:endParaRPr lang="en-US"/>
          </a:p>
          <a:p>
            <a:r>
              <a:rPr lang="en-US"/>
              <a:t>And finally, profit is a continuous output, which is perfect for regression-based prediction.</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26</a:t>
            </a:fld>
            <a:endParaRPr lang="en-US"/>
          </a:p>
        </p:txBody>
      </p:sp>
    </p:spTree>
    <p:extLst>
      <p:ext uri="{BB962C8B-B14F-4D97-AF65-F5344CB8AC3E}">
        <p14:creationId xmlns:p14="http://schemas.microsoft.com/office/powerpoint/2010/main" val="13721227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build this model, I first imported and cleaned the dataset, and then filtered it down to only the five independent variables relevant for prediction.</a:t>
            </a:r>
          </a:p>
          <a:p>
            <a:endParaRPr lang="en-US"/>
          </a:p>
          <a:p>
            <a:r>
              <a:rPr lang="en-US"/>
              <a:t>Next, I applied One-Hot Encoding to convert the states into machine-readable 0 and 1 format.</a:t>
            </a:r>
            <a:endParaRPr lang="en-US">
              <a:ea typeface="Calibri" panose="020F0502020204030204"/>
              <a:cs typeface="Calibri" panose="020F0502020204030204"/>
            </a:endParaRPr>
          </a:p>
          <a:p>
            <a:endParaRPr lang="en-US"/>
          </a:p>
          <a:p>
            <a:r>
              <a:rPr lang="en-US"/>
              <a:t>The data was split into </a:t>
            </a:r>
            <a:r>
              <a:rPr lang="en-US" b="1"/>
              <a:t>80% for training and 20% for testing</a:t>
            </a:r>
            <a:r>
              <a:rPr lang="en-US"/>
              <a:t>, so the model learns and is also evaluated fairly.</a:t>
            </a:r>
            <a:endParaRPr lang="en-US">
              <a:ea typeface="Calibri"/>
              <a:cs typeface="Calibri"/>
            </a:endParaRPr>
          </a:p>
          <a:p>
            <a:endParaRPr lang="en-US"/>
          </a:p>
          <a:p>
            <a:r>
              <a:rPr lang="en-US"/>
              <a:t>I then built an OLS Linear Regression model and evaluated its performance using </a:t>
            </a:r>
            <a:r>
              <a:rPr lang="en-US" b="1"/>
              <a:t>R² and RMSE</a:t>
            </a:r>
            <a:r>
              <a:rPr lang="en-US"/>
              <a:t>.</a:t>
            </a:r>
            <a:endParaRPr lang="en-US">
              <a:ea typeface="Calibri"/>
              <a:cs typeface="Calibri"/>
            </a:endParaRPr>
          </a:p>
          <a:p>
            <a:endParaRPr lang="en-US"/>
          </a:p>
          <a:p>
            <a:r>
              <a:rPr lang="en-US"/>
              <a:t>After training, I predicted profit for the entire dataset and identified the </a:t>
            </a:r>
            <a:r>
              <a:rPr lang="en-US" b="1"/>
              <a:t>most profitable combination of features</a:t>
            </a:r>
            <a:r>
              <a:rPr lang="en-US"/>
              <a: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27</a:t>
            </a:fld>
            <a:endParaRPr lang="en-US"/>
          </a:p>
        </p:txBody>
      </p:sp>
    </p:spTree>
    <p:extLst>
      <p:ext uri="{BB962C8B-B14F-4D97-AF65-F5344CB8AC3E}">
        <p14:creationId xmlns:p14="http://schemas.microsoft.com/office/powerpoint/2010/main" val="2583507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the key results from the OLS model.</a:t>
            </a:r>
          </a:p>
          <a:p>
            <a:endParaRPr lang="en-US"/>
          </a:p>
          <a:p>
            <a:r>
              <a:rPr lang="en-US"/>
              <a:t>The R² score is </a:t>
            </a:r>
            <a:r>
              <a:rPr lang="en-US" b="1"/>
              <a:t>0.9214</a:t>
            </a:r>
            <a:r>
              <a:rPr lang="en-US"/>
              <a:t>, which means the model explains about </a:t>
            </a:r>
            <a:r>
              <a:rPr lang="en-US" b="1"/>
              <a:t>92% of the variation in profit</a:t>
            </a:r>
            <a:r>
              <a:rPr lang="en-US"/>
              <a:t>.</a:t>
            </a:r>
            <a:endParaRPr lang="en-US">
              <a:ea typeface="Calibri"/>
              <a:cs typeface="Calibri"/>
            </a:endParaRPr>
          </a:p>
          <a:p>
            <a:br>
              <a:rPr lang="en-US">
                <a:cs typeface="+mn-lt"/>
              </a:rPr>
            </a:br>
            <a:r>
              <a:rPr lang="en-US"/>
              <a:t> This indicates that the selected five features have very strong predictive power.</a:t>
            </a:r>
          </a:p>
          <a:p>
            <a:endParaRPr lang="en-US"/>
          </a:p>
          <a:p>
            <a:r>
              <a:rPr lang="en-US"/>
              <a:t>The RMSE value is </a:t>
            </a:r>
            <a:r>
              <a:rPr lang="en-US" b="1"/>
              <a:t>12988.02</a:t>
            </a:r>
            <a:r>
              <a:rPr lang="en-US"/>
              <a:t>, which means on average the prediction error is around eleven to twelve thousand units — fairly low compared to overall profit values.</a:t>
            </a:r>
            <a:endParaRPr lang="en-US">
              <a:ea typeface="Calibri"/>
              <a:cs typeface="Calibri"/>
            </a:endParaRPr>
          </a:p>
          <a:p>
            <a:r>
              <a:rPr lang="en-US"/>
              <a:t>So overall:</a:t>
            </a:r>
            <a:endParaRPr lang="en-US">
              <a:ea typeface="Calibri"/>
              <a:cs typeface="Calibri"/>
            </a:endParaRPr>
          </a:p>
          <a:p>
            <a:endParaRPr lang="en-US"/>
          </a:p>
          <a:p>
            <a:pPr marL="285750" indent="-285750">
              <a:buFont typeface="Arial"/>
              <a:buChar char="•"/>
            </a:pPr>
            <a:r>
              <a:rPr lang="en-US"/>
              <a:t>The model explains </a:t>
            </a:r>
            <a:r>
              <a:rPr lang="en-US" b="1"/>
              <a:t>how much profit is predictable</a:t>
            </a:r>
            <a:endParaRPr lang="en-US"/>
          </a:p>
          <a:p>
            <a:pPr marL="285750" indent="-285750">
              <a:buFont typeface="Arial"/>
              <a:buChar char="•"/>
            </a:pPr>
            <a:r>
              <a:rPr lang="en-US"/>
              <a:t>A lower RMSE means </a:t>
            </a:r>
            <a:r>
              <a:rPr lang="en-US" b="1"/>
              <a:t>better prediction accuracy</a:t>
            </a:r>
            <a:endParaRPr lang="en-US"/>
          </a:p>
          <a:p>
            <a:pPr marL="285750" indent="-285750">
              <a:buFont typeface="Arial"/>
              <a:buChar char="•"/>
            </a:pPr>
            <a:r>
              <a:rPr lang="en-US"/>
              <a:t>And the high R² confirms a </a:t>
            </a:r>
            <a:r>
              <a:rPr lang="en-US" b="1"/>
              <a:t>strong model fit</a:t>
            </a:r>
            <a:r>
              <a:rPr lang="en-US"/>
              <a: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28</a:t>
            </a:fld>
            <a:endParaRPr lang="en-US"/>
          </a:p>
        </p:txBody>
      </p:sp>
    </p:spTree>
    <p:extLst>
      <p:ext uri="{BB962C8B-B14F-4D97-AF65-F5344CB8AC3E}">
        <p14:creationId xmlns:p14="http://schemas.microsoft.com/office/powerpoint/2010/main" val="18277174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each point represents a company's real profit compared to the model’s prediction.</a:t>
            </a:r>
          </a:p>
          <a:p>
            <a:br>
              <a:rPr lang="en-US">
                <a:cs typeface="+mn-lt"/>
              </a:rPr>
            </a:br>
            <a:r>
              <a:rPr lang="en-US"/>
              <a:t> Most of the points fall very close to the diagonal line, which means the model is able to predict profit with strong accuracy.</a:t>
            </a:r>
          </a:p>
          <a:p>
            <a:endParaRPr lang="en-US"/>
          </a:p>
          <a:p>
            <a:r>
              <a:rPr lang="en-US"/>
              <a:t>There is only a small spread, which shows </a:t>
            </a:r>
            <a:r>
              <a:rPr lang="en-US" b="1"/>
              <a:t>stable and consistent prediction performance</a:t>
            </a:r>
            <a:r>
              <a:rPr lang="en-US"/>
              <a:t>.</a:t>
            </a:r>
            <a:endParaRPr lang="en-US">
              <a:ea typeface="Calibri"/>
              <a:cs typeface="Calibri"/>
            </a:endParaRPr>
          </a:p>
          <a:p>
            <a:br>
              <a:rPr lang="en-US">
                <a:cs typeface="+mn-lt"/>
              </a:rPr>
            </a:br>
            <a:r>
              <a:rPr lang="en-US"/>
              <a:t> Since there are </a:t>
            </a:r>
            <a:r>
              <a:rPr lang="en-US" b="1"/>
              <a:t>no large deviations from the line</a:t>
            </a:r>
            <a:r>
              <a:rPr lang="en-US"/>
              <a:t>, we can conclude that the model has learned the underlying pattern very well</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29</a:t>
            </a:fld>
            <a:endParaRPr lang="en-US"/>
          </a:p>
        </p:txBody>
      </p:sp>
    </p:spTree>
    <p:extLst>
      <p:ext uri="{BB962C8B-B14F-4D97-AF65-F5344CB8AC3E}">
        <p14:creationId xmlns:p14="http://schemas.microsoft.com/office/powerpoint/2010/main" val="40246123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residual plot, where residuals are simply the difference between actual and predicted profit values.</a:t>
            </a:r>
          </a:p>
          <a:p>
            <a:endParaRPr lang="en-US"/>
          </a:p>
          <a:p>
            <a:r>
              <a:rPr lang="en-US"/>
              <a:t>Here, we can see that the points are randomly scattered around the zero line.</a:t>
            </a:r>
            <a:endParaRPr lang="en-US">
              <a:ea typeface="Calibri" panose="020F0502020204030204"/>
              <a:cs typeface="Calibri" panose="020F0502020204030204"/>
            </a:endParaRPr>
          </a:p>
          <a:p>
            <a:br>
              <a:rPr lang="en-US">
                <a:cs typeface="+mn-lt"/>
              </a:rPr>
            </a:br>
            <a:r>
              <a:rPr lang="en-US"/>
              <a:t> This is a very good sign — it means the model has </a:t>
            </a:r>
            <a:r>
              <a:rPr lang="en-US" b="1"/>
              <a:t>no systematic bias</a:t>
            </a:r>
            <a:r>
              <a:rPr lang="en-US"/>
              <a:t> and is not </a:t>
            </a:r>
            <a:r>
              <a:rPr lang="en-US" err="1"/>
              <a:t>favouring</a:t>
            </a:r>
            <a:r>
              <a:rPr lang="en-US"/>
              <a:t> any particular range of values.</a:t>
            </a:r>
            <a:endParaRPr lang="en-US">
              <a:ea typeface="Calibri"/>
              <a:cs typeface="Calibri"/>
            </a:endParaRPr>
          </a:p>
          <a:p>
            <a:endParaRPr lang="en-US"/>
          </a:p>
          <a:p>
            <a:r>
              <a:rPr lang="en-US"/>
              <a:t>Since the distribution is random and not forming any curve or trend, the model assumptions are satisfied and it indicates </a:t>
            </a:r>
            <a:r>
              <a:rPr lang="en-US" b="1"/>
              <a:t>no serious overfitting</a:t>
            </a:r>
            <a:r>
              <a:rPr lang="en-US"/>
              <a:t>.</a:t>
            </a:r>
            <a:endParaRPr lang="en-US">
              <a:ea typeface="Calibri"/>
              <a:cs typeface="Calibri"/>
            </a:endParaRPr>
          </a:p>
          <a:p>
            <a:r>
              <a:rPr lang="en-US"/>
              <a:t>In simple words — the model is consistent, balanced, and generalizes well.</a:t>
            </a:r>
            <a:endParaRPr lang="en-US">
              <a:ea typeface="Calibri"/>
              <a:cs typeface="Calibri"/>
            </a:endParaRPr>
          </a:p>
          <a:p>
            <a:br>
              <a:rPr lang="en-US">
                <a:ea typeface="Calibri"/>
                <a:cs typeface="+mn-lt"/>
              </a:rPr>
            </a:br>
            <a:br>
              <a:rPr lang="en-US">
                <a:ea typeface="Calibri"/>
                <a:cs typeface="+mn-lt"/>
              </a:rPr>
            </a:br>
            <a:r>
              <a:rPr lang="en-US"/>
              <a:t>From the analysis, we found that the </a:t>
            </a:r>
            <a:r>
              <a:rPr lang="en-US" b="1"/>
              <a:t>R&amp;D + Marketing Spend is the strongest driver of profit</a:t>
            </a:r>
            <a:r>
              <a:rPr lang="en-US"/>
              <a:t>.</a:t>
            </a:r>
            <a:endParaRPr lang="en-US">
              <a:solidFill>
                <a:srgbClr val="444444"/>
              </a:solidFill>
            </a:endParaRPr>
          </a:p>
          <a:p>
            <a:br>
              <a:rPr lang="en-US">
                <a:cs typeface="+mn-lt"/>
              </a:rPr>
            </a:br>
            <a:r>
              <a:rPr lang="en-US"/>
              <a:t> Increasing investment in this area shows the highest positive impact.</a:t>
            </a:r>
            <a:endParaRPr lang="en-US">
              <a:solidFill>
                <a:srgbClr val="444444"/>
              </a:solidFill>
            </a:endParaRPr>
          </a:p>
          <a:p>
            <a:endParaRPr lang="en-US">
              <a:solidFill>
                <a:srgbClr val="444444"/>
              </a:solidFill>
            </a:endParaRPr>
          </a:p>
          <a:p>
            <a:r>
              <a:rPr lang="en-US"/>
              <a:t>Administration has a moderate effect — it supports growth but not as aggressively.</a:t>
            </a:r>
            <a:endParaRPr lang="en-US">
              <a:solidFill>
                <a:srgbClr val="444444"/>
              </a:solidFill>
            </a:endParaRPr>
          </a:p>
          <a:p>
            <a:endParaRPr lang="en-US">
              <a:solidFill>
                <a:srgbClr val="444444"/>
              </a:solidFill>
            </a:endParaRPr>
          </a:p>
          <a:p>
            <a:r>
              <a:rPr lang="en-US"/>
              <a:t>And lastly, the state-based dummy variables contribute very little, which means </a:t>
            </a:r>
            <a:r>
              <a:rPr lang="en-US" b="1"/>
              <a:t>location does not decide profitability — spending strategy does</a:t>
            </a:r>
            <a:r>
              <a:rPr lang="en-US"/>
              <a:t>.</a:t>
            </a:r>
            <a:endParaRPr lang="en-US">
              <a:solidFill>
                <a:srgbClr val="444444"/>
              </a:solidFill>
            </a:endParaRPr>
          </a:p>
          <a:p>
            <a:endParaRPr lang="en-US">
              <a:solidFill>
                <a:srgbClr val="444444"/>
              </a:solidFill>
            </a:endParaRPr>
          </a:p>
        </p:txBody>
      </p:sp>
      <p:sp>
        <p:nvSpPr>
          <p:cNvPr id="4" name="Slide Number Placeholder 3"/>
          <p:cNvSpPr>
            <a:spLocks noGrp="1"/>
          </p:cNvSpPr>
          <p:nvPr>
            <p:ph type="sldNum" sz="quarter" idx="5"/>
          </p:nvPr>
        </p:nvSpPr>
        <p:spPr/>
        <p:txBody>
          <a:bodyPr/>
          <a:lstStyle/>
          <a:p>
            <a:fld id="{A059C68E-E7DA-483E-BF39-08ECAAB67F52}" type="slidenum">
              <a:rPr lang="en-US"/>
              <a:t>30</a:t>
            </a:fld>
            <a:endParaRPr lang="en-US"/>
          </a:p>
        </p:txBody>
      </p:sp>
    </p:spTree>
    <p:extLst>
      <p:ext uri="{BB962C8B-B14F-4D97-AF65-F5344CB8AC3E}">
        <p14:creationId xmlns:p14="http://schemas.microsoft.com/office/powerpoint/2010/main" val="2285726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chart shows a strong upward pattern. As R&amp;D and Marketing spend rise, profit increases in a consistent, predictable way.</a:t>
            </a:r>
            <a:br>
              <a:rPr lang="en-US">
                <a:cs typeface="+mn-lt"/>
              </a:rPr>
            </a:br>
            <a:r>
              <a:rPr lang="en-US"/>
              <a:t> This confirms these are the strongest profit drivers in the business.</a:t>
            </a:r>
          </a:p>
          <a:p>
            <a:endParaRPr lang="en-US">
              <a:ea typeface="Calibri"/>
              <a:cs typeface="Calibri"/>
            </a:endParaRPr>
          </a:p>
          <a:p>
            <a:r>
              <a:rPr lang="en-US">
                <a:ea typeface="Calibri"/>
                <a:cs typeface="Calibri"/>
              </a:rPr>
              <a:t>Model coefficient chart</a:t>
            </a:r>
          </a:p>
          <a:p>
            <a:pPr marL="171450" indent="-171450">
              <a:buFont typeface="Arial"/>
              <a:buChar char="•"/>
            </a:pPr>
            <a:r>
              <a:rPr lang="en-US"/>
              <a:t>R&amp;D and Marketing combined generate over </a:t>
            </a:r>
            <a:r>
              <a:rPr lang="en-US" b="1"/>
              <a:t>two times more profit impact</a:t>
            </a:r>
            <a:r>
              <a:rPr lang="en-US"/>
              <a:t> than administration. </a:t>
            </a:r>
            <a:endParaRPr lang="en-US">
              <a:ea typeface="Calibri" panose="020F0502020204030204"/>
              <a:cs typeface="Calibri" panose="020F0502020204030204"/>
            </a:endParaRPr>
          </a:p>
          <a:p>
            <a:pPr marL="171450" indent="-171450">
              <a:buFont typeface="Arial"/>
              <a:buChar char="•"/>
            </a:pPr>
            <a:r>
              <a:rPr lang="en-US"/>
              <a:t>This directly tells us where investment works hardest</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A059C68E-E7DA-483E-BF39-08ECAAB67F52}" type="slidenum">
              <a:rPr lang="en-US"/>
              <a:t>31</a:t>
            </a:fld>
            <a:endParaRPr lang="en-US"/>
          </a:p>
        </p:txBody>
      </p:sp>
    </p:spTree>
    <p:extLst>
      <p:ext uri="{BB962C8B-B14F-4D97-AF65-F5344CB8AC3E}">
        <p14:creationId xmlns:p14="http://schemas.microsoft.com/office/powerpoint/2010/main" val="32264217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On the left is our </a:t>
            </a:r>
            <a:r>
              <a:rPr lang="en-US" b="1"/>
              <a:t>current spending mix</a:t>
            </a:r>
            <a:r>
              <a:rPr lang="en-US"/>
              <a:t>.</a:t>
            </a:r>
          </a:p>
          <a:p>
            <a:pPr marL="285750" indent="-285750">
              <a:buFont typeface="Arial"/>
              <a:buChar char="•"/>
            </a:pPr>
            <a:r>
              <a:rPr lang="en-US"/>
              <a:t>On the right, we simulate a </a:t>
            </a:r>
            <a:r>
              <a:rPr lang="en-US" b="1"/>
              <a:t>20% increase in R&amp;D + Marketing</a:t>
            </a:r>
            <a:r>
              <a:rPr lang="en-US"/>
              <a:t> while keeping Administration stable.</a:t>
            </a:r>
          </a:p>
          <a:p>
            <a:pPr marL="285750" indent="-285750">
              <a:buFont typeface="Arial"/>
              <a:buChar char="•"/>
            </a:pPr>
            <a:r>
              <a:rPr lang="en-US"/>
              <a:t>The mix clearly tilts toward growth activities that our model shows have the </a:t>
            </a:r>
            <a:r>
              <a:rPr lang="en-US" b="1"/>
              <a:t>strongest association with profit</a:t>
            </a:r>
            <a:r>
              <a:rPr lang="en-US"/>
              <a:t>.</a:t>
            </a:r>
            <a:endParaRPr lang="en-US">
              <a:ea typeface="Calibri"/>
              <a:cs typeface="Calibri"/>
            </a:endParaRPr>
          </a:p>
          <a:p>
            <a:pPr marL="285750" indent="-285750">
              <a:buFont typeface="Arial"/>
              <a:buChar char="•"/>
            </a:pPr>
            <a:r>
              <a:rPr lang="en-US"/>
              <a:t>This is a strategic shift from cost-center spending to revenue-generating investment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32</a:t>
            </a:fld>
            <a:endParaRPr lang="en-US"/>
          </a:p>
        </p:txBody>
      </p:sp>
    </p:spTree>
    <p:extLst>
      <p:ext uri="{BB962C8B-B14F-4D97-AF65-F5344CB8AC3E}">
        <p14:creationId xmlns:p14="http://schemas.microsoft.com/office/powerpoint/2010/main" val="2974900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based on our analysis, we recommend two key actions for </a:t>
            </a:r>
            <a:r>
              <a:rPr lang="en-US" err="1"/>
              <a:t>organisations</a:t>
            </a:r>
            <a:endParaRPr lang="en-US" err="1">
              <a:ea typeface="Calibri"/>
              <a:cs typeface="Calibri"/>
            </a:endParaRPr>
          </a:p>
          <a:p>
            <a:endParaRPr lang="en-US"/>
          </a:p>
          <a:p>
            <a:r>
              <a:rPr lang="en-US"/>
              <a:t>First, companies should prioritize spending on </a:t>
            </a:r>
            <a:r>
              <a:rPr lang="en-US" b="1"/>
              <a:t>R&amp;D and Marketing</a:t>
            </a:r>
            <a:r>
              <a:rPr lang="en-US"/>
              <a:t>.</a:t>
            </a:r>
            <a:endParaRPr lang="en-US">
              <a:ea typeface="Calibri"/>
              <a:cs typeface="Calibri"/>
            </a:endParaRPr>
          </a:p>
          <a:p>
            <a:r>
              <a:rPr lang="en-US"/>
              <a:t>Our model shows that increases in combined R&amp;D and Marketing investment drive significantly higher profit growth compared to other types of spending.</a:t>
            </a:r>
            <a:endParaRPr lang="en-US">
              <a:ea typeface="Calibri"/>
              <a:cs typeface="Calibri"/>
            </a:endParaRPr>
          </a:p>
          <a:p>
            <a:r>
              <a:rPr lang="en-US"/>
              <a:t>This suggests that innovation and market reach are the strongest engines of revenue and profitability.</a:t>
            </a:r>
            <a:endParaRPr lang="en-US">
              <a:ea typeface="Calibri"/>
              <a:cs typeface="Calibri"/>
            </a:endParaRPr>
          </a:p>
          <a:p>
            <a:endParaRPr lang="en-US">
              <a:cs typeface="+mn-lt"/>
            </a:endParaRPr>
          </a:p>
          <a:p>
            <a:r>
              <a:rPr lang="en-US"/>
              <a:t>Second, Administration costs should be </a:t>
            </a:r>
            <a:r>
              <a:rPr lang="en-US" b="1"/>
              <a:t>carefully managed</a:t>
            </a:r>
            <a:r>
              <a:rPr lang="en-US"/>
              <a:t>.</a:t>
            </a:r>
            <a:endParaRPr lang="en-US">
              <a:ea typeface="Calibri"/>
              <a:cs typeface="Calibri"/>
            </a:endParaRPr>
          </a:p>
          <a:p>
            <a:r>
              <a:rPr lang="en-US"/>
              <a:t>While Administrative spending does contribute positively to profit, its impact is much smaller compared to R&amp;D and Marketing.</a:t>
            </a:r>
            <a:endParaRPr lang="en-US">
              <a:ea typeface="Calibri"/>
              <a:cs typeface="Calibri"/>
            </a:endParaRPr>
          </a:p>
          <a:p>
            <a:r>
              <a:rPr lang="en-US"/>
              <a:t>Therefore, organizations should focus on keeping Administration lean and efficient — not excessive — ensuring resources are concentrated in high-return investment areas.</a:t>
            </a:r>
            <a:endParaRPr lang="en-US">
              <a:ea typeface="Calibri"/>
              <a:cs typeface="Calibri"/>
            </a:endParaRPr>
          </a:p>
          <a:p>
            <a:br>
              <a:rPr lang="en-US">
                <a:cs typeface="+mn-lt"/>
              </a:rPr>
            </a:br>
            <a:r>
              <a:rPr lang="en-US">
                <a:ea typeface="Calibri"/>
                <a:cs typeface="Calibri"/>
              </a:rPr>
              <a:t>In summary, the </a:t>
            </a:r>
            <a:r>
              <a:rPr lang="en-US" err="1">
                <a:ea typeface="Calibri"/>
                <a:cs typeface="Calibri"/>
              </a:rPr>
              <a:t>fatest</a:t>
            </a:r>
            <a:r>
              <a:rPr lang="en-US">
                <a:ea typeface="Calibri"/>
                <a:cs typeface="Calibri"/>
              </a:rPr>
              <a:t> path to profit growth is not simply </a:t>
            </a:r>
            <a:r>
              <a:rPr lang="en-US" err="1">
                <a:ea typeface="Calibri"/>
                <a:cs typeface="Calibri"/>
              </a:rPr>
              <a:t>spendig</a:t>
            </a:r>
            <a:r>
              <a:rPr lang="en-US">
                <a:ea typeface="Calibri"/>
                <a:cs typeface="Calibri"/>
              </a:rPr>
              <a:t> more, it is spending smartly in the right areas</a:t>
            </a:r>
            <a:endParaRPr lang="en-US"/>
          </a:p>
          <a:p>
            <a:endParaRPr lang="en-US">
              <a:ea typeface="Calibri" panose="020F0502020204030204"/>
              <a:cs typeface="Calibri" panose="020F0502020204030204"/>
            </a:endParaRPr>
          </a:p>
          <a:p>
            <a:endParaRPr lang="en-US"/>
          </a:p>
          <a:p>
            <a:r>
              <a:rPr lang="en-US"/>
              <a:t>To maximize profit, the company should prioritize investment in R&amp;D and Marketing as a combined strategy. These two departments contribute the most to profit growth. While Administration spending has a positive effect, it should be kept efficient. Geographic location does not significantly influence profit — spending strategy matters more than location. The prediction model is accurate (R² ≈ 92%) and reliable enough for financial planning. ROI should not be used as an input but as a performance metric after profits are earned.</a:t>
            </a:r>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33</a:t>
            </a:fld>
            <a:endParaRPr lang="en-US"/>
          </a:p>
        </p:txBody>
      </p:sp>
    </p:spTree>
    <p:extLst>
      <p:ext uri="{BB962C8B-B14F-4D97-AF65-F5344CB8AC3E}">
        <p14:creationId xmlns:p14="http://schemas.microsoft.com/office/powerpoint/2010/main" val="849156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References used for our project</a:t>
            </a:r>
          </a:p>
        </p:txBody>
      </p:sp>
      <p:sp>
        <p:nvSpPr>
          <p:cNvPr id="4" name="Slide Number Placeholder 3"/>
          <p:cNvSpPr>
            <a:spLocks noGrp="1"/>
          </p:cNvSpPr>
          <p:nvPr>
            <p:ph type="sldNum" sz="quarter" idx="5"/>
          </p:nvPr>
        </p:nvSpPr>
        <p:spPr/>
        <p:txBody>
          <a:bodyPr/>
          <a:lstStyle/>
          <a:p>
            <a:fld id="{A059C68E-E7DA-483E-BF39-08ECAAB67F52}" type="slidenum">
              <a:rPr lang="en-US"/>
              <a:t>34</a:t>
            </a:fld>
            <a:endParaRPr lang="en-US"/>
          </a:p>
        </p:txBody>
      </p:sp>
    </p:spTree>
    <p:extLst>
      <p:ext uri="{BB962C8B-B14F-4D97-AF65-F5344CB8AC3E}">
        <p14:creationId xmlns:p14="http://schemas.microsoft.com/office/powerpoint/2010/main" val="17681427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a:ea typeface="Calibri"/>
              <a:cs typeface="Calibri"/>
            </a:endParaRPr>
          </a:p>
          <a:p>
            <a:r>
              <a:rPr lang="en-US"/>
              <a:t>Using a statistical model that explains over </a:t>
            </a:r>
            <a:r>
              <a:rPr lang="en-US" b="1"/>
              <a:t>92% of profit variation</a:t>
            </a:r>
            <a:r>
              <a:rPr lang="en-US"/>
              <a:t>, we identified the strongest drivers of financial performance.</a:t>
            </a:r>
            <a:endParaRPr lang="en-US">
              <a:ea typeface="Calibri"/>
              <a:cs typeface="Calibri"/>
            </a:endParaRPr>
          </a:p>
          <a:p>
            <a:r>
              <a:rPr lang="en-US"/>
              <a:t>The message is clear:</a:t>
            </a:r>
            <a:br>
              <a:rPr lang="en-US">
                <a:cs typeface="+mn-lt"/>
              </a:rPr>
            </a:br>
            <a:r>
              <a:rPr lang="en-US"/>
              <a:t> </a:t>
            </a:r>
            <a:r>
              <a:rPr lang="en-US" b="1"/>
              <a:t>R&amp;D and Marketing deliver more than twice the profit impact compared to Administration spending.</a:t>
            </a:r>
            <a:endParaRPr lang="en-US"/>
          </a:p>
          <a:p>
            <a:r>
              <a:rPr lang="en-US"/>
              <a:t>This tells us that growth comes from innovation and market expansion — not from increasing overhead.</a:t>
            </a:r>
            <a:endParaRPr lang="en-US">
              <a:ea typeface="Calibri"/>
              <a:cs typeface="Calibri"/>
            </a:endParaRPr>
          </a:p>
          <a:p>
            <a:r>
              <a:rPr lang="en-US"/>
              <a:t>We also tested the impact of geography and found that location does not materially affect profitability.</a:t>
            </a:r>
            <a:endParaRPr lang="en-US">
              <a:ea typeface="Calibri"/>
              <a:cs typeface="Calibri"/>
            </a:endParaRPr>
          </a:p>
          <a:p>
            <a:r>
              <a:rPr lang="en-US"/>
              <a:t>So our recommendations are straightforward, </a:t>
            </a:r>
          </a:p>
          <a:p>
            <a:pPr marL="171450" indent="-171450">
              <a:buFont typeface="Arial"/>
              <a:buChar char="•"/>
            </a:pPr>
            <a:r>
              <a:rPr lang="en-US"/>
              <a:t>Increase investment in R&amp;D and Marketing</a:t>
            </a:r>
            <a:endParaRPr lang="en-US">
              <a:ea typeface="Calibri" panose="020F0502020204030204"/>
              <a:cs typeface="Calibri" panose="020F0502020204030204"/>
            </a:endParaRPr>
          </a:p>
          <a:p>
            <a:pPr marL="171450" indent="-171450">
              <a:buFont typeface="Arial"/>
              <a:buChar char="•"/>
            </a:pPr>
            <a:r>
              <a:rPr lang="en-US"/>
              <a:t>Tightly manage Administration costs</a:t>
            </a:r>
            <a:endParaRPr lang="en-US">
              <a:ea typeface="Calibri" panose="020F0502020204030204"/>
              <a:cs typeface="Calibri" panose="020F0502020204030204"/>
            </a:endParaRPr>
          </a:p>
          <a:p>
            <a:pPr marL="171450" indent="-171450">
              <a:buFont typeface="Arial"/>
              <a:buChar char="•"/>
            </a:pPr>
            <a:r>
              <a:rPr lang="en-US"/>
              <a:t>Stop allocating budget based on state</a:t>
            </a:r>
            <a:endParaRPr lang="en-US">
              <a:ea typeface="Calibri"/>
              <a:cs typeface="Calibri"/>
            </a:endParaRPr>
          </a:p>
          <a:p>
            <a:pPr marL="171450" indent="-171450">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A059C68E-E7DA-483E-BF39-08ECAAB67F52}" type="slidenum">
              <a:rPr lang="en-US"/>
              <a:t>36</a:t>
            </a:fld>
            <a:endParaRPr lang="en-US"/>
          </a:p>
        </p:txBody>
      </p:sp>
    </p:spTree>
    <p:extLst>
      <p:ext uri="{BB962C8B-B14F-4D97-AF65-F5344CB8AC3E}">
        <p14:creationId xmlns:p14="http://schemas.microsoft.com/office/powerpoint/2010/main" val="221122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E810B-3716-615A-3254-559897D5A1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696C60-3B5D-907E-17F3-0453C8402D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A28199-872F-9F66-3865-0B8DF2AC070D}"/>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5" name="Footer Placeholder 4">
            <a:extLst>
              <a:ext uri="{FF2B5EF4-FFF2-40B4-BE49-F238E27FC236}">
                <a16:creationId xmlns:a16="http://schemas.microsoft.com/office/drawing/2014/main" id="{302B82F2-499A-3C5C-DA6D-3E5A3847F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1178E-30C2-F6C1-BF2F-4E4B534257AE}"/>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204277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32F36-5D79-9849-65D7-F0786FA1E1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51FCB6-4605-E2CC-A795-5B5AB0FE5C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DC23BA-60C1-30DA-6030-90823200FFE8}"/>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5" name="Footer Placeholder 4">
            <a:extLst>
              <a:ext uri="{FF2B5EF4-FFF2-40B4-BE49-F238E27FC236}">
                <a16:creationId xmlns:a16="http://schemas.microsoft.com/office/drawing/2014/main" id="{1E569DD1-C927-414E-C451-C623926D03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AA072A-882A-C8A7-54B4-C63A2AEDE461}"/>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1037895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33F06-2280-E32D-E501-61DD83A3D0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9B5DC4-17CF-278F-2878-6C07025108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487274-CDFB-CC0E-2814-0C8E4A018A92}"/>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5" name="Footer Placeholder 4">
            <a:extLst>
              <a:ext uri="{FF2B5EF4-FFF2-40B4-BE49-F238E27FC236}">
                <a16:creationId xmlns:a16="http://schemas.microsoft.com/office/drawing/2014/main" id="{88DC40A0-2DCF-BA8E-9048-61446137C0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68973-116E-2CB6-04D7-F649B4F3A781}"/>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439764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0DC5D-23FD-2B79-B4CF-4B930BC879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12B1FA-7B2E-2110-96D8-47C655D2EE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8E76AE-7C74-68F6-0FED-80805B2A7A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D7D493-E622-525C-7388-B59941F16C20}"/>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6" name="Footer Placeholder 5">
            <a:extLst>
              <a:ext uri="{FF2B5EF4-FFF2-40B4-BE49-F238E27FC236}">
                <a16:creationId xmlns:a16="http://schemas.microsoft.com/office/drawing/2014/main" id="{370137D9-4738-964C-8B15-BB35E44F0D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978FBC-3FDF-0538-DEED-4513735554AA}"/>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2122076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49577-CC48-1D3C-BAA5-9CA5C2D750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C1FEDA-68D0-CB88-6D6F-3E031125E5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C3D428-69DB-1AC4-6809-1389650A58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C7A3C9-B491-2210-A47A-0D61FE1B0D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3590BD-08F9-0242-1E8C-141CCE7FB9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9F4491-2EC2-CF06-2CBB-5CA457DD136F}"/>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8" name="Footer Placeholder 7">
            <a:extLst>
              <a:ext uri="{FF2B5EF4-FFF2-40B4-BE49-F238E27FC236}">
                <a16:creationId xmlns:a16="http://schemas.microsoft.com/office/drawing/2014/main" id="{62C8AB3C-145E-0F8A-A303-20E0C38A44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301268-365C-C1E6-F168-8D0C0300D624}"/>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964665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84D52-2DE7-234D-1807-FFB4C2011B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F18239-F152-925F-33B2-C8A5D2CF9743}"/>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4" name="Footer Placeholder 3">
            <a:extLst>
              <a:ext uri="{FF2B5EF4-FFF2-40B4-BE49-F238E27FC236}">
                <a16:creationId xmlns:a16="http://schemas.microsoft.com/office/drawing/2014/main" id="{F319C497-F787-BFF3-91ED-E36DEA4249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83E9BE-FE20-0563-4312-3F92BE35FDA7}"/>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2046579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99DD6A-BA3A-57E9-4573-072C6EAE5599}"/>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3" name="Footer Placeholder 2">
            <a:extLst>
              <a:ext uri="{FF2B5EF4-FFF2-40B4-BE49-F238E27FC236}">
                <a16:creationId xmlns:a16="http://schemas.microsoft.com/office/drawing/2014/main" id="{8E9ACFA1-8C51-F9E9-B186-4407887BBA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9ED4BF-A10F-3F69-9CAE-B2C21639BFFF}"/>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2416471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E3CC-6459-162A-62A0-337A5AE63F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C13872-03B7-C6DF-3CBB-D434CFB5A8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691E93-E048-5021-38E7-3D21C1E26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9751F2-05A8-2D09-3960-B24B2A85E8C6}"/>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6" name="Footer Placeholder 5">
            <a:extLst>
              <a:ext uri="{FF2B5EF4-FFF2-40B4-BE49-F238E27FC236}">
                <a16:creationId xmlns:a16="http://schemas.microsoft.com/office/drawing/2014/main" id="{041EA894-F5DB-5ACC-2FF6-2ED5FC4BDF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BB3198-2326-CEDD-D065-EAD42F8A736B}"/>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2625289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21186-75EF-80EA-3297-2F31764AD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67355B-B06E-1AB8-50EB-E14BCBEAD9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1679C7-0068-959F-BAD3-D9288421B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4F8413-6C52-9B44-CCAA-B05A6624CBB5}"/>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6" name="Footer Placeholder 5">
            <a:extLst>
              <a:ext uri="{FF2B5EF4-FFF2-40B4-BE49-F238E27FC236}">
                <a16:creationId xmlns:a16="http://schemas.microsoft.com/office/drawing/2014/main" id="{23D32E26-7BAA-A315-051C-14F4AFC2AC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6C230C-C4B3-37AB-284C-0897334418D0}"/>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1804601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96382-ECDF-1DC3-F79D-7F94D5FDFA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D09A56-5264-F8D6-AABD-129B6CCEE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DBD209-91E4-B21B-A6A6-D23DA5A61F76}"/>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5" name="Footer Placeholder 4">
            <a:extLst>
              <a:ext uri="{FF2B5EF4-FFF2-40B4-BE49-F238E27FC236}">
                <a16:creationId xmlns:a16="http://schemas.microsoft.com/office/drawing/2014/main" id="{95E1551E-7359-5CC3-1FCE-19935578D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DCBDA5-3BE2-FDCF-78FF-4187E42281A0}"/>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356840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37999A-1A40-3D10-7DFD-293D786FFB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865336-C0ED-E0DF-70BC-0A197C6A0F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EC375-3124-50AF-B3FE-023477C48BAF}"/>
              </a:ext>
            </a:extLst>
          </p:cNvPr>
          <p:cNvSpPr>
            <a:spLocks noGrp="1"/>
          </p:cNvSpPr>
          <p:nvPr>
            <p:ph type="dt" sz="half" idx="10"/>
          </p:nvPr>
        </p:nvSpPr>
        <p:spPr/>
        <p:txBody>
          <a:bodyPr/>
          <a:lstStyle/>
          <a:p>
            <a:fld id="{0E7FF645-6C7D-4869-9E35-755E8E4326D9}" type="datetimeFigureOut">
              <a:rPr lang="en-US" smtClean="0"/>
              <a:t>12/18/2025</a:t>
            </a:fld>
            <a:endParaRPr lang="en-US"/>
          </a:p>
        </p:txBody>
      </p:sp>
      <p:sp>
        <p:nvSpPr>
          <p:cNvPr id="5" name="Footer Placeholder 4">
            <a:extLst>
              <a:ext uri="{FF2B5EF4-FFF2-40B4-BE49-F238E27FC236}">
                <a16:creationId xmlns:a16="http://schemas.microsoft.com/office/drawing/2014/main" id="{8BD959AD-3B6D-3147-45F7-F599CC475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05B34-A02D-76EA-4E35-76F8E4A8E370}"/>
              </a:ext>
            </a:extLst>
          </p:cNvPr>
          <p:cNvSpPr>
            <a:spLocks noGrp="1"/>
          </p:cNvSpPr>
          <p:nvPr>
            <p:ph type="sldNum" sz="quarter" idx="12"/>
          </p:nvPr>
        </p:nvSpPr>
        <p:spPr/>
        <p:txBody>
          <a:bodyPr/>
          <a:lstStyle/>
          <a:p>
            <a:fld id="{FF382BAE-86FE-439C-B403-5DA2E068F47F}" type="slidenum">
              <a:rPr lang="en-US" smtClean="0"/>
              <a:t>‹#›</a:t>
            </a:fld>
            <a:endParaRPr lang="en-US"/>
          </a:p>
        </p:txBody>
      </p:sp>
    </p:spTree>
    <p:extLst>
      <p:ext uri="{BB962C8B-B14F-4D97-AF65-F5344CB8AC3E}">
        <p14:creationId xmlns:p14="http://schemas.microsoft.com/office/powerpoint/2010/main" val="3101371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C88BE1-17A2-59B4-54C6-99B8B97F7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08A39A-CCD2-5792-12E4-C64EEF00F9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B50EDF-88AA-E40B-0A70-951EA3AAE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7FF645-6C7D-4869-9E35-755E8E4326D9}" type="datetimeFigureOut">
              <a:rPr lang="en-US" smtClean="0"/>
              <a:t>12/18/2025</a:t>
            </a:fld>
            <a:endParaRPr lang="en-US"/>
          </a:p>
        </p:txBody>
      </p:sp>
      <p:sp>
        <p:nvSpPr>
          <p:cNvPr id="5" name="Footer Placeholder 4">
            <a:extLst>
              <a:ext uri="{FF2B5EF4-FFF2-40B4-BE49-F238E27FC236}">
                <a16:creationId xmlns:a16="http://schemas.microsoft.com/office/drawing/2014/main" id="{5F7C563E-B45B-96A3-E8C9-840A906C12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9BE0DB-6BC6-F412-CF68-22924BEC75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382BAE-86FE-439C-B403-5DA2E068F47F}" type="slidenum">
              <a:rPr lang="en-US" smtClean="0"/>
              <a:t>‹#›</a:t>
            </a:fld>
            <a:endParaRPr lang="en-US"/>
          </a:p>
        </p:txBody>
      </p:sp>
    </p:spTree>
    <p:extLst>
      <p:ext uri="{BB962C8B-B14F-4D97-AF65-F5344CB8AC3E}">
        <p14:creationId xmlns:p14="http://schemas.microsoft.com/office/powerpoint/2010/main" val="1379262779"/>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42.jpeg"/><Relationship Id="rId7" Type="http://schemas.openxmlformats.org/officeDocument/2006/relationships/diagramColors" Target="../diagrams/colors6.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EFB967-19BA-2DF7-261F-4150A9EF8D91}"/>
              </a:ext>
            </a:extLst>
          </p:cNvPr>
          <p:cNvSpPr>
            <a:spLocks noGrp="1"/>
          </p:cNvSpPr>
          <p:nvPr>
            <p:ph type="ctrTitle"/>
          </p:nvPr>
        </p:nvSpPr>
        <p:spPr>
          <a:xfrm>
            <a:off x="4162567" y="818984"/>
            <a:ext cx="6714699" cy="3178689"/>
          </a:xfrm>
        </p:spPr>
        <p:txBody>
          <a:bodyPr>
            <a:normAutofit/>
          </a:bodyPr>
          <a:lstStyle/>
          <a:p>
            <a:pPr algn="l"/>
            <a:r>
              <a:rPr lang="en-US" sz="4100" dirty="0">
                <a:solidFill>
                  <a:srgbClr val="FFFFFF"/>
                </a:solidFill>
              </a:rPr>
              <a:t>Group 3</a:t>
            </a:r>
            <a:br>
              <a:rPr lang="en-US" sz="4100" dirty="0">
                <a:solidFill>
                  <a:srgbClr val="FFFFFF"/>
                </a:solidFill>
                <a:ea typeface="Calibri Light"/>
                <a:cs typeface="Calibri Light"/>
              </a:rPr>
            </a:br>
            <a:br>
              <a:rPr lang="en-US" sz="4100" dirty="0">
                <a:solidFill>
                  <a:srgbClr val="FFFFFF"/>
                </a:solidFill>
              </a:rPr>
            </a:br>
            <a:r>
              <a:rPr lang="en-US" sz="4100" dirty="0">
                <a:solidFill>
                  <a:srgbClr val="FFFFFF"/>
                </a:solidFill>
              </a:rPr>
              <a:t>Budget Optimization and Profit Maximization</a:t>
            </a:r>
          </a:p>
        </p:txBody>
      </p:sp>
      <p:sp>
        <p:nvSpPr>
          <p:cNvPr id="44" name="Rectangle 4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86ADA69-FBBF-F720-A382-6FAACE5E23D3}"/>
              </a:ext>
            </a:extLst>
          </p:cNvPr>
          <p:cNvSpPr>
            <a:spLocks noGrp="1"/>
          </p:cNvSpPr>
          <p:nvPr>
            <p:ph type="subTitle" idx="1"/>
          </p:nvPr>
        </p:nvSpPr>
        <p:spPr>
          <a:xfrm>
            <a:off x="4285397" y="4960961"/>
            <a:ext cx="7055893" cy="1078054"/>
          </a:xfrm>
        </p:spPr>
        <p:txBody>
          <a:bodyPr vert="horz" lIns="91440" tIns="45720" rIns="91440" bIns="45720" rtlCol="0">
            <a:normAutofit/>
          </a:bodyPr>
          <a:lstStyle/>
          <a:p>
            <a:pPr algn="l"/>
            <a:r>
              <a:rPr lang="en-US" sz="2200" dirty="0">
                <a:solidFill>
                  <a:srgbClr val="FFFFFF"/>
                </a:solidFill>
              </a:rPr>
              <a:t>Group members: </a:t>
            </a:r>
            <a:br>
              <a:rPr lang="en-US" sz="2200" dirty="0">
                <a:solidFill>
                  <a:srgbClr val="FFFFFF"/>
                </a:solidFill>
              </a:rPr>
            </a:br>
            <a:r>
              <a:rPr lang="en-US" sz="2200" dirty="0">
                <a:solidFill>
                  <a:srgbClr val="FFFFFF"/>
                </a:solidFill>
              </a:rPr>
              <a:t>Kondapally Venkata Rishwanth, Karkuzhali Selvendran, </a:t>
            </a:r>
            <a:r>
              <a:rPr lang="en-US" sz="2200" dirty="0" err="1">
                <a:solidFill>
                  <a:srgbClr val="FFFFFF"/>
                </a:solidFill>
              </a:rPr>
              <a:t>Reshmaa</a:t>
            </a:r>
            <a:r>
              <a:rPr lang="en-US" sz="2200" dirty="0">
                <a:solidFill>
                  <a:srgbClr val="FFFFFF"/>
                </a:solidFill>
              </a:rPr>
              <a:t> Vasudevan, Jayakumar </a:t>
            </a:r>
            <a:r>
              <a:rPr lang="en-US" sz="2200" dirty="0" err="1">
                <a:solidFill>
                  <a:srgbClr val="FFFFFF"/>
                </a:solidFill>
              </a:rPr>
              <a:t>Nevedita</a:t>
            </a:r>
            <a:r>
              <a:rPr lang="en-US" sz="2200" dirty="0">
                <a:solidFill>
                  <a:srgbClr val="FFFFFF"/>
                </a:solidFill>
              </a:rPr>
              <a:t>, Linus Koh </a:t>
            </a:r>
            <a:r>
              <a:rPr lang="en-US" sz="2200" dirty="0" err="1">
                <a:solidFill>
                  <a:srgbClr val="FFFFFF"/>
                </a:solidFill>
              </a:rPr>
              <a:t>Zhijie</a:t>
            </a:r>
            <a:endParaRPr lang="en-US" sz="2200" dirty="0">
              <a:solidFill>
                <a:srgbClr val="FFFFFF"/>
              </a:solidFill>
              <a:ea typeface="Calibri"/>
              <a:cs typeface="Calibri"/>
            </a:endParaRPr>
          </a:p>
        </p:txBody>
      </p:sp>
    </p:spTree>
    <p:extLst>
      <p:ext uri="{BB962C8B-B14F-4D97-AF65-F5344CB8AC3E}">
        <p14:creationId xmlns:p14="http://schemas.microsoft.com/office/powerpoint/2010/main" val="2088644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CCE75781-1C32-0D45-D525-01E1A5A19D89}"/>
              </a:ext>
            </a:extLst>
          </p:cNvPr>
          <p:cNvSpPr txBox="1"/>
          <p:nvPr/>
        </p:nvSpPr>
        <p:spPr>
          <a:xfrm>
            <a:off x="721658" y="2385432"/>
            <a:ext cx="9724031" cy="3683358"/>
          </a:xfrm>
          <a:prstGeom prst="rect">
            <a:avLst/>
          </a:prstGeom>
        </p:spPr>
        <p:txBody>
          <a:bodyPr vert="horz" lIns="91440" tIns="45720" rIns="91440" bIns="45720" rtlCol="0" anchor="ctr">
            <a:normAutofit/>
          </a:bodyPr>
          <a:lstStyle/>
          <a:p>
            <a:pPr>
              <a:lnSpc>
                <a:spcPct val="90000"/>
              </a:lnSpc>
              <a:spcAft>
                <a:spcPts val="600"/>
              </a:spcAft>
            </a:pPr>
            <a:r>
              <a:rPr lang="en-US" sz="2000"/>
              <a:t>Business Challenge</a:t>
            </a:r>
            <a:endParaRPr lang="en-US"/>
          </a:p>
          <a:p>
            <a:pPr indent="-228600">
              <a:lnSpc>
                <a:spcPct val="90000"/>
              </a:lnSpc>
              <a:spcAft>
                <a:spcPts val="600"/>
              </a:spcAft>
              <a:buFont typeface="Arial" panose="020B0604020202020204" pitchFamily="34" charset="0"/>
              <a:buChar char="•"/>
            </a:pPr>
            <a:endParaRPr lang="en-US" sz="2000"/>
          </a:p>
          <a:p>
            <a:pPr marL="457200" indent="-228600">
              <a:lnSpc>
                <a:spcPct val="90000"/>
              </a:lnSpc>
              <a:spcAft>
                <a:spcPts val="600"/>
              </a:spcAft>
              <a:buFont typeface="Arial" panose="020B0604020202020204" pitchFamily="34" charset="0"/>
              <a:buChar char="•"/>
            </a:pPr>
            <a:r>
              <a:rPr lang="en-US" sz="2000"/>
              <a:t>Companies invest heavily in R&amp;D, Administration, and Marketing, but many lack clarity on which of these spending categories drives higher profits. </a:t>
            </a:r>
            <a:endParaRPr lang="en-US" sz="2000">
              <a:ea typeface="Calibri"/>
              <a:cs typeface="Calibri"/>
            </a:endParaRPr>
          </a:p>
          <a:p>
            <a:pPr marL="457200" indent="-228600">
              <a:lnSpc>
                <a:spcPct val="90000"/>
              </a:lnSpc>
              <a:spcAft>
                <a:spcPts val="600"/>
              </a:spcAft>
              <a:buFont typeface="Arial" panose="020B0604020202020204" pitchFamily="34" charset="0"/>
              <a:buChar char="•"/>
            </a:pPr>
            <a:endParaRPr lang="en-US" sz="2000"/>
          </a:p>
          <a:p>
            <a:pPr marL="457200" indent="-228600">
              <a:lnSpc>
                <a:spcPct val="90000"/>
              </a:lnSpc>
              <a:spcAft>
                <a:spcPts val="600"/>
              </a:spcAft>
              <a:buFont typeface="Arial" panose="020B0604020202020204" pitchFamily="34" charset="0"/>
              <a:buChar char="•"/>
            </a:pPr>
            <a:r>
              <a:rPr lang="en-US" sz="2000"/>
              <a:t>This ambiguity leads to inefficient budget allocation and missed opportunities for maximizing returns. </a:t>
            </a:r>
            <a:endParaRPr lang="en-US" sz="2000">
              <a:ea typeface="Calibri"/>
              <a:cs typeface="Calibri"/>
            </a:endParaRPr>
          </a:p>
          <a:p>
            <a:pPr marL="457200" indent="-228600">
              <a:lnSpc>
                <a:spcPct val="90000"/>
              </a:lnSpc>
              <a:spcAft>
                <a:spcPts val="600"/>
              </a:spcAft>
              <a:buFont typeface="Arial" panose="020B0604020202020204" pitchFamily="34" charset="0"/>
              <a:buChar char="•"/>
            </a:pPr>
            <a:endParaRPr lang="en-US" sz="2000"/>
          </a:p>
          <a:p>
            <a:pPr marL="457200" indent="-228600">
              <a:lnSpc>
                <a:spcPct val="90000"/>
              </a:lnSpc>
              <a:spcAft>
                <a:spcPts val="600"/>
              </a:spcAft>
              <a:buFont typeface="Arial" panose="020B0604020202020204" pitchFamily="34" charset="0"/>
              <a:buChar char="•"/>
            </a:pPr>
            <a:r>
              <a:rPr lang="en-US" sz="2000"/>
              <a:t>Our aim is to uncover the true profit drivers using data analysis, enabling companies to make smarter, evidence-based investment decisions.</a:t>
            </a:r>
            <a:endParaRPr lang="en-US" sz="2000">
              <a:ea typeface="Calibri"/>
              <a:cs typeface="Calibri"/>
            </a:endParaRPr>
          </a:p>
          <a:p>
            <a:pPr marL="45720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1102269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525F474-109E-6E24-87D7-82ACC9872035}"/>
              </a:ext>
            </a:extLst>
          </p:cNvPr>
          <p:cNvSpPr txBox="1"/>
          <p:nvPr/>
        </p:nvSpPr>
        <p:spPr>
          <a:xfrm>
            <a:off x="463923" y="2385432"/>
            <a:ext cx="9724031" cy="3683358"/>
          </a:xfrm>
          <a:prstGeom prst="rect">
            <a:avLst/>
          </a:prstGeom>
        </p:spPr>
        <p:txBody>
          <a:bodyPr vert="horz" lIns="91440" tIns="45720" rIns="91440" bIns="45720" rtlCol="0" anchor="ctr">
            <a:noAutofit/>
          </a:bodyPr>
          <a:lstStyle/>
          <a:p>
            <a:pPr marL="114300">
              <a:lnSpc>
                <a:spcPct val="90000"/>
              </a:lnSpc>
              <a:spcAft>
                <a:spcPts val="600"/>
              </a:spcAft>
            </a:pPr>
            <a:r>
              <a:rPr lang="en-US" sz="1600" b="1"/>
              <a:t>Objective</a:t>
            </a:r>
            <a:endParaRPr lang="en-US" sz="1600" b="1">
              <a:ea typeface="Calibri"/>
              <a:cs typeface="Calibri"/>
            </a:endParaRPr>
          </a:p>
          <a:p>
            <a:pPr marL="342900" indent="-228600">
              <a:lnSpc>
                <a:spcPct val="90000"/>
              </a:lnSpc>
              <a:spcAft>
                <a:spcPts val="600"/>
              </a:spcAft>
              <a:buAutoNum type="arabicPeriod"/>
            </a:pPr>
            <a:r>
              <a:rPr lang="en-US" sz="1600"/>
              <a:t>Using data from 1000 companies, the goal is to determine the type of investment most strongly </a:t>
            </a:r>
            <a:endParaRPr lang="en-US" sz="1600">
              <a:ea typeface="Calibri"/>
              <a:cs typeface="Calibri"/>
            </a:endParaRPr>
          </a:p>
          <a:p>
            <a:pPr marL="342900" indent="-228600">
              <a:lnSpc>
                <a:spcPct val="90000"/>
              </a:lnSpc>
              <a:spcAft>
                <a:spcPts val="600"/>
              </a:spcAft>
              <a:buAutoNum type="arabicPeriod"/>
            </a:pPr>
            <a:r>
              <a:rPr lang="en-US" sz="1600"/>
              <a:t>influence profit and build a data-driven model for optimal budgeting decisions.</a:t>
            </a:r>
            <a:endParaRPr lang="en-US" sz="1600" b="1">
              <a:ea typeface="Calibri" panose="020F0502020204030204"/>
              <a:cs typeface="Calibri" panose="020F0502020204030204"/>
            </a:endParaRPr>
          </a:p>
          <a:p>
            <a:pPr marL="114300">
              <a:lnSpc>
                <a:spcPct val="90000"/>
              </a:lnSpc>
              <a:spcAft>
                <a:spcPts val="600"/>
              </a:spcAft>
            </a:pPr>
            <a:r>
              <a:rPr lang="en-US" sz="1600" b="1"/>
              <a:t>Strategy </a:t>
            </a:r>
            <a:endParaRPr lang="en-US" sz="1600" b="1">
              <a:ea typeface="Calibri"/>
              <a:cs typeface="Calibri"/>
            </a:endParaRPr>
          </a:p>
          <a:p>
            <a:pPr>
              <a:lnSpc>
                <a:spcPct val="90000"/>
              </a:lnSpc>
              <a:spcAft>
                <a:spcPts val="600"/>
              </a:spcAft>
            </a:pPr>
            <a:r>
              <a:rPr lang="en-US" sz="1600"/>
              <a:t>1. Problem Recognition</a:t>
            </a:r>
            <a:endParaRPr lang="en-US" sz="1600">
              <a:ea typeface="Calibri"/>
              <a:cs typeface="Calibri"/>
            </a:endParaRPr>
          </a:p>
          <a:p>
            <a:pPr marL="114300">
              <a:lnSpc>
                <a:spcPct val="90000"/>
              </a:lnSpc>
              <a:spcAft>
                <a:spcPts val="600"/>
              </a:spcAft>
            </a:pPr>
            <a:r>
              <a:rPr lang="en-US" sz="1600"/>
              <a:t>Companies lack clarity on which spending category (R&amp;D, Administration, Marketing) drives profit.</a:t>
            </a:r>
            <a:endParaRPr lang="en-US" sz="1600">
              <a:ea typeface="Calibri"/>
              <a:cs typeface="Calibri"/>
            </a:endParaRPr>
          </a:p>
          <a:p>
            <a:pPr>
              <a:lnSpc>
                <a:spcPct val="90000"/>
              </a:lnSpc>
              <a:spcAft>
                <a:spcPts val="600"/>
              </a:spcAft>
            </a:pPr>
            <a:r>
              <a:rPr lang="en-US" sz="1600"/>
              <a:t>2. Analytical Approach</a:t>
            </a:r>
            <a:endParaRPr lang="en-US" sz="1600">
              <a:ea typeface="Calibri"/>
              <a:cs typeface="Calibri"/>
            </a:endParaRPr>
          </a:p>
          <a:p>
            <a:pPr marL="114300">
              <a:lnSpc>
                <a:spcPct val="90000"/>
              </a:lnSpc>
              <a:spcAft>
                <a:spcPts val="600"/>
              </a:spcAft>
            </a:pPr>
            <a:r>
              <a:rPr lang="en-US" sz="1600"/>
              <a:t>Clean and prepare financial data from 1,000 companies.</a:t>
            </a:r>
            <a:endParaRPr lang="en-US" sz="1600">
              <a:ea typeface="Calibri"/>
              <a:cs typeface="Calibri"/>
            </a:endParaRPr>
          </a:p>
          <a:p>
            <a:pPr marL="114300">
              <a:lnSpc>
                <a:spcPct val="90000"/>
              </a:lnSpc>
              <a:spcAft>
                <a:spcPts val="600"/>
              </a:spcAft>
            </a:pPr>
            <a:r>
              <a:rPr lang="en-US" sz="1600"/>
              <a:t>Apply regression and correlation analysis to quantify impact of each spending type.</a:t>
            </a:r>
            <a:endParaRPr lang="en-US" sz="1600">
              <a:ea typeface="Calibri"/>
              <a:cs typeface="Calibri"/>
            </a:endParaRPr>
          </a:p>
          <a:p>
            <a:pPr marL="114300">
              <a:lnSpc>
                <a:spcPct val="90000"/>
              </a:lnSpc>
              <a:spcAft>
                <a:spcPts val="600"/>
              </a:spcAft>
            </a:pPr>
            <a:r>
              <a:rPr lang="en-US" sz="1600"/>
              <a:t>Handle outliers and missing values to ensure model credibility.</a:t>
            </a:r>
            <a:endParaRPr lang="en-US" sz="1600">
              <a:ea typeface="Calibri"/>
              <a:cs typeface="Calibri"/>
            </a:endParaRPr>
          </a:p>
          <a:p>
            <a:pPr>
              <a:lnSpc>
                <a:spcPct val="90000"/>
              </a:lnSpc>
              <a:spcAft>
                <a:spcPts val="600"/>
              </a:spcAft>
            </a:pPr>
            <a:r>
              <a:rPr lang="en-US" sz="1600"/>
              <a:t>3. Model Development</a:t>
            </a:r>
            <a:endParaRPr lang="en-US" sz="1600">
              <a:ea typeface="Calibri"/>
              <a:cs typeface="Calibri"/>
            </a:endParaRPr>
          </a:p>
          <a:p>
            <a:pPr marL="114300">
              <a:lnSpc>
                <a:spcPct val="90000"/>
              </a:lnSpc>
              <a:spcAft>
                <a:spcPts val="600"/>
              </a:spcAft>
            </a:pPr>
            <a:r>
              <a:rPr lang="en-US" sz="1600"/>
              <a:t>Build a predictive model to estimate profit based on spending inputs.</a:t>
            </a:r>
            <a:endParaRPr lang="en-US" sz="1600">
              <a:ea typeface="Calibri"/>
              <a:cs typeface="Calibri"/>
            </a:endParaRPr>
          </a:p>
          <a:p>
            <a:pPr marL="114300">
              <a:lnSpc>
                <a:spcPct val="90000"/>
              </a:lnSpc>
              <a:spcAft>
                <a:spcPts val="600"/>
              </a:spcAft>
            </a:pPr>
            <a:r>
              <a:rPr lang="en-US" sz="1600"/>
              <a:t>Validate model performance using R², RMSE, and business interpretability.</a:t>
            </a:r>
            <a:endParaRPr lang="en-US" sz="1600">
              <a:ea typeface="Calibri"/>
              <a:cs typeface="Calibri"/>
            </a:endParaRPr>
          </a:p>
          <a:p>
            <a:pPr>
              <a:lnSpc>
                <a:spcPct val="90000"/>
              </a:lnSpc>
              <a:spcAft>
                <a:spcPts val="600"/>
              </a:spcAft>
            </a:pPr>
            <a:r>
              <a:rPr lang="en-US" sz="1600"/>
              <a:t>4. Insight Translation</a:t>
            </a:r>
            <a:endParaRPr lang="en-US" sz="1600">
              <a:ea typeface="Calibri"/>
              <a:cs typeface="Calibri"/>
            </a:endParaRPr>
          </a:p>
          <a:p>
            <a:pPr marL="114300">
              <a:lnSpc>
                <a:spcPct val="90000"/>
              </a:lnSpc>
              <a:spcAft>
                <a:spcPts val="600"/>
              </a:spcAft>
            </a:pPr>
            <a:r>
              <a:rPr lang="en-US" sz="1600"/>
              <a:t>Convert statistical findings into clear, actionable business recommendations.</a:t>
            </a:r>
            <a:endParaRPr lang="en-US" sz="1600">
              <a:ea typeface="Calibri"/>
              <a:cs typeface="Calibri"/>
            </a:endParaRPr>
          </a:p>
          <a:p>
            <a:pPr marL="114300">
              <a:lnSpc>
                <a:spcPct val="90000"/>
              </a:lnSpc>
              <a:spcAft>
                <a:spcPts val="600"/>
              </a:spcAft>
            </a:pPr>
            <a:r>
              <a:rPr lang="en-US" sz="1600"/>
              <a:t>Identify high-impact investment areas for profit maximization</a:t>
            </a:r>
            <a:endParaRPr lang="en-US" sz="1600">
              <a:ea typeface="Calibri"/>
              <a:cs typeface="Calibri"/>
            </a:endParaRPr>
          </a:p>
        </p:txBody>
      </p:sp>
    </p:spTree>
    <p:extLst>
      <p:ext uri="{BB962C8B-B14F-4D97-AF65-F5344CB8AC3E}">
        <p14:creationId xmlns:p14="http://schemas.microsoft.com/office/powerpoint/2010/main" val="2724240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45097B1-ECC4-EF0F-36B9-27F39913CECE}"/>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latin typeface="+mj-lt"/>
                <a:ea typeface="+mj-ea"/>
                <a:cs typeface="+mj-cs"/>
              </a:rPr>
              <a:t>Concepts</a:t>
            </a:r>
          </a:p>
        </p:txBody>
      </p:sp>
      <p:graphicFrame>
        <p:nvGraphicFramePr>
          <p:cNvPr id="42" name="TextBox 4">
            <a:extLst>
              <a:ext uri="{FF2B5EF4-FFF2-40B4-BE49-F238E27FC236}">
                <a16:creationId xmlns:a16="http://schemas.microsoft.com/office/drawing/2014/main" id="{B709DECF-9DA9-7D48-EE9F-B6ABF5E11EAB}"/>
              </a:ext>
            </a:extLst>
          </p:cNvPr>
          <p:cNvGraphicFramePr/>
          <p:nvPr>
            <p:extLst>
              <p:ext uri="{D42A27DB-BD31-4B8C-83A1-F6EECF244321}">
                <p14:modId xmlns:p14="http://schemas.microsoft.com/office/powerpoint/2010/main" val="64079756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884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extBox 2">
            <a:extLst>
              <a:ext uri="{FF2B5EF4-FFF2-40B4-BE49-F238E27FC236}">
                <a16:creationId xmlns:a16="http://schemas.microsoft.com/office/drawing/2014/main" id="{58662455-1E28-1A63-5EF6-6A6CCAD22A5C}"/>
              </a:ext>
            </a:extLst>
          </p:cNvPr>
          <p:cNvGraphicFramePr/>
          <p:nvPr/>
        </p:nvGraphicFramePr>
        <p:xfrm>
          <a:off x="625033" y="648182"/>
          <a:ext cx="9965802" cy="52475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0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798215-045B-F478-0844-3EED1C8D29B9}"/>
              </a:ext>
            </a:extLst>
          </p:cNvPr>
          <p:cNvSpPr txBox="1"/>
          <p:nvPr/>
        </p:nvSpPr>
        <p:spPr>
          <a:xfrm>
            <a:off x="548641" y="474562"/>
            <a:ext cx="9602356" cy="5940088"/>
          </a:xfrm>
          <a:prstGeom prst="rect">
            <a:avLst/>
          </a:prstGeom>
          <a:noFill/>
        </p:spPr>
        <p:txBody>
          <a:bodyPr wrap="square" lIns="91440" tIns="45720" rIns="91440" bIns="45720" anchor="t">
            <a:spAutoFit/>
          </a:bodyPr>
          <a:lstStyle/>
          <a:p>
            <a:pPr>
              <a:buNone/>
            </a:pPr>
            <a:r>
              <a:rPr lang="en-US" sz="2400" b="1"/>
              <a:t>Data Cleaning </a:t>
            </a:r>
          </a:p>
          <a:p>
            <a:pPr>
              <a:buNone/>
            </a:pPr>
            <a:br>
              <a:rPr lang="en-US"/>
            </a:br>
            <a:r>
              <a:rPr lang="en-US" sz="2000"/>
              <a:t>1.</a:t>
            </a:r>
            <a:r>
              <a:rPr lang="en-US" sz="2000" u="sng"/>
              <a:t>Missing Values</a:t>
            </a:r>
            <a:endParaRPr lang="en-US" sz="2000">
              <a:ea typeface="Calibri"/>
              <a:cs typeface="Calibri"/>
            </a:endParaRPr>
          </a:p>
          <a:p>
            <a:pPr marL="285750" indent="-285750">
              <a:buFont typeface="Arial" panose="020B0604020202020204" pitchFamily="34" charset="0"/>
              <a:buChar char="•"/>
            </a:pPr>
            <a:r>
              <a:rPr lang="en-US" sz="2000"/>
              <a:t>Profit column: At least one row has missing profit values </a:t>
            </a:r>
          </a:p>
          <a:p>
            <a:pPr marL="285750" indent="-285750">
              <a:buFont typeface="Arial" panose="020B0604020202020204" pitchFamily="34" charset="0"/>
              <a:buChar char="•"/>
            </a:pPr>
            <a:r>
              <a:rPr lang="en-US" sz="2000"/>
              <a:t>e.g., row with 101381,125429.5035,264393.9555,California, → Profit is blank).</a:t>
            </a:r>
            <a:endParaRPr lang="en-US" sz="2000">
              <a:ea typeface="Calibri"/>
              <a:cs typeface="Calibri"/>
            </a:endParaRPr>
          </a:p>
          <a:p>
            <a:pPr marL="285750" indent="-285750">
              <a:buFont typeface="Arial" panose="020B0604020202020204" pitchFamily="34" charset="0"/>
              <a:buChar char="•"/>
            </a:pPr>
            <a:r>
              <a:rPr lang="en-US" sz="2000" u="sng"/>
              <a:t>Impact</a:t>
            </a:r>
            <a:r>
              <a:rPr lang="en-US" sz="2000"/>
              <a:t>: Missing target variable values reduce the dataset’s usability for regression modeling. So, we removed these rows.</a:t>
            </a:r>
            <a:endParaRPr lang="en-US" sz="2000">
              <a:ea typeface="Calibri"/>
              <a:cs typeface="Calibri"/>
            </a:endParaRP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R&amp;D Spend column: Found empty rows in R&amp;D Spend column. Filled them with Mean values.</a:t>
            </a:r>
            <a:endParaRPr lang="en-US" sz="2000">
              <a:ea typeface="Calibri"/>
              <a:cs typeface="Calibri"/>
            </a:endParaRPr>
          </a:p>
          <a:p>
            <a:pPr marL="285750" indent="-285750">
              <a:buFont typeface="Arial" panose="020B0604020202020204" pitchFamily="34" charset="0"/>
              <a:buChar char="•"/>
            </a:pPr>
            <a:r>
              <a:rPr lang="en-US" sz="2000"/>
              <a:t>Marketing column: Filled the empty cells with Mean value.</a:t>
            </a:r>
            <a:endParaRPr lang="en-US" sz="2000">
              <a:ea typeface="Calibri"/>
              <a:cs typeface="Calibri"/>
            </a:endParaRPr>
          </a:p>
          <a:p>
            <a:pPr marL="285750" indent="-285750">
              <a:buFont typeface="Arial" panose="020B0604020202020204" pitchFamily="34" charset="0"/>
              <a:buChar char="•"/>
            </a:pPr>
            <a:r>
              <a:rPr lang="en-US" sz="2000"/>
              <a:t>Administration column: Filled the empty cells with Median value.</a:t>
            </a:r>
            <a:br>
              <a:rPr lang="en-US" sz="2000"/>
            </a:br>
            <a:endParaRPr lang="en-US" sz="2000">
              <a:ea typeface="Calibri"/>
              <a:cs typeface="Calibri"/>
            </a:endParaRPr>
          </a:p>
          <a:p>
            <a:endParaRPr lang="en-US" sz="2000">
              <a:ea typeface="Calibri"/>
              <a:cs typeface="Calibri"/>
            </a:endParaRPr>
          </a:p>
          <a:p>
            <a:pPr>
              <a:buNone/>
            </a:pPr>
            <a:r>
              <a:rPr lang="en-US" sz="2000"/>
              <a:t>2. </a:t>
            </a:r>
            <a:r>
              <a:rPr lang="en-US" sz="2000" u="sng"/>
              <a:t>Data Type Consistency</a:t>
            </a:r>
            <a:endParaRPr lang="en-US" sz="2000">
              <a:ea typeface="Calibri"/>
              <a:cs typeface="Calibri"/>
            </a:endParaRPr>
          </a:p>
          <a:p>
            <a:pPr marL="285750" indent="-285750">
              <a:buFont typeface="Arial" panose="020B0604020202020204" pitchFamily="34" charset="0"/>
              <a:buChar char="•"/>
            </a:pPr>
            <a:r>
              <a:rPr lang="en-US" sz="2000"/>
              <a:t>Numeric columns (R&amp;D Spend, Administration, Marketing Spend, Profit) are floats but need verification for consistent formatting.</a:t>
            </a:r>
            <a:endParaRPr lang="en-US" sz="2000">
              <a:ea typeface="Calibri"/>
              <a:cs typeface="Calibri"/>
            </a:endParaRPr>
          </a:p>
          <a:p>
            <a:pPr marL="285750" indent="-285750">
              <a:buFont typeface="Arial" panose="020B0604020202020204" pitchFamily="34" charset="0"/>
              <a:buChar char="•"/>
            </a:pPr>
            <a:r>
              <a:rPr lang="en-US" sz="2000" u="sng"/>
              <a:t>Impact</a:t>
            </a:r>
            <a:r>
              <a:rPr lang="en-US" sz="2000"/>
              <a:t>: Ensures smooth processing in modelling and avoids type conversion errors.</a:t>
            </a:r>
            <a:br>
              <a:rPr lang="en-US" sz="2000"/>
            </a:br>
            <a:endParaRPr lang="en-US"/>
          </a:p>
        </p:txBody>
      </p:sp>
      <p:pic>
        <p:nvPicPr>
          <p:cNvPr id="4" name="Picture 3" descr="A close up of numbers&#10;&#10;AI-generated content may be incorrect.">
            <a:extLst>
              <a:ext uri="{FF2B5EF4-FFF2-40B4-BE49-F238E27FC236}">
                <a16:creationId xmlns:a16="http://schemas.microsoft.com/office/drawing/2014/main" id="{DDE70552-77B2-7334-56B0-CF91511E4D11}"/>
              </a:ext>
            </a:extLst>
          </p:cNvPr>
          <p:cNvPicPr>
            <a:picLocks noChangeAspect="1"/>
          </p:cNvPicPr>
          <p:nvPr/>
        </p:nvPicPr>
        <p:blipFill>
          <a:blip r:embed="rId3"/>
          <a:stretch>
            <a:fillRect/>
          </a:stretch>
        </p:blipFill>
        <p:spPr>
          <a:xfrm>
            <a:off x="7724645" y="2418437"/>
            <a:ext cx="3924300" cy="476250"/>
          </a:xfrm>
          <a:prstGeom prst="rect">
            <a:avLst/>
          </a:prstGeom>
        </p:spPr>
      </p:pic>
    </p:spTree>
    <p:extLst>
      <p:ext uri="{BB962C8B-B14F-4D97-AF65-F5344CB8AC3E}">
        <p14:creationId xmlns:p14="http://schemas.microsoft.com/office/powerpoint/2010/main" val="778028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50AA4C1-487E-BB9C-3B9D-93926EB02847}"/>
              </a:ext>
            </a:extLst>
          </p:cNvPr>
          <p:cNvSpPr txBox="1"/>
          <p:nvPr/>
        </p:nvSpPr>
        <p:spPr>
          <a:xfrm>
            <a:off x="572493" y="1858404"/>
            <a:ext cx="7710875" cy="4320877"/>
          </a:xfrm>
          <a:prstGeom prst="rect">
            <a:avLst/>
          </a:prstGeom>
        </p:spPr>
        <p:txBody>
          <a:bodyPr vert="horz" lIns="91440" tIns="45720" rIns="91440" bIns="45720" rtlCol="0" anchor="t">
            <a:normAutofit lnSpcReduction="10000"/>
          </a:bodyPr>
          <a:lstStyle/>
          <a:p>
            <a:pPr>
              <a:lnSpc>
                <a:spcPct val="90000"/>
              </a:lnSpc>
              <a:spcAft>
                <a:spcPts val="600"/>
              </a:spcAft>
            </a:pPr>
            <a:br>
              <a:rPr lang="en-US"/>
            </a:br>
            <a:r>
              <a:rPr lang="en-US"/>
              <a:t>3. </a:t>
            </a:r>
            <a:r>
              <a:rPr lang="en-US" u="sng"/>
              <a:t>Inconsistent Categorical Values</a:t>
            </a:r>
            <a:endParaRPr lang="en-US" u="sng">
              <a:ea typeface="Calibri"/>
              <a:cs typeface="Calibri"/>
            </a:endParaRPr>
          </a:p>
          <a:p>
            <a:pPr marL="285750" indent="-228600">
              <a:lnSpc>
                <a:spcPct val="90000"/>
              </a:lnSpc>
              <a:spcAft>
                <a:spcPts val="600"/>
              </a:spcAft>
              <a:buFont typeface="Arial" panose="020B0604020202020204" pitchFamily="34" charset="0"/>
              <a:buChar char="•"/>
            </a:pPr>
            <a:r>
              <a:rPr lang="en-US"/>
              <a:t>State column: Inconsistencies in capitalization and spelling:</a:t>
            </a:r>
            <a:br>
              <a:rPr lang="en-US"/>
            </a:br>
            <a:r>
              <a:rPr lang="en-US"/>
              <a:t>"NEW York", "New York", "NEW York" → same state but different formats.</a:t>
            </a:r>
            <a:endParaRPr lang="en-US">
              <a:ea typeface="Calibri"/>
              <a:cs typeface="Calibri"/>
            </a:endParaRPr>
          </a:p>
          <a:p>
            <a:pPr marL="742950" lvl="1" indent="-228600">
              <a:lnSpc>
                <a:spcPct val="90000"/>
              </a:lnSpc>
              <a:spcAft>
                <a:spcPts val="600"/>
              </a:spcAft>
              <a:buFont typeface="Arial" panose="020B0604020202020204" pitchFamily="34" charset="0"/>
              <a:buChar char="•"/>
            </a:pPr>
            <a:endParaRPr lang="en-US">
              <a:ea typeface="Calibri"/>
              <a:cs typeface="Calibri"/>
            </a:endParaRPr>
          </a:p>
          <a:p>
            <a:pPr marL="285750" indent="-228600">
              <a:lnSpc>
                <a:spcPct val="90000"/>
              </a:lnSpc>
              <a:spcAft>
                <a:spcPts val="600"/>
              </a:spcAft>
              <a:buFont typeface="Arial" panose="020B0604020202020204" pitchFamily="34" charset="0"/>
              <a:buChar char="•"/>
            </a:pPr>
            <a:r>
              <a:rPr lang="en-US"/>
              <a:t>Impact: Causes duplication in grouping/aggregation and misleads state-level analysis. Requires standardization (e.g., all to "New York").</a:t>
            </a:r>
            <a:endParaRPr lang="en-US">
              <a:ea typeface="Calibri"/>
              <a:cs typeface="Calibri"/>
            </a:endParaRPr>
          </a:p>
          <a:p>
            <a:pPr>
              <a:lnSpc>
                <a:spcPct val="90000"/>
              </a:lnSpc>
              <a:spcAft>
                <a:spcPts val="600"/>
              </a:spcAft>
            </a:pPr>
            <a:br>
              <a:rPr lang="en-US" sz="1500"/>
            </a:br>
            <a:endParaRPr lang="en-US">
              <a:ea typeface="Calibri"/>
              <a:cs typeface="Calibri"/>
            </a:endParaRPr>
          </a:p>
          <a:p>
            <a:pPr>
              <a:lnSpc>
                <a:spcPct val="90000"/>
              </a:lnSpc>
              <a:spcAft>
                <a:spcPts val="600"/>
              </a:spcAft>
            </a:pPr>
            <a:r>
              <a:rPr lang="en-US"/>
              <a:t>4. </a:t>
            </a:r>
            <a:r>
              <a:rPr lang="en-US" u="sng"/>
              <a:t>Zero Spending</a:t>
            </a:r>
            <a:endParaRPr lang="en-US" u="sng">
              <a:ea typeface="Calibri"/>
              <a:cs typeface="Calibri"/>
            </a:endParaRPr>
          </a:p>
          <a:p>
            <a:pPr marL="285750" indent="-285750">
              <a:lnSpc>
                <a:spcPct val="90000"/>
              </a:lnSpc>
              <a:spcAft>
                <a:spcPts val="600"/>
              </a:spcAft>
              <a:buFont typeface="Arial"/>
              <a:buChar char="•"/>
            </a:pPr>
            <a:r>
              <a:rPr lang="en-US"/>
              <a:t>R&amp;D Spend: Some companies report 0 (e.g.,0,135426.92,0,California,42559.73).</a:t>
            </a:r>
            <a:endParaRPr lang="en-US">
              <a:ea typeface="Calibri"/>
              <a:cs typeface="Calibri"/>
            </a:endParaRPr>
          </a:p>
          <a:p>
            <a:pPr marL="285750" indent="-285750">
              <a:lnSpc>
                <a:spcPct val="90000"/>
              </a:lnSpc>
              <a:spcAft>
                <a:spcPts val="600"/>
              </a:spcAft>
              <a:buFont typeface="Arial"/>
              <a:buChar char="•"/>
            </a:pPr>
            <a:r>
              <a:rPr lang="en-US"/>
              <a:t>Marketing Spend: Several rows show 0 (e.g., 86419.7,153514.11,0,New York,122776.86).</a:t>
            </a:r>
            <a:endParaRPr lang="en-US">
              <a:ea typeface="Calibri" panose="020F0502020204030204"/>
              <a:cs typeface="Calibri" panose="020F0502020204030204"/>
            </a:endParaRPr>
          </a:p>
          <a:p>
            <a:pPr marL="285750" indent="-285750">
              <a:lnSpc>
                <a:spcPct val="90000"/>
              </a:lnSpc>
              <a:spcAft>
                <a:spcPts val="600"/>
              </a:spcAft>
              <a:buFont typeface="Arial"/>
              <a:buChar char="•"/>
            </a:pPr>
            <a:r>
              <a:rPr lang="en-US"/>
              <a:t>These may represent genuine business strategies (no R&amp;D/Marketing).</a:t>
            </a:r>
            <a:endParaRPr lang="en-US">
              <a:ea typeface="Calibri"/>
              <a:cs typeface="Calibri"/>
            </a:endParaRPr>
          </a:p>
          <a:p>
            <a:pPr marL="342900" indent="-228600">
              <a:lnSpc>
                <a:spcPct val="90000"/>
              </a:lnSpc>
              <a:spcAft>
                <a:spcPts val="600"/>
              </a:spcAft>
              <a:buFont typeface="Arial" panose="020B0604020202020204" pitchFamily="34" charset="0"/>
              <a:buChar char="•"/>
            </a:pPr>
            <a:endParaRPr lang="en-US">
              <a:ea typeface="Calibri"/>
              <a:cs typeface="Calibri"/>
            </a:endParaRPr>
          </a:p>
        </p:txBody>
      </p:sp>
      <p:pic>
        <p:nvPicPr>
          <p:cNvPr id="5" name="Picture 4">
            <a:extLst>
              <a:ext uri="{FF2B5EF4-FFF2-40B4-BE49-F238E27FC236}">
                <a16:creationId xmlns:a16="http://schemas.microsoft.com/office/drawing/2014/main" id="{9115B97C-005B-DFE9-A484-79A51526B677}"/>
              </a:ext>
            </a:extLst>
          </p:cNvPr>
          <p:cNvPicPr>
            <a:picLocks noChangeAspect="1"/>
          </p:cNvPicPr>
          <p:nvPr/>
        </p:nvPicPr>
        <p:blipFill>
          <a:blip r:embed="rId3"/>
          <a:srcRect t="10674" r="-2" b="2890"/>
          <a:stretch>
            <a:fillRect/>
          </a:stretch>
        </p:blipFill>
        <p:spPr>
          <a:xfrm>
            <a:off x="8751423" y="2071565"/>
            <a:ext cx="2114506" cy="2225129"/>
          </a:xfrm>
          <a:prstGeom prst="rect">
            <a:avLst/>
          </a:prstGeom>
        </p:spPr>
      </p:pic>
      <p:sp>
        <p:nvSpPr>
          <p:cNvPr id="2" name="TextBox 1">
            <a:extLst>
              <a:ext uri="{FF2B5EF4-FFF2-40B4-BE49-F238E27FC236}">
                <a16:creationId xmlns:a16="http://schemas.microsoft.com/office/drawing/2014/main" id="{82E25B13-DBD8-4157-4344-9A5D29AA9C45}"/>
              </a:ext>
            </a:extLst>
          </p:cNvPr>
          <p:cNvSpPr txBox="1"/>
          <p:nvPr/>
        </p:nvSpPr>
        <p:spPr>
          <a:xfrm>
            <a:off x="571500" y="941294"/>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a:latin typeface="Calibri"/>
              </a:rPr>
              <a:t>Data Cleaning </a:t>
            </a:r>
            <a:endParaRPr lang="en-US"/>
          </a:p>
          <a:p>
            <a:pPr algn="ctr"/>
            <a:endParaRPr lang="en-US"/>
          </a:p>
        </p:txBody>
      </p:sp>
    </p:spTree>
    <p:extLst>
      <p:ext uri="{BB962C8B-B14F-4D97-AF65-F5344CB8AC3E}">
        <p14:creationId xmlns:p14="http://schemas.microsoft.com/office/powerpoint/2010/main" val="1344056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B1F1B0-19C6-AC31-F7EA-C658DBEB5DBD}"/>
              </a:ext>
            </a:extLst>
          </p:cNvPr>
          <p:cNvPicPr>
            <a:picLocks noChangeAspect="1"/>
          </p:cNvPicPr>
          <p:nvPr/>
        </p:nvPicPr>
        <p:blipFill>
          <a:blip r:embed="rId3"/>
          <a:stretch>
            <a:fillRect/>
          </a:stretch>
        </p:blipFill>
        <p:spPr>
          <a:xfrm>
            <a:off x="7219378" y="714606"/>
            <a:ext cx="3700495" cy="2357003"/>
          </a:xfrm>
          <a:prstGeom prst="rect">
            <a:avLst/>
          </a:prstGeom>
        </p:spPr>
      </p:pic>
      <p:pic>
        <p:nvPicPr>
          <p:cNvPr id="5" name="Picture 4">
            <a:extLst>
              <a:ext uri="{FF2B5EF4-FFF2-40B4-BE49-F238E27FC236}">
                <a16:creationId xmlns:a16="http://schemas.microsoft.com/office/drawing/2014/main" id="{A21C1CB0-C2E0-427C-3830-457A76A24BC5}"/>
              </a:ext>
            </a:extLst>
          </p:cNvPr>
          <p:cNvPicPr>
            <a:picLocks noChangeAspect="1"/>
          </p:cNvPicPr>
          <p:nvPr/>
        </p:nvPicPr>
        <p:blipFill>
          <a:blip r:embed="rId4"/>
          <a:stretch>
            <a:fillRect/>
          </a:stretch>
        </p:blipFill>
        <p:spPr>
          <a:xfrm>
            <a:off x="6773034" y="3588049"/>
            <a:ext cx="4593992" cy="2921849"/>
          </a:xfrm>
          <a:prstGeom prst="rect">
            <a:avLst/>
          </a:prstGeom>
        </p:spPr>
      </p:pic>
      <p:sp>
        <p:nvSpPr>
          <p:cNvPr id="4" name="TextBox 3">
            <a:extLst>
              <a:ext uri="{FF2B5EF4-FFF2-40B4-BE49-F238E27FC236}">
                <a16:creationId xmlns:a16="http://schemas.microsoft.com/office/drawing/2014/main" id="{E61E0D55-DE0E-21E9-22D5-83718A901D3E}"/>
              </a:ext>
            </a:extLst>
          </p:cNvPr>
          <p:cNvSpPr txBox="1"/>
          <p:nvPr/>
        </p:nvSpPr>
        <p:spPr>
          <a:xfrm>
            <a:off x="352284" y="1072496"/>
            <a:ext cx="6096000" cy="2554545"/>
          </a:xfrm>
          <a:prstGeom prst="rect">
            <a:avLst/>
          </a:prstGeom>
          <a:noFill/>
        </p:spPr>
        <p:txBody>
          <a:bodyPr wrap="square" lIns="91440" tIns="45720" rIns="91440" bIns="45720" anchor="t">
            <a:spAutoFit/>
          </a:bodyPr>
          <a:lstStyle/>
          <a:p>
            <a:pPr marL="285750" indent="-285750">
              <a:buFont typeface="Arial"/>
              <a:buChar char="•"/>
            </a:pPr>
            <a:r>
              <a:rPr lang="en-US" sz="2000"/>
              <a:t>Distribution: Bimodal distribution with peaks around $50K and $120K</a:t>
            </a:r>
            <a:endParaRPr lang="en-US" sz="2000">
              <a:ea typeface="Calibri"/>
              <a:cs typeface="Calibri"/>
            </a:endParaRPr>
          </a:p>
          <a:p>
            <a:pPr marL="285750" indent="-285750">
              <a:buFont typeface="Arial"/>
              <a:buChar char="•"/>
            </a:pPr>
            <a:r>
              <a:rPr lang="en-US" sz="2000"/>
              <a:t>Range: $0 - $165,349</a:t>
            </a:r>
            <a:endParaRPr lang="en-US" sz="2000">
              <a:ea typeface="Calibri" panose="020F0502020204030204"/>
              <a:cs typeface="Calibri" panose="020F0502020204030204"/>
            </a:endParaRPr>
          </a:p>
          <a:p>
            <a:pPr marL="285750" indent="-285750">
              <a:buFont typeface="Arial"/>
              <a:buChar char="•"/>
            </a:pPr>
            <a:r>
              <a:rPr lang="en-US" sz="2000"/>
              <a:t>Pattern: Two distinct spending strategies visible.</a:t>
            </a:r>
          </a:p>
          <a:p>
            <a:pPr marL="285750" indent="-285750">
              <a:buFont typeface="Arial"/>
              <a:buChar char="•"/>
            </a:pPr>
            <a:r>
              <a:rPr lang="en-US" sz="2000" b="1">
                <a:ea typeface="+mn-lt"/>
                <a:cs typeface="+mn-lt"/>
              </a:rPr>
              <a:t>Outliers:</a:t>
            </a:r>
            <a:r>
              <a:rPr lang="en-US" sz="2000">
                <a:ea typeface="+mn-lt"/>
                <a:cs typeface="+mn-lt"/>
              </a:rPr>
              <a:t> 12 extreme high-value outliers detected</a:t>
            </a:r>
          </a:p>
          <a:p>
            <a:pPr marL="285750" indent="-285750">
              <a:buFont typeface="Arial"/>
              <a:buChar char="•"/>
            </a:pPr>
            <a:r>
              <a:rPr lang="en-US" sz="2000" b="1">
                <a:ea typeface="+mn-lt"/>
                <a:cs typeface="+mn-lt"/>
              </a:rPr>
              <a:t>Business Insight:</a:t>
            </a:r>
            <a:r>
              <a:rPr lang="en-US" sz="2000">
                <a:ea typeface="+mn-lt"/>
                <a:cs typeface="+mn-lt"/>
              </a:rPr>
              <a:t> Companies cluster into two groups: conservative R&amp;D investors and aggressive R&amp;D spenders</a:t>
            </a:r>
            <a:endParaRPr lang="en-US" sz="2000">
              <a:ea typeface="Calibri"/>
              <a:cs typeface="Calibri"/>
            </a:endParaRPr>
          </a:p>
        </p:txBody>
      </p:sp>
      <p:sp>
        <p:nvSpPr>
          <p:cNvPr id="8" name="TextBox 7">
            <a:extLst>
              <a:ext uri="{FF2B5EF4-FFF2-40B4-BE49-F238E27FC236}">
                <a16:creationId xmlns:a16="http://schemas.microsoft.com/office/drawing/2014/main" id="{0515AF3B-1D10-B770-07D6-FAD985EF20E5}"/>
              </a:ext>
            </a:extLst>
          </p:cNvPr>
          <p:cNvSpPr txBox="1"/>
          <p:nvPr/>
        </p:nvSpPr>
        <p:spPr>
          <a:xfrm>
            <a:off x="352284" y="3903010"/>
            <a:ext cx="6096000" cy="2554545"/>
          </a:xfrm>
          <a:prstGeom prst="rect">
            <a:avLst/>
          </a:prstGeom>
          <a:noFill/>
        </p:spPr>
        <p:txBody>
          <a:bodyPr wrap="square" lIns="91440" tIns="45720" rIns="91440" bIns="45720" anchor="t">
            <a:spAutoFit/>
          </a:bodyPr>
          <a:lstStyle/>
          <a:p>
            <a:pPr marL="285750" indent="-285750">
              <a:buFont typeface="Arial"/>
              <a:buChar char="•"/>
            </a:pPr>
            <a:r>
              <a:rPr lang="en-US" sz="2000"/>
              <a:t>Distribution: Near-normal distribution (bell curve)</a:t>
            </a:r>
            <a:endParaRPr lang="en-US" sz="2000">
              <a:ea typeface="Calibri"/>
              <a:cs typeface="Calibri"/>
            </a:endParaRPr>
          </a:p>
          <a:p>
            <a:pPr marL="285750" indent="-285750">
              <a:buFont typeface="Arial"/>
              <a:buChar char="•"/>
            </a:pPr>
            <a:r>
              <a:rPr lang="en-US" sz="2000"/>
              <a:t>Central tendency: Tightly clustered around $122,000</a:t>
            </a:r>
            <a:endParaRPr lang="en-US" sz="2000">
              <a:ea typeface="Calibri" panose="020F0502020204030204"/>
              <a:cs typeface="Calibri" panose="020F0502020204030204"/>
            </a:endParaRPr>
          </a:p>
          <a:p>
            <a:pPr marL="285750" indent="-285750">
              <a:buFont typeface="Arial"/>
              <a:buChar char="•"/>
            </a:pPr>
            <a:r>
              <a:rPr lang="en-US" sz="2000"/>
              <a:t>Range: $51,283 - $321,652</a:t>
            </a:r>
            <a:endParaRPr lang="en-US" sz="2000">
              <a:ea typeface="Calibri" panose="020F0502020204030204"/>
              <a:cs typeface="Calibri" panose="020F0502020204030204"/>
            </a:endParaRPr>
          </a:p>
          <a:p>
            <a:pPr marL="285750" indent="-285750">
              <a:buFont typeface="Arial"/>
              <a:buChar char="•"/>
            </a:pPr>
            <a:r>
              <a:rPr lang="en-US" sz="2000"/>
              <a:t>Consistency: Lowest variability among all spending categories</a:t>
            </a:r>
          </a:p>
          <a:p>
            <a:pPr marL="285750" indent="-285750">
              <a:buFont typeface="Arial"/>
              <a:buChar char="•"/>
            </a:pPr>
            <a:r>
              <a:rPr lang="en-US" sz="2000" b="1">
                <a:ea typeface="+mn-lt"/>
                <a:cs typeface="+mn-lt"/>
              </a:rPr>
              <a:t>Business Insight:</a:t>
            </a:r>
            <a:r>
              <a:rPr lang="en-US" sz="2000">
                <a:ea typeface="+mn-lt"/>
                <a:cs typeface="+mn-lt"/>
              </a:rPr>
              <a:t> Administration costs are relatively standardized across companies, with most maintaining similar overhead levels</a:t>
            </a:r>
            <a:endParaRPr lang="en-US" sz="2000">
              <a:ea typeface="Calibri"/>
              <a:cs typeface="Calibri"/>
            </a:endParaRPr>
          </a:p>
        </p:txBody>
      </p:sp>
      <p:sp>
        <p:nvSpPr>
          <p:cNvPr id="2" name="TextBox 1">
            <a:extLst>
              <a:ext uri="{FF2B5EF4-FFF2-40B4-BE49-F238E27FC236}">
                <a16:creationId xmlns:a16="http://schemas.microsoft.com/office/drawing/2014/main" id="{BEE345FE-906B-7B3C-7660-D086E152543F}"/>
              </a:ext>
            </a:extLst>
          </p:cNvPr>
          <p:cNvSpPr txBox="1"/>
          <p:nvPr/>
        </p:nvSpPr>
        <p:spPr>
          <a:xfrm>
            <a:off x="354904" y="339247"/>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Calibri"/>
                <a:cs typeface="Calibri"/>
              </a:rPr>
              <a:t>Exploratory Data Analysis (EDA)</a:t>
            </a:r>
          </a:p>
          <a:p>
            <a:pPr algn="ctr"/>
            <a:endParaRPr lang="en-US"/>
          </a:p>
        </p:txBody>
      </p:sp>
    </p:spTree>
    <p:extLst>
      <p:ext uri="{BB962C8B-B14F-4D97-AF65-F5344CB8AC3E}">
        <p14:creationId xmlns:p14="http://schemas.microsoft.com/office/powerpoint/2010/main" val="314889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D2D5AB8-9658-66BA-7E51-2D07BF65DDF5}"/>
              </a:ext>
            </a:extLst>
          </p:cNvPr>
          <p:cNvPicPr>
            <a:picLocks noChangeAspect="1"/>
          </p:cNvPicPr>
          <p:nvPr/>
        </p:nvPicPr>
        <p:blipFill>
          <a:blip r:embed="rId3"/>
          <a:stretch>
            <a:fillRect/>
          </a:stretch>
        </p:blipFill>
        <p:spPr>
          <a:xfrm>
            <a:off x="7384177" y="3650764"/>
            <a:ext cx="4254162" cy="2706415"/>
          </a:xfrm>
          <a:prstGeom prst="rect">
            <a:avLst/>
          </a:prstGeom>
        </p:spPr>
      </p:pic>
      <p:pic>
        <p:nvPicPr>
          <p:cNvPr id="7" name="Picture 6">
            <a:extLst>
              <a:ext uri="{FF2B5EF4-FFF2-40B4-BE49-F238E27FC236}">
                <a16:creationId xmlns:a16="http://schemas.microsoft.com/office/drawing/2014/main" id="{CF0F84D5-24C5-49FA-A1CB-69F7890E2849}"/>
              </a:ext>
            </a:extLst>
          </p:cNvPr>
          <p:cNvPicPr>
            <a:picLocks noChangeAspect="1"/>
          </p:cNvPicPr>
          <p:nvPr/>
        </p:nvPicPr>
        <p:blipFill>
          <a:blip r:embed="rId4"/>
          <a:stretch>
            <a:fillRect/>
          </a:stretch>
        </p:blipFill>
        <p:spPr>
          <a:xfrm>
            <a:off x="7384177" y="569965"/>
            <a:ext cx="4100777" cy="2695975"/>
          </a:xfrm>
          <a:prstGeom prst="rect">
            <a:avLst/>
          </a:prstGeom>
        </p:spPr>
      </p:pic>
      <p:sp>
        <p:nvSpPr>
          <p:cNvPr id="3" name="TextBox 2">
            <a:extLst>
              <a:ext uri="{FF2B5EF4-FFF2-40B4-BE49-F238E27FC236}">
                <a16:creationId xmlns:a16="http://schemas.microsoft.com/office/drawing/2014/main" id="{9D8E0B56-0C1A-852B-45F4-BF85F9EB9196}"/>
              </a:ext>
            </a:extLst>
          </p:cNvPr>
          <p:cNvSpPr txBox="1"/>
          <p:nvPr/>
        </p:nvSpPr>
        <p:spPr>
          <a:xfrm>
            <a:off x="623540" y="1109443"/>
            <a:ext cx="6096000" cy="2246769"/>
          </a:xfrm>
          <a:prstGeom prst="rect">
            <a:avLst/>
          </a:prstGeom>
          <a:noFill/>
        </p:spPr>
        <p:txBody>
          <a:bodyPr wrap="square" lIns="91440" tIns="45720" rIns="91440" bIns="45720" anchor="t">
            <a:spAutoFit/>
          </a:bodyPr>
          <a:lstStyle/>
          <a:p>
            <a:pPr marL="285750" indent="-285750">
              <a:buFont typeface="Arial"/>
              <a:buChar char="•"/>
            </a:pPr>
            <a:r>
              <a:rPr lang="en-US" sz="2000"/>
              <a:t>Distribution: Right-skewed with widespread Range: $0 - $471,784 (widest range)</a:t>
            </a:r>
            <a:endParaRPr lang="en-US" sz="2000">
              <a:ea typeface="Calibri"/>
              <a:cs typeface="Calibri"/>
            </a:endParaRPr>
          </a:p>
          <a:p>
            <a:pPr marL="285750" indent="-285750">
              <a:buFont typeface="Arial"/>
              <a:buChar char="•"/>
            </a:pPr>
            <a:r>
              <a:rPr lang="en-US" sz="2000"/>
              <a:t>Peak: Around $200K with long tail </a:t>
            </a:r>
            <a:endParaRPr lang="en-US" sz="2000">
              <a:ea typeface="Calibri" panose="020F0502020204030204"/>
              <a:cs typeface="Calibri" panose="020F0502020204030204"/>
            </a:endParaRPr>
          </a:p>
          <a:p>
            <a:pPr marL="285750" indent="-285750">
              <a:buFont typeface="Arial"/>
              <a:buChar char="•"/>
            </a:pPr>
            <a:r>
              <a:rPr lang="en-US" sz="2000"/>
              <a:t>Variability: Highest standard deviation ($91,698)</a:t>
            </a:r>
          </a:p>
          <a:p>
            <a:pPr marL="285750" indent="-285750">
              <a:buFont typeface="Arial"/>
              <a:buChar char="•"/>
            </a:pPr>
            <a:r>
              <a:rPr lang="en-US" sz="2000" b="1">
                <a:ea typeface="+mn-lt"/>
                <a:cs typeface="+mn-lt"/>
              </a:rPr>
              <a:t>Business Insight:</a:t>
            </a:r>
            <a:r>
              <a:rPr lang="en-US" sz="2000">
                <a:ea typeface="+mn-lt"/>
                <a:cs typeface="+mn-lt"/>
              </a:rPr>
              <a:t> Marketing budgets vary dramatically, indicating diverse market strategies from minimal to aggressive spending</a:t>
            </a:r>
            <a:endParaRPr lang="en-US" sz="2000">
              <a:ea typeface="Calibri"/>
              <a:cs typeface="Calibri"/>
            </a:endParaRPr>
          </a:p>
        </p:txBody>
      </p:sp>
      <p:sp>
        <p:nvSpPr>
          <p:cNvPr id="5" name="TextBox 4">
            <a:extLst>
              <a:ext uri="{FF2B5EF4-FFF2-40B4-BE49-F238E27FC236}">
                <a16:creationId xmlns:a16="http://schemas.microsoft.com/office/drawing/2014/main" id="{A6EFF176-28CC-7950-75B3-6FB275D39C3D}"/>
              </a:ext>
            </a:extLst>
          </p:cNvPr>
          <p:cNvSpPr txBox="1"/>
          <p:nvPr/>
        </p:nvSpPr>
        <p:spPr>
          <a:xfrm>
            <a:off x="623540" y="3991915"/>
            <a:ext cx="6096000" cy="2246769"/>
          </a:xfrm>
          <a:prstGeom prst="rect">
            <a:avLst/>
          </a:prstGeom>
          <a:noFill/>
        </p:spPr>
        <p:txBody>
          <a:bodyPr wrap="square" lIns="91440" tIns="45720" rIns="91440" bIns="45720" anchor="t">
            <a:spAutoFit/>
          </a:bodyPr>
          <a:lstStyle/>
          <a:p>
            <a:pPr marL="285750" indent="-285750">
              <a:buFont typeface="Arial"/>
              <a:buChar char="•"/>
            </a:pPr>
            <a:r>
              <a:rPr lang="en-US" sz="2000"/>
              <a:t>Distribution: Slightly bimodal, roughly normal </a:t>
            </a:r>
            <a:endParaRPr lang="en-US" sz="2000">
              <a:ea typeface="Calibri" panose="020F0502020204030204"/>
              <a:cs typeface="Calibri" panose="020F0502020204030204"/>
            </a:endParaRPr>
          </a:p>
          <a:p>
            <a:pPr marL="285750" indent="-285750">
              <a:buFont typeface="Arial"/>
              <a:buChar char="•"/>
            </a:pPr>
            <a:r>
              <a:rPr lang="en-US" sz="2000"/>
              <a:t>Mean Profit: $119,530 </a:t>
            </a:r>
            <a:endParaRPr lang="en-US" sz="2000">
              <a:ea typeface="Calibri" panose="020F0502020204030204"/>
              <a:cs typeface="Calibri" panose="020F0502020204030204"/>
            </a:endParaRPr>
          </a:p>
          <a:p>
            <a:pPr marL="285750" indent="-285750">
              <a:buFont typeface="Arial"/>
              <a:buChar char="•"/>
            </a:pPr>
            <a:r>
              <a:rPr lang="en-US" sz="2000"/>
              <a:t>Range: $14,681 - $476,485</a:t>
            </a:r>
            <a:endParaRPr lang="en-US" sz="2000">
              <a:ea typeface="Calibri" panose="020F0502020204030204"/>
              <a:cs typeface="Calibri" panose="020F0502020204030204"/>
            </a:endParaRPr>
          </a:p>
          <a:p>
            <a:pPr marL="285750" indent="-285750">
              <a:buFont typeface="Arial"/>
              <a:buChar char="•"/>
            </a:pPr>
            <a:r>
              <a:rPr lang="en-US" sz="2000"/>
              <a:t>Spread: Wide variance in profitability outcomes</a:t>
            </a:r>
          </a:p>
          <a:p>
            <a:pPr marL="285750" indent="-285750">
              <a:buFont typeface="Arial"/>
              <a:buChar char="•"/>
            </a:pPr>
            <a:r>
              <a:rPr lang="en-US" sz="2000" b="1">
                <a:ea typeface="+mn-lt"/>
                <a:cs typeface="+mn-lt"/>
              </a:rPr>
              <a:t>Business Insight:</a:t>
            </a:r>
            <a:r>
              <a:rPr lang="en-US" sz="2000">
                <a:ea typeface="+mn-lt"/>
                <a:cs typeface="+mn-lt"/>
              </a:rPr>
              <a:t> Profit distribution suggests spending decisions create winners and losers, with some companies achieving 30x the profit of others</a:t>
            </a:r>
            <a:endParaRPr lang="en-US" sz="2000">
              <a:ea typeface="Calibri"/>
              <a:cs typeface="Calibri"/>
            </a:endParaRPr>
          </a:p>
        </p:txBody>
      </p:sp>
      <p:sp>
        <p:nvSpPr>
          <p:cNvPr id="2" name="TextBox 1">
            <a:extLst>
              <a:ext uri="{FF2B5EF4-FFF2-40B4-BE49-F238E27FC236}">
                <a16:creationId xmlns:a16="http://schemas.microsoft.com/office/drawing/2014/main" id="{3F025551-A571-48AF-E18D-01FCDE181CC3}"/>
              </a:ext>
            </a:extLst>
          </p:cNvPr>
          <p:cNvSpPr txBox="1"/>
          <p:nvPr/>
        </p:nvSpPr>
        <p:spPr>
          <a:xfrm>
            <a:off x="187890" y="297493"/>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400" b="1" baseline="0">
                <a:latin typeface="Calibri"/>
                <a:ea typeface="Segoe UI"/>
                <a:cs typeface="Segoe UI"/>
              </a:rPr>
              <a:t>Exploratory Data Analysis (EDA)</a:t>
            </a:r>
            <a:r>
              <a:rPr lang="en-US" sz="2400">
                <a:latin typeface="Calibri"/>
                <a:ea typeface="Segoe UI"/>
                <a:cs typeface="Segoe UI"/>
              </a:rPr>
              <a:t>​</a:t>
            </a:r>
          </a:p>
          <a:p>
            <a:pPr algn="ctr" rtl="0"/>
            <a:r>
              <a:rPr lang="en-US" sz="1800">
                <a:latin typeface="Calibri"/>
                <a:ea typeface="Segoe UI"/>
                <a:cs typeface="Segoe UI"/>
              </a:rPr>
              <a:t>​</a:t>
            </a:r>
          </a:p>
          <a:p>
            <a:pPr algn="ctr"/>
            <a:endParaRPr lang="en-US"/>
          </a:p>
        </p:txBody>
      </p:sp>
    </p:spTree>
    <p:extLst>
      <p:ext uri="{BB962C8B-B14F-4D97-AF65-F5344CB8AC3E}">
        <p14:creationId xmlns:p14="http://schemas.microsoft.com/office/powerpoint/2010/main" val="95417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C6B48D-7933-6062-6797-F51D8EFE6D88}"/>
              </a:ext>
            </a:extLst>
          </p:cNvPr>
          <p:cNvSpPr txBox="1"/>
          <p:nvPr/>
        </p:nvSpPr>
        <p:spPr>
          <a:xfrm>
            <a:off x="346686" y="696770"/>
            <a:ext cx="6568651"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mn-lt"/>
                <a:cs typeface="+mn-lt"/>
              </a:rPr>
              <a:t>Comparative Boxplot Analysis</a:t>
            </a:r>
            <a:endParaRPr lang="en-US" sz="2400" b="1">
              <a:ea typeface="Calibri"/>
              <a:cs typeface="Calibri"/>
            </a:endParaRPr>
          </a:p>
          <a:p>
            <a:endParaRPr lang="en-US" b="1">
              <a:ea typeface="+mn-lt"/>
              <a:cs typeface="+mn-lt"/>
            </a:endParaRPr>
          </a:p>
          <a:p>
            <a:r>
              <a:rPr lang="en-US" sz="2000" b="1">
                <a:ea typeface="+mn-lt"/>
                <a:cs typeface="+mn-lt"/>
              </a:rPr>
              <a:t>Key Findings:</a:t>
            </a:r>
            <a:endParaRPr lang="en-US" sz="2000">
              <a:ea typeface="Calibri"/>
              <a:cs typeface="Calibri"/>
            </a:endParaRPr>
          </a:p>
          <a:p>
            <a:pPr marL="285750" indent="-285750">
              <a:buFont typeface="Arial"/>
              <a:buChar char="•"/>
            </a:pPr>
            <a:r>
              <a:rPr lang="en-US" sz="2000" b="1">
                <a:ea typeface="+mn-lt"/>
                <a:cs typeface="+mn-lt"/>
              </a:rPr>
              <a:t>R&amp;D:</a:t>
            </a:r>
            <a:r>
              <a:rPr lang="en-US" sz="2000">
                <a:ea typeface="+mn-lt"/>
                <a:cs typeface="+mn-lt"/>
              </a:rPr>
              <a:t> Moderate spread with several high outliers</a:t>
            </a:r>
            <a:endParaRPr lang="en-US" sz="2000">
              <a:ea typeface="Calibri"/>
              <a:cs typeface="Calibri"/>
            </a:endParaRPr>
          </a:p>
          <a:p>
            <a:pPr marL="285750" indent="-285750">
              <a:buFont typeface="Arial"/>
              <a:buChar char="•"/>
            </a:pPr>
            <a:r>
              <a:rPr lang="en-US" sz="2000" b="1">
                <a:ea typeface="+mn-lt"/>
                <a:cs typeface="+mn-lt"/>
              </a:rPr>
              <a:t>Administration:</a:t>
            </a:r>
            <a:r>
              <a:rPr lang="en-US" sz="2000">
                <a:ea typeface="+mn-lt"/>
                <a:cs typeface="+mn-lt"/>
              </a:rPr>
              <a:t> Tight distribution, few outliers</a:t>
            </a:r>
            <a:endParaRPr lang="en-US" sz="2000">
              <a:ea typeface="Calibri"/>
              <a:cs typeface="Calibri"/>
            </a:endParaRPr>
          </a:p>
          <a:p>
            <a:pPr marL="285750" indent="-285750">
              <a:buFont typeface="Arial"/>
              <a:buChar char="•"/>
            </a:pPr>
            <a:r>
              <a:rPr lang="en-US" sz="2000" b="1">
                <a:ea typeface="+mn-lt"/>
                <a:cs typeface="+mn-lt"/>
              </a:rPr>
              <a:t>Marketing:</a:t>
            </a:r>
            <a:r>
              <a:rPr lang="en-US" sz="2000">
                <a:ea typeface="+mn-lt"/>
                <a:cs typeface="+mn-lt"/>
              </a:rPr>
              <a:t> Widest spread with extreme outliers</a:t>
            </a:r>
            <a:endParaRPr lang="en-US" sz="2000">
              <a:ea typeface="Calibri"/>
              <a:cs typeface="Calibri"/>
            </a:endParaRPr>
          </a:p>
          <a:p>
            <a:pPr marL="285750" indent="-285750">
              <a:buFont typeface="Arial"/>
              <a:buChar char="•"/>
            </a:pPr>
            <a:r>
              <a:rPr lang="en-US" sz="2000" b="1">
                <a:ea typeface="+mn-lt"/>
                <a:cs typeface="+mn-lt"/>
              </a:rPr>
              <a:t>Profit:</a:t>
            </a:r>
            <a:r>
              <a:rPr lang="en-US" sz="2000">
                <a:ea typeface="+mn-lt"/>
                <a:cs typeface="+mn-lt"/>
              </a:rPr>
              <a:t> Substantial outliers on high end</a:t>
            </a:r>
            <a:endParaRPr lang="en-US" sz="2000">
              <a:ea typeface="Calibri"/>
              <a:cs typeface="Calibri"/>
            </a:endParaRPr>
          </a:p>
          <a:p>
            <a:r>
              <a:rPr lang="en-US" sz="2000" b="1">
                <a:ea typeface="+mn-lt"/>
                <a:cs typeface="+mn-lt"/>
              </a:rPr>
              <a:t>Outlier Detection:</a:t>
            </a:r>
            <a:endParaRPr lang="en-US" sz="2000">
              <a:ea typeface="Calibri"/>
              <a:cs typeface="Calibri"/>
            </a:endParaRPr>
          </a:p>
          <a:p>
            <a:pPr marL="285750" indent="-285750">
              <a:buFont typeface="Arial"/>
              <a:buChar char="•"/>
            </a:pPr>
            <a:r>
              <a:rPr lang="en-US" sz="2000">
                <a:ea typeface="+mn-lt"/>
                <a:cs typeface="+mn-lt"/>
              </a:rPr>
              <a:t>12 extreme outliers identified in each category</a:t>
            </a:r>
            <a:endParaRPr lang="en-US" sz="2000">
              <a:ea typeface="Calibri"/>
              <a:cs typeface="Calibri"/>
            </a:endParaRPr>
          </a:p>
          <a:p>
            <a:pPr marL="285750" indent="-285750">
              <a:buFont typeface="Arial"/>
              <a:buChar char="•"/>
            </a:pPr>
            <a:r>
              <a:rPr lang="en-US" sz="2000">
                <a:ea typeface="+mn-lt"/>
                <a:cs typeface="+mn-lt"/>
              </a:rPr>
              <a:t>Same companies appear as outliers across multiple dimensions</a:t>
            </a:r>
            <a:endParaRPr lang="en-US" sz="2000">
              <a:ea typeface="Calibri"/>
              <a:cs typeface="Calibri"/>
            </a:endParaRPr>
          </a:p>
          <a:p>
            <a:pPr marL="285750" indent="-285750">
              <a:buFont typeface="Arial"/>
              <a:buChar char="•"/>
            </a:pPr>
            <a:r>
              <a:rPr lang="en-US" sz="2000">
                <a:ea typeface="+mn-lt"/>
                <a:cs typeface="+mn-lt"/>
              </a:rPr>
              <a:t>High spenders tend to be high earners</a:t>
            </a:r>
            <a:endParaRPr lang="en-US" sz="2000">
              <a:ea typeface="Calibri"/>
              <a:cs typeface="Calibri"/>
            </a:endParaRPr>
          </a:p>
          <a:p>
            <a:endParaRPr lang="en-US">
              <a:ea typeface="Calibri"/>
              <a:cs typeface="Calibri"/>
            </a:endParaRPr>
          </a:p>
        </p:txBody>
      </p:sp>
      <p:pic>
        <p:nvPicPr>
          <p:cNvPr id="3" name="Picture 2" descr="A diagram of a box plot&#10;&#10;AI-generated content may be incorrect.">
            <a:extLst>
              <a:ext uri="{FF2B5EF4-FFF2-40B4-BE49-F238E27FC236}">
                <a16:creationId xmlns:a16="http://schemas.microsoft.com/office/drawing/2014/main" id="{6E37D374-20CF-DC2D-4CD0-F5922FDA6D55}"/>
              </a:ext>
            </a:extLst>
          </p:cNvPr>
          <p:cNvPicPr>
            <a:picLocks noChangeAspect="1"/>
          </p:cNvPicPr>
          <p:nvPr/>
        </p:nvPicPr>
        <p:blipFill>
          <a:blip r:embed="rId3"/>
          <a:stretch>
            <a:fillRect/>
          </a:stretch>
        </p:blipFill>
        <p:spPr>
          <a:xfrm>
            <a:off x="6911879" y="1005718"/>
            <a:ext cx="4679758" cy="4446321"/>
          </a:xfrm>
          <a:prstGeom prst="rect">
            <a:avLst/>
          </a:prstGeom>
        </p:spPr>
      </p:pic>
    </p:spTree>
    <p:extLst>
      <p:ext uri="{BB962C8B-B14F-4D97-AF65-F5344CB8AC3E}">
        <p14:creationId xmlns:p14="http://schemas.microsoft.com/office/powerpoint/2010/main" val="2344604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9049FA-7ACC-6299-2F3C-912DFC9580BF}"/>
              </a:ext>
            </a:extLst>
          </p:cNvPr>
          <p:cNvSpPr txBox="1"/>
          <p:nvPr/>
        </p:nvSpPr>
        <p:spPr>
          <a:xfrm>
            <a:off x="335280" y="206383"/>
            <a:ext cx="5038524" cy="6124754"/>
          </a:xfrm>
          <a:prstGeom prst="rect">
            <a:avLst/>
          </a:prstGeom>
          <a:noFill/>
        </p:spPr>
        <p:txBody>
          <a:bodyPr wrap="square" lIns="91440" tIns="45720" rIns="91440" bIns="45720" anchor="t">
            <a:spAutoFit/>
          </a:bodyPr>
          <a:lstStyle/>
          <a:p>
            <a:r>
              <a:rPr lang="en-US" sz="2400" b="1"/>
              <a:t>Exploratory Data Analysis (EDA)</a:t>
            </a:r>
            <a:endParaRPr lang="en-US" sz="2400"/>
          </a:p>
          <a:p>
            <a:pPr algn="ctr"/>
            <a:endParaRPr lang="en-US"/>
          </a:p>
          <a:p>
            <a:pPr lvl="0">
              <a:spcBef>
                <a:spcPct val="0"/>
              </a:spcBef>
              <a:spcAft>
                <a:spcPct val="0"/>
              </a:spcAft>
            </a:pPr>
            <a:r>
              <a:rPr lang="en-US" sz="2400"/>
              <a:t>Correlation Analysis</a:t>
            </a:r>
            <a:endParaRPr lang="en-US"/>
          </a:p>
          <a:p>
            <a:pPr>
              <a:spcBef>
                <a:spcPct val="0"/>
              </a:spcBef>
              <a:spcAft>
                <a:spcPct val="0"/>
              </a:spcAft>
            </a:pPr>
            <a:r>
              <a:rPr lang="en-US" altLang="en-US" sz="2400">
                <a:ea typeface="+mn-lt"/>
                <a:cs typeface="+mn-lt"/>
              </a:rPr>
              <a:t>Profit vs. R&amp;D Spend</a:t>
            </a:r>
            <a:endParaRPr lang="en-US" sz="2400">
              <a:ea typeface="Calibri"/>
              <a:cs typeface="Calibri"/>
            </a:endParaRPr>
          </a:p>
          <a:p>
            <a:pPr lvl="0" eaLnBrk="0" fontAlgn="base" hangingPunct="0">
              <a:spcBef>
                <a:spcPct val="0"/>
              </a:spcBef>
              <a:spcAft>
                <a:spcPct val="0"/>
              </a:spcAft>
            </a:pPr>
            <a:endParaRPr kumimoji="0" lang="en-US" altLang="en-US" sz="2400" i="0" u="none" strike="noStrike" cap="none" normalizeH="0" baseline="0">
              <a:ln>
                <a:noFill/>
              </a:ln>
              <a:solidFill>
                <a:schemeClr val="tx1"/>
              </a:solidFill>
              <a:effectLst/>
            </a:endParaRPr>
          </a:p>
          <a:p>
            <a:pPr marL="342900" indent="-342900" eaLnBrk="0" fontAlgn="base" hangingPunct="0">
              <a:spcBef>
                <a:spcPct val="0"/>
              </a:spcBef>
              <a:spcAft>
                <a:spcPct val="0"/>
              </a:spcAft>
              <a:buFont typeface="Arial" panose="020B0604020202020204" pitchFamily="34" charset="0"/>
              <a:buChar char="•"/>
            </a:pPr>
            <a:r>
              <a:rPr lang="en-US" altLang="en-US" sz="2000">
                <a:ea typeface="+mn-lt"/>
                <a:cs typeface="+mn-lt"/>
              </a:rPr>
              <a:t>Clear upward trend, suggesting R&amp;D is a major driver.</a:t>
            </a:r>
          </a:p>
          <a:p>
            <a:pPr marL="342900" indent="-342900">
              <a:spcBef>
                <a:spcPct val="0"/>
              </a:spcBef>
              <a:spcAft>
                <a:spcPct val="0"/>
              </a:spcAft>
              <a:buFont typeface="Arial" panose="020B0604020202020204" pitchFamily="34" charset="0"/>
              <a:buChar char="•"/>
            </a:pPr>
            <a:endParaRPr lang="en-US" altLang="en-US" sz="2000">
              <a:ea typeface="+mn-lt"/>
              <a:cs typeface="+mn-lt"/>
            </a:endParaRPr>
          </a:p>
          <a:p>
            <a:pPr marL="342900" indent="-342900">
              <a:spcBef>
                <a:spcPct val="0"/>
              </a:spcBef>
              <a:spcAft>
                <a:spcPct val="0"/>
              </a:spcAft>
              <a:buFont typeface="Arial" panose="020B0604020202020204" pitchFamily="34" charset="0"/>
              <a:buChar char="•"/>
            </a:pPr>
            <a:r>
              <a:rPr lang="en-US" sz="2000">
                <a:ea typeface="+mn-lt"/>
                <a:cs typeface="+mn-lt"/>
              </a:rPr>
              <a:t>Profit ↔ R&amp;D Spend: 0.94 (Very strong positive)</a:t>
            </a:r>
          </a:p>
          <a:p>
            <a:pPr marL="342900" indent="-342900">
              <a:spcBef>
                <a:spcPct val="0"/>
              </a:spcBef>
              <a:spcAft>
                <a:spcPct val="0"/>
              </a:spcAft>
              <a:buFont typeface="Arial" panose="020B0604020202020204" pitchFamily="34" charset="0"/>
              <a:buChar char="•"/>
            </a:pPr>
            <a:endParaRPr lang="en-US" altLang="en-US" sz="2000">
              <a:ea typeface="+mn-lt"/>
              <a:cs typeface="+mn-lt"/>
            </a:endParaRPr>
          </a:p>
          <a:p>
            <a:pPr marL="342900" indent="-342900">
              <a:spcBef>
                <a:spcPct val="0"/>
              </a:spcBef>
              <a:spcAft>
                <a:spcPct val="0"/>
              </a:spcAft>
              <a:buFont typeface="Arial" panose="020B0604020202020204" pitchFamily="34" charset="0"/>
              <a:buChar char="•"/>
            </a:pPr>
            <a:r>
              <a:rPr kumimoji="0" lang="en-US" altLang="en-US" sz="2000" i="0" u="none" strike="noStrike" cap="none" normalizeH="0" baseline="0">
                <a:ln>
                  <a:noFill/>
                </a:ln>
                <a:effectLst/>
                <a:ea typeface="+mn-lt"/>
                <a:cs typeface="+mn-lt"/>
              </a:rPr>
              <a:t>R&amp;D investment </a:t>
            </a:r>
            <a:r>
              <a:rPr lang="en-US" altLang="en-US" sz="2000">
                <a:ea typeface="+mn-lt"/>
                <a:cs typeface="+mn-lt"/>
              </a:rPr>
              <a:t>is </a:t>
            </a:r>
            <a:r>
              <a:rPr kumimoji="0" lang="en-US" altLang="en-US" sz="2000" i="0" u="none" strike="noStrike" cap="none" normalizeH="0" baseline="0">
                <a:ln>
                  <a:noFill/>
                </a:ln>
                <a:effectLst/>
                <a:ea typeface="+mn-lt"/>
                <a:cs typeface="+mn-lt"/>
              </a:rPr>
              <a:t>the most consistent </a:t>
            </a:r>
            <a:r>
              <a:rPr lang="en-US" altLang="en-US" sz="2000">
                <a:ea typeface="+mn-lt"/>
                <a:cs typeface="+mn-lt"/>
              </a:rPr>
              <a:t>predictor of higher profits. </a:t>
            </a:r>
          </a:p>
          <a:p>
            <a:pPr marL="342900" indent="-342900">
              <a:spcBef>
                <a:spcPct val="0"/>
              </a:spcBef>
              <a:spcAft>
                <a:spcPct val="0"/>
              </a:spcAft>
              <a:buFont typeface="Arial" panose="020B0604020202020204" pitchFamily="34" charset="0"/>
              <a:buChar char="•"/>
            </a:pPr>
            <a:endParaRPr lang="en-US" altLang="en-US" sz="2000">
              <a:ea typeface="+mn-lt"/>
              <a:cs typeface="+mn-lt"/>
            </a:endParaRPr>
          </a:p>
          <a:p>
            <a:pPr marL="342900" indent="-342900">
              <a:spcBef>
                <a:spcPct val="0"/>
              </a:spcBef>
              <a:spcAft>
                <a:spcPct val="0"/>
              </a:spcAft>
              <a:buFont typeface="Arial" panose="020B0604020202020204" pitchFamily="34" charset="0"/>
              <a:buChar char="•"/>
            </a:pPr>
            <a:r>
              <a:rPr lang="en-US" sz="2000">
                <a:ea typeface="+mn-lt"/>
                <a:cs typeface="+mn-lt"/>
              </a:rPr>
              <a:t>Each dollar in R&amp;D correlates with substantial profit gains, </a:t>
            </a:r>
            <a:r>
              <a:rPr lang="en-US" altLang="en-US" sz="2000">
                <a:ea typeface="+mn-lt"/>
                <a:cs typeface="+mn-lt"/>
              </a:rPr>
              <a:t>higher R&amp;D spending is strongly associated with higher profits</a:t>
            </a:r>
            <a:r>
              <a:rPr kumimoji="0" lang="en-US" altLang="en-US" sz="2000" i="0" u="none" strike="noStrike" cap="none" normalizeH="0" baseline="0">
                <a:ln>
                  <a:noFill/>
                </a:ln>
                <a:effectLst/>
                <a:ea typeface="+mn-lt"/>
                <a:cs typeface="+mn-lt"/>
              </a:rPr>
              <a:t>.</a:t>
            </a:r>
            <a:endParaRPr lang="en-US" altLang="en-US"/>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a:ln>
                <a:noFill/>
              </a:ln>
              <a:solidFill>
                <a:schemeClr val="tx1"/>
              </a:solidFill>
              <a:effectLst/>
              <a:latin typeface="Arial" panose="020B0604020202020204" pitchFamily="34" charset="0"/>
            </a:endParaRPr>
          </a:p>
        </p:txBody>
      </p:sp>
      <p:pic>
        <p:nvPicPr>
          <p:cNvPr id="2" name="Picture 1" descr="A graph with red line&#10;&#10;AI-generated content may be incorrect.">
            <a:extLst>
              <a:ext uri="{FF2B5EF4-FFF2-40B4-BE49-F238E27FC236}">
                <a16:creationId xmlns:a16="http://schemas.microsoft.com/office/drawing/2014/main" id="{180B6B47-41DC-7833-1396-0B7408F94842}"/>
              </a:ext>
            </a:extLst>
          </p:cNvPr>
          <p:cNvPicPr>
            <a:picLocks noChangeAspect="1"/>
          </p:cNvPicPr>
          <p:nvPr/>
        </p:nvPicPr>
        <p:blipFill>
          <a:blip r:embed="rId3"/>
          <a:stretch>
            <a:fillRect/>
          </a:stretch>
        </p:blipFill>
        <p:spPr>
          <a:xfrm>
            <a:off x="5492207" y="865928"/>
            <a:ext cx="6238875" cy="4562475"/>
          </a:xfrm>
          <a:prstGeom prst="rect">
            <a:avLst/>
          </a:prstGeom>
        </p:spPr>
      </p:pic>
    </p:spTree>
    <p:extLst>
      <p:ext uri="{BB962C8B-B14F-4D97-AF65-F5344CB8AC3E}">
        <p14:creationId xmlns:p14="http://schemas.microsoft.com/office/powerpoint/2010/main" val="3976342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2BBD2A-8ECF-40C9-F672-8865DC55C89A}"/>
              </a:ext>
            </a:extLst>
          </p:cNvPr>
          <p:cNvSpPr txBox="1"/>
          <p:nvPr/>
        </p:nvSpPr>
        <p:spPr>
          <a:xfrm>
            <a:off x="491986" y="771983"/>
            <a:ext cx="4582160" cy="6124754"/>
          </a:xfrm>
          <a:prstGeom prst="rect">
            <a:avLst/>
          </a:prstGeom>
          <a:noFill/>
        </p:spPr>
        <p:txBody>
          <a:bodyPr wrap="square" lIns="91440" tIns="45720" rIns="91440" bIns="45720" anchor="t">
            <a:spAutoFit/>
          </a:bodyPr>
          <a:lstStyle/>
          <a:p>
            <a:pPr eaLnBrk="0" fontAlgn="base" hangingPunct="0">
              <a:spcBef>
                <a:spcPct val="0"/>
              </a:spcBef>
              <a:spcAft>
                <a:spcPct val="0"/>
              </a:spcAft>
            </a:pPr>
            <a:r>
              <a:rPr lang="en-US" altLang="en-US" sz="2400"/>
              <a:t>Correlation Analysis</a:t>
            </a:r>
          </a:p>
          <a:p>
            <a:pPr>
              <a:spcBef>
                <a:spcPct val="0"/>
              </a:spcBef>
              <a:spcAft>
                <a:spcPct val="0"/>
              </a:spcAft>
            </a:pPr>
            <a:r>
              <a:rPr lang="en-US" sz="2400">
                <a:ea typeface="+mn-lt"/>
                <a:cs typeface="+mn-lt"/>
              </a:rPr>
              <a:t>Critical Finding - Marketing Spend vs Profit Relationship</a:t>
            </a:r>
            <a:endParaRPr lang="en-US"/>
          </a:p>
          <a:p>
            <a:pPr eaLnBrk="0" fontAlgn="base" hangingPunct="0">
              <a:spcBef>
                <a:spcPct val="0"/>
              </a:spcBef>
              <a:spcAft>
                <a:spcPct val="0"/>
              </a:spcAft>
            </a:pPr>
            <a:endParaRPr lang="en-US" altLang="en-US" sz="2000"/>
          </a:p>
          <a:p>
            <a:pPr marL="342900" indent="-342900" eaLnBrk="0" fontAlgn="base" hangingPunct="0">
              <a:spcBef>
                <a:spcPct val="0"/>
              </a:spcBef>
              <a:spcAft>
                <a:spcPct val="0"/>
              </a:spcAft>
              <a:buFont typeface="Arial" panose="020B0604020202020204" pitchFamily="34" charset="0"/>
              <a:buChar char="•"/>
            </a:pPr>
            <a:r>
              <a:rPr lang="en-US" altLang="en-US" sz="2000"/>
              <a:t>Some positive relationship, but more scattered. </a:t>
            </a:r>
            <a:endParaRPr lang="en-US" altLang="en-US" sz="2000">
              <a:ea typeface="Calibri"/>
              <a:cs typeface="Calibri"/>
            </a:endParaRPr>
          </a:p>
          <a:p>
            <a:pPr marL="342900" indent="-342900" eaLnBrk="0" fontAlgn="base" hangingPunct="0">
              <a:spcBef>
                <a:spcPct val="0"/>
              </a:spcBef>
              <a:spcAft>
                <a:spcPct val="0"/>
              </a:spcAft>
              <a:buFont typeface="Arial" panose="020B0604020202020204" pitchFamily="34" charset="0"/>
              <a:buChar char="•"/>
            </a:pPr>
            <a:endParaRPr lang="en-US" altLang="en-US" sz="2000"/>
          </a:p>
          <a:p>
            <a:pPr marL="342900" lvl="0" indent="-342900" eaLnBrk="0" fontAlgn="base" hangingPunct="0">
              <a:spcBef>
                <a:spcPct val="0"/>
              </a:spcBef>
              <a:spcAft>
                <a:spcPct val="0"/>
              </a:spcAft>
              <a:buFont typeface="Arial" panose="020B0604020202020204" pitchFamily="34" charset="0"/>
              <a:buChar char="•"/>
            </a:pPr>
            <a:r>
              <a:rPr lang="en-US" sz="2000"/>
              <a:t>Profit ↔ Marketing Spend: 0.92 (Very strong positive)</a:t>
            </a:r>
            <a:endParaRPr lang="en-US" sz="2000">
              <a:ea typeface="Calibri"/>
              <a:cs typeface="Calibri"/>
            </a:endParaRPr>
          </a:p>
          <a:p>
            <a:pPr marL="342900" lvl="0" indent="-342900" eaLnBrk="0" fontAlgn="base" hangingPunct="0">
              <a:spcBef>
                <a:spcPct val="0"/>
              </a:spcBef>
              <a:spcAft>
                <a:spcPct val="0"/>
              </a:spcAft>
              <a:buFont typeface="Arial" panose="020B0604020202020204" pitchFamily="34" charset="0"/>
              <a:buChar char="•"/>
            </a:pPr>
            <a:endParaRPr lang="en-US" altLang="en-US" sz="200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effectLst/>
              </a:rPr>
              <a:t>Marketing contributes but with more variability, meaning effectiveness may depend on execution. </a:t>
            </a:r>
            <a:endParaRPr lang="en-US" altLang="en-US" sz="2000" i="0" u="none" strike="noStrike" cap="none" normalizeH="0" baseline="0">
              <a:ln>
                <a:noFill/>
              </a:ln>
              <a:effectLst/>
              <a:ea typeface="Calibri"/>
              <a:cs typeface="Calibri"/>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a:ln>
                <a:noFill/>
              </a:ln>
              <a:solidFill>
                <a:schemeClr val="tx1"/>
              </a:solidFill>
              <a:effectLst/>
            </a:endParaRPr>
          </a:p>
          <a:p>
            <a:pPr marL="342900" lvl="0" indent="-342900" eaLnBrk="0" fontAlgn="base" hangingPunct="0">
              <a:spcBef>
                <a:spcPct val="0"/>
              </a:spcBef>
              <a:spcAft>
                <a:spcPct val="0"/>
              </a:spcAft>
              <a:buFont typeface="Arial" panose="020B0604020202020204" pitchFamily="34" charset="0"/>
              <a:buChar char="•"/>
            </a:pPr>
            <a:r>
              <a:rPr lang="en-US" sz="2000"/>
              <a:t>Second-most important profit driver after R&amp;D</a:t>
            </a:r>
            <a:endParaRPr kumimoji="0" lang="en-US" altLang="en-US" sz="2000" i="0" u="none" strike="noStrike" cap="none" normalizeH="0" baseline="0">
              <a:ln>
                <a:noFill/>
              </a:ln>
              <a:solidFill>
                <a:schemeClr val="tx1"/>
              </a:solidFill>
              <a:effectLst/>
            </a:endParaRPr>
          </a:p>
          <a:p>
            <a:pPr lvl="0" eaLnBrk="0" fontAlgn="base" hangingPunct="0">
              <a:spcBef>
                <a:spcPct val="0"/>
              </a:spcBef>
              <a:spcAft>
                <a:spcPct val="0"/>
              </a:spcAft>
            </a:pPr>
            <a:br>
              <a:rPr lang="en-US" altLang="en-US" sz="2000" i="0" u="none" strike="noStrike" cap="none" normalizeH="0" baseline="0">
                <a:ln>
                  <a:noFill/>
                </a:ln>
                <a:effectLst/>
              </a:rPr>
            </a:br>
            <a:endParaRPr kumimoji="0" lang="en-US" altLang="en-US" sz="200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a:ln>
                <a:noFill/>
              </a:ln>
              <a:solidFill>
                <a:schemeClr val="tx1"/>
              </a:solidFill>
              <a:effectLst/>
            </a:endParaRPr>
          </a:p>
        </p:txBody>
      </p:sp>
      <p:sp>
        <p:nvSpPr>
          <p:cNvPr id="2" name="TextBox 1">
            <a:extLst>
              <a:ext uri="{FF2B5EF4-FFF2-40B4-BE49-F238E27FC236}">
                <a16:creationId xmlns:a16="http://schemas.microsoft.com/office/drawing/2014/main" id="{2B0EDB1A-D4BA-0C44-9DAD-6F9167F36471}"/>
              </a:ext>
            </a:extLst>
          </p:cNvPr>
          <p:cNvSpPr txBox="1"/>
          <p:nvPr/>
        </p:nvSpPr>
        <p:spPr>
          <a:xfrm>
            <a:off x="292274" y="99164"/>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400" b="1" baseline="0">
                <a:latin typeface="Calibri"/>
                <a:ea typeface="Segoe UI"/>
                <a:cs typeface="Segoe UI"/>
              </a:rPr>
              <a:t>Exploratory Data Analysis (EDA)</a:t>
            </a:r>
            <a:r>
              <a:rPr lang="en-US" sz="2400">
                <a:latin typeface="Calibri"/>
                <a:ea typeface="Segoe UI"/>
                <a:cs typeface="Segoe UI"/>
              </a:rPr>
              <a:t>​</a:t>
            </a:r>
          </a:p>
          <a:p>
            <a:pPr algn="ctr" rtl="0"/>
            <a:r>
              <a:rPr lang="en-US" sz="1800">
                <a:latin typeface="Calibri"/>
                <a:ea typeface="Segoe UI"/>
                <a:cs typeface="Segoe UI"/>
              </a:rPr>
              <a:t>​</a:t>
            </a:r>
          </a:p>
          <a:p>
            <a:pPr algn="ctr"/>
            <a:endParaRPr lang="en-US"/>
          </a:p>
        </p:txBody>
      </p:sp>
      <p:pic>
        <p:nvPicPr>
          <p:cNvPr id="4" name="Picture 3" descr="A graph with red dots&#10;&#10;AI-generated content may be incorrect.">
            <a:extLst>
              <a:ext uri="{FF2B5EF4-FFF2-40B4-BE49-F238E27FC236}">
                <a16:creationId xmlns:a16="http://schemas.microsoft.com/office/drawing/2014/main" id="{1442B5C6-B15B-2D9F-DB70-99F0A195250E}"/>
              </a:ext>
            </a:extLst>
          </p:cNvPr>
          <p:cNvPicPr>
            <a:picLocks noChangeAspect="1"/>
          </p:cNvPicPr>
          <p:nvPr/>
        </p:nvPicPr>
        <p:blipFill>
          <a:blip r:embed="rId3"/>
          <a:stretch>
            <a:fillRect/>
          </a:stretch>
        </p:blipFill>
        <p:spPr>
          <a:xfrm>
            <a:off x="5598740" y="1102940"/>
            <a:ext cx="6238875" cy="4562475"/>
          </a:xfrm>
          <a:prstGeom prst="rect">
            <a:avLst/>
          </a:prstGeom>
        </p:spPr>
      </p:pic>
    </p:spTree>
    <p:extLst>
      <p:ext uri="{BB962C8B-B14F-4D97-AF65-F5344CB8AC3E}">
        <p14:creationId xmlns:p14="http://schemas.microsoft.com/office/powerpoint/2010/main" val="1414145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DB2733-1EAF-4EE0-1D18-F4B4A1C87820}"/>
              </a:ext>
            </a:extLst>
          </p:cNvPr>
          <p:cNvSpPr txBox="1"/>
          <p:nvPr/>
        </p:nvSpPr>
        <p:spPr>
          <a:xfrm>
            <a:off x="409788" y="1168835"/>
            <a:ext cx="5043949" cy="4524315"/>
          </a:xfrm>
          <a:prstGeom prst="rect">
            <a:avLst/>
          </a:prstGeom>
          <a:noFill/>
        </p:spPr>
        <p:txBody>
          <a:bodyPr wrap="square">
            <a:spAutoFit/>
          </a:bodyPr>
          <a:lstStyle/>
          <a:p>
            <a:pPr eaLnBrk="0" fontAlgn="base" hangingPunct="0">
              <a:spcBef>
                <a:spcPct val="0"/>
              </a:spcBef>
              <a:spcAft>
                <a:spcPct val="0"/>
              </a:spcAft>
            </a:pPr>
            <a:r>
              <a:rPr kumimoji="0" lang="en-US" altLang="en-US" sz="2400" i="0" u="none" strike="noStrike" cap="none" normalizeH="0" baseline="0">
                <a:ln>
                  <a:noFill/>
                </a:ln>
                <a:solidFill>
                  <a:schemeClr val="tx1"/>
                </a:solidFill>
                <a:effectLst/>
              </a:rPr>
              <a:t>Correlation Analysis</a:t>
            </a:r>
          </a:p>
          <a:p>
            <a:pPr eaLnBrk="0" fontAlgn="base" hangingPunct="0">
              <a:spcBef>
                <a:spcPct val="0"/>
              </a:spcBef>
              <a:spcAft>
                <a:spcPct val="0"/>
              </a:spcAft>
            </a:pPr>
            <a:r>
              <a:rPr lang="en-US" altLang="en-US" sz="2400"/>
              <a:t>Profit vs. Administration</a:t>
            </a:r>
            <a:endParaRPr kumimoji="0" lang="en-US" altLang="en-US" sz="2400" i="0" u="none" strike="noStrike" cap="none" normalizeH="0" baseline="0">
              <a:ln>
                <a:noFill/>
              </a:ln>
              <a:solidFill>
                <a:schemeClr val="tx1"/>
              </a:solidFill>
              <a:effectLst/>
            </a:endParaRPr>
          </a:p>
          <a:p>
            <a:pPr eaLnBrk="0" fontAlgn="base" hangingPunct="0">
              <a:spcBef>
                <a:spcPct val="0"/>
              </a:spcBef>
              <a:spcAft>
                <a:spcPct val="0"/>
              </a:spcAft>
            </a:pPr>
            <a:endParaRPr lang="en-US" altLang="en-US" sz="2000"/>
          </a:p>
          <a:p>
            <a:pPr marL="342900" indent="-342900" eaLnBrk="0" fontAlgn="base" hangingPunct="0">
              <a:spcBef>
                <a:spcPct val="0"/>
              </a:spcBef>
              <a:spcAft>
                <a:spcPct val="0"/>
              </a:spcAft>
              <a:buFont typeface="Arial" panose="020B0604020202020204" pitchFamily="34" charset="0"/>
              <a:buChar char="•"/>
            </a:pPr>
            <a:r>
              <a:rPr kumimoji="0" lang="en-US" altLang="en-US" sz="2000" i="0" u="none" strike="noStrike" cap="none" normalizeH="0" baseline="0">
                <a:ln>
                  <a:noFill/>
                </a:ln>
                <a:solidFill>
                  <a:schemeClr val="tx1"/>
                </a:solidFill>
                <a:effectLst/>
              </a:rPr>
              <a:t>No strong pattern, indicating limited impact. </a:t>
            </a:r>
          </a:p>
          <a:p>
            <a:pPr marL="342900" indent="-342900" eaLnBrk="0" fontAlgn="base" hangingPunct="0">
              <a:spcBef>
                <a:spcPct val="0"/>
              </a:spcBef>
              <a:spcAft>
                <a:spcPct val="0"/>
              </a:spcAft>
              <a:buFont typeface="Arial" panose="020B0604020202020204" pitchFamily="34" charset="0"/>
              <a:buChar char="•"/>
            </a:pPr>
            <a:endParaRPr kumimoji="0" lang="en-US" altLang="en-US" sz="2000" i="0" u="none" strike="noStrike" cap="none" normalizeH="0" baseline="0">
              <a:ln>
                <a:noFill/>
              </a:ln>
              <a:solidFill>
                <a:schemeClr val="tx1"/>
              </a:solidFill>
              <a:effectLst/>
            </a:endParaRPr>
          </a:p>
          <a:p>
            <a:pPr marL="342900" indent="-342900" eaLnBrk="0" fontAlgn="base" hangingPunct="0">
              <a:spcBef>
                <a:spcPct val="0"/>
              </a:spcBef>
              <a:spcAft>
                <a:spcPct val="0"/>
              </a:spcAft>
              <a:buFont typeface="Arial" panose="020B0604020202020204" pitchFamily="34" charset="0"/>
              <a:buChar char="•"/>
            </a:pPr>
            <a:r>
              <a:rPr lang="en-US" sz="2000"/>
              <a:t>Profit ↔ Administration: 0.74 (positive)</a:t>
            </a:r>
          </a:p>
          <a:p>
            <a:pPr marL="342900" indent="-342900" eaLnBrk="0" fontAlgn="base" hangingPunct="0">
              <a:spcBef>
                <a:spcPct val="0"/>
              </a:spcBef>
              <a:spcAft>
                <a:spcPct val="0"/>
              </a:spcAft>
              <a:buFont typeface="Arial" panose="020B0604020202020204" pitchFamily="34" charset="0"/>
              <a:buChar char="•"/>
            </a:pPr>
            <a:endParaRPr kumimoji="0" lang="en-US" altLang="en-US" sz="2000" i="0" u="none" strike="noStrike" cap="none" normalizeH="0" baseline="0">
              <a:ln>
                <a:noFill/>
              </a:ln>
              <a:solidFill>
                <a:schemeClr val="tx1"/>
              </a:solidFill>
              <a:effectLst/>
            </a:endParaRPr>
          </a:p>
          <a:p>
            <a:pPr marL="342900" indent="-342900" eaLnBrk="0" fontAlgn="base" hangingPunct="0">
              <a:spcBef>
                <a:spcPct val="0"/>
              </a:spcBef>
              <a:spcAft>
                <a:spcPct val="0"/>
              </a:spcAft>
              <a:buFont typeface="Arial" panose="020B0604020202020204" pitchFamily="34" charset="0"/>
              <a:buChar char="•"/>
            </a:pPr>
            <a:r>
              <a:rPr lang="en-US" altLang="en-US" sz="2000"/>
              <a:t>Administration spending does not appear to drive profit directly, suggesting it should be optimized rather than expanded. </a:t>
            </a:r>
          </a:p>
          <a:p>
            <a:pPr marL="342900" indent="-342900" eaLnBrk="0" fontAlgn="base" hangingPunct="0">
              <a:spcBef>
                <a:spcPct val="0"/>
              </a:spcBef>
              <a:spcAft>
                <a:spcPct val="0"/>
              </a:spcAft>
              <a:buFont typeface="Arial" panose="020B0604020202020204" pitchFamily="34" charset="0"/>
              <a:buChar char="•"/>
            </a:pPr>
            <a:endParaRPr lang="en-US" altLang="en-US" sz="2000"/>
          </a:p>
          <a:p>
            <a:pPr marL="342900" indent="-342900" eaLnBrk="0" fontAlgn="base" hangingPunct="0">
              <a:spcBef>
                <a:spcPct val="0"/>
              </a:spcBef>
              <a:spcAft>
                <a:spcPct val="0"/>
              </a:spcAft>
              <a:buFont typeface="Arial" panose="020B0604020202020204" pitchFamily="34" charset="0"/>
              <a:buChar char="•"/>
            </a:pPr>
            <a:r>
              <a:rPr lang="en-US" sz="2000"/>
              <a:t>Operational efficiency matters but is less critical than growth spending</a:t>
            </a:r>
            <a:endParaRPr kumimoji="0" lang="en-US" altLang="en-US" sz="2000" i="0" u="none" strike="noStrike" cap="none" normalizeH="0" baseline="0">
              <a:ln>
                <a:noFill/>
              </a:ln>
              <a:solidFill>
                <a:schemeClr val="tx1"/>
              </a:solidFill>
              <a:effectLst/>
            </a:endParaRPr>
          </a:p>
        </p:txBody>
      </p:sp>
      <p:sp>
        <p:nvSpPr>
          <p:cNvPr id="2" name="TextBox 1">
            <a:extLst>
              <a:ext uri="{FF2B5EF4-FFF2-40B4-BE49-F238E27FC236}">
                <a16:creationId xmlns:a16="http://schemas.microsoft.com/office/drawing/2014/main" id="{45C421B8-A5A3-5088-74CA-293B73CB7D8C}"/>
              </a:ext>
            </a:extLst>
          </p:cNvPr>
          <p:cNvSpPr txBox="1"/>
          <p:nvPr/>
        </p:nvSpPr>
        <p:spPr>
          <a:xfrm>
            <a:off x="292274" y="328808"/>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400" b="1" baseline="0">
                <a:latin typeface="Calibri"/>
                <a:ea typeface="Segoe UI"/>
                <a:cs typeface="Segoe UI"/>
              </a:rPr>
              <a:t>Exploratory Data Analysis (EDA)</a:t>
            </a:r>
            <a:r>
              <a:rPr lang="en-US" sz="2400">
                <a:latin typeface="Calibri"/>
                <a:ea typeface="Segoe UI"/>
                <a:cs typeface="Segoe UI"/>
              </a:rPr>
              <a:t>​</a:t>
            </a:r>
          </a:p>
          <a:p>
            <a:pPr algn="ctr" rtl="0"/>
            <a:r>
              <a:rPr lang="en-US" sz="1800">
                <a:latin typeface="Calibri"/>
                <a:ea typeface="Segoe UI"/>
                <a:cs typeface="Segoe UI"/>
              </a:rPr>
              <a:t>​</a:t>
            </a:r>
          </a:p>
          <a:p>
            <a:pPr algn="ctr"/>
            <a:endParaRPr lang="en-US"/>
          </a:p>
        </p:txBody>
      </p:sp>
      <p:pic>
        <p:nvPicPr>
          <p:cNvPr id="4" name="Picture 3" descr="A graph with a line going up&#10;&#10;AI-generated content may be incorrect.">
            <a:extLst>
              <a:ext uri="{FF2B5EF4-FFF2-40B4-BE49-F238E27FC236}">
                <a16:creationId xmlns:a16="http://schemas.microsoft.com/office/drawing/2014/main" id="{6F004137-A195-6115-4FC3-89EA2EFC7622}"/>
              </a:ext>
            </a:extLst>
          </p:cNvPr>
          <p:cNvPicPr>
            <a:picLocks noChangeAspect="1"/>
          </p:cNvPicPr>
          <p:nvPr/>
        </p:nvPicPr>
        <p:blipFill>
          <a:blip r:embed="rId3"/>
          <a:stretch>
            <a:fillRect/>
          </a:stretch>
        </p:blipFill>
        <p:spPr>
          <a:xfrm>
            <a:off x="5283440" y="980749"/>
            <a:ext cx="6238875" cy="4562475"/>
          </a:xfrm>
          <a:prstGeom prst="rect">
            <a:avLst/>
          </a:prstGeom>
        </p:spPr>
      </p:pic>
    </p:spTree>
    <p:extLst>
      <p:ext uri="{BB962C8B-B14F-4D97-AF65-F5344CB8AC3E}">
        <p14:creationId xmlns:p14="http://schemas.microsoft.com/office/powerpoint/2010/main" val="1835018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107E2B7-5FE3-E76B-9E92-F5EF105AD819}"/>
              </a:ext>
            </a:extLst>
          </p:cNvPr>
          <p:cNvSpPr>
            <a:spLocks noChangeArrowheads="1"/>
          </p:cNvSpPr>
          <p:nvPr/>
        </p:nvSpPr>
        <p:spPr bwMode="auto">
          <a:xfrm>
            <a:off x="0" y="711109"/>
            <a:ext cx="529336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400" i="0" u="none" strike="noStrike" cap="none" normalizeH="0" baseline="0">
                <a:ln>
                  <a:noFill/>
                </a:ln>
                <a:effectLst/>
              </a:rPr>
              <a:t>   </a:t>
            </a:r>
            <a:r>
              <a:rPr lang="en-US" altLang="en-US" sz="2400"/>
              <a:t> </a:t>
            </a:r>
            <a:r>
              <a:rPr kumimoji="0" lang="en-US" altLang="en-US" sz="2400" i="0" u="none" strike="noStrike" cap="none" normalizeH="0" baseline="0">
                <a:ln>
                  <a:noFill/>
                </a:ln>
                <a:effectLst/>
              </a:rPr>
              <a:t>Correlation Heatmap</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2400" i="0" u="none" strike="noStrike" cap="none" normalizeH="0" baseline="0">
              <a:ln>
                <a:noFill/>
              </a:ln>
              <a:solidFill>
                <a:schemeClr val="tx1"/>
              </a:solidFill>
              <a:effectLst/>
            </a:endParaRPr>
          </a:p>
          <a:p>
            <a:pPr marL="800100" marR="0" lvl="1"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effectLst/>
              </a:rPr>
              <a:t>R&amp;D Spend shows the strongest positive correlation with Profit, the clearest driver of profitability.</a:t>
            </a:r>
            <a:endParaRPr lang="en-US" altLang="en-US" sz="2000">
              <a:ea typeface="Calibri"/>
              <a:cs typeface="Calibri"/>
            </a:endParaRPr>
          </a:p>
          <a:p>
            <a:pPr marL="800100" marR="0" lvl="1"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i="0" u="none" strike="noStrike" cap="none" normalizeH="0" baseline="0">
                <a:ln>
                  <a:noFill/>
                </a:ln>
                <a:effectLst/>
              </a:rPr>
              <a:t>Marketing Spend has a moderate correlation</a:t>
            </a:r>
            <a:r>
              <a:rPr lang="en-US" altLang="en-US" sz="2000"/>
              <a:t> which means </a:t>
            </a:r>
            <a:r>
              <a:rPr lang="en-US" sz="2000"/>
              <a:t>contributes, but less consistently.</a:t>
            </a:r>
            <a:endParaRPr kumimoji="0" lang="en-US" altLang="en-US" sz="2000" i="0" u="none" strike="noStrike" cap="none" normalizeH="0" baseline="0">
              <a:ln>
                <a:noFill/>
              </a:ln>
              <a:effectLst/>
            </a:endParaRPr>
          </a:p>
          <a:p>
            <a:pPr marR="0" lvl="1"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i="0" u="none" strike="noStrike" cap="none" normalizeH="0" baseline="0">
                <a:ln>
                  <a:noFill/>
                </a:ln>
                <a:effectLst/>
              </a:rPr>
              <a:t>Administration appears to have weak or negligible correlation with Profit, means </a:t>
            </a:r>
            <a:r>
              <a:rPr lang="en-US" sz="2000"/>
              <a:t>little direct impact on profit</a:t>
            </a:r>
            <a:br>
              <a:rPr lang="en-US" altLang="en-US" sz="2000"/>
            </a:br>
            <a:endParaRPr kumimoji="0" lang="en-US" altLang="en-US" sz="2000" i="0" u="none" strike="noStrike" cap="none" normalizeH="0" baseline="0">
              <a:ln>
                <a:noFill/>
              </a:ln>
              <a:solidFill>
                <a:schemeClr val="tx1"/>
              </a:solidFill>
              <a:effectLst/>
            </a:endParaRPr>
          </a:p>
        </p:txBody>
      </p:sp>
      <p:pic>
        <p:nvPicPr>
          <p:cNvPr id="6" name="Picture 5">
            <a:extLst>
              <a:ext uri="{FF2B5EF4-FFF2-40B4-BE49-F238E27FC236}">
                <a16:creationId xmlns:a16="http://schemas.microsoft.com/office/drawing/2014/main" id="{CF3F8975-1338-8120-7D01-7351A7C7F6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8000" y="377082"/>
            <a:ext cx="6604000" cy="4952999"/>
          </a:xfrm>
          <a:prstGeom prst="rect">
            <a:avLst/>
          </a:prstGeom>
        </p:spPr>
      </p:pic>
      <p:sp>
        <p:nvSpPr>
          <p:cNvPr id="2" name="TextBox 1">
            <a:extLst>
              <a:ext uri="{FF2B5EF4-FFF2-40B4-BE49-F238E27FC236}">
                <a16:creationId xmlns:a16="http://schemas.microsoft.com/office/drawing/2014/main" id="{443CDC8B-9D34-9EC6-996E-4C8D75F09195}"/>
              </a:ext>
            </a:extLst>
          </p:cNvPr>
          <p:cNvSpPr txBox="1"/>
          <p:nvPr/>
        </p:nvSpPr>
        <p:spPr>
          <a:xfrm>
            <a:off x="260959" y="381000"/>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400" b="1" baseline="0">
                <a:latin typeface="Calibri"/>
                <a:ea typeface="Segoe UI"/>
                <a:cs typeface="Segoe UI"/>
              </a:rPr>
              <a:t>Exploratory Data Analysis (EDA)</a:t>
            </a:r>
            <a:r>
              <a:rPr lang="en-US" sz="2400">
                <a:latin typeface="Calibri"/>
                <a:ea typeface="Segoe UI"/>
                <a:cs typeface="Segoe UI"/>
              </a:rPr>
              <a:t>​</a:t>
            </a:r>
          </a:p>
          <a:p>
            <a:pPr algn="ctr" rtl="0"/>
            <a:r>
              <a:rPr lang="en-US" sz="1800">
                <a:latin typeface="Calibri"/>
                <a:ea typeface="Segoe UI"/>
                <a:cs typeface="Segoe UI"/>
              </a:rPr>
              <a:t>​</a:t>
            </a:r>
          </a:p>
          <a:p>
            <a:pPr algn="ctr"/>
            <a:endParaRPr lang="en-US"/>
          </a:p>
        </p:txBody>
      </p:sp>
    </p:spTree>
    <p:extLst>
      <p:ext uri="{BB962C8B-B14F-4D97-AF65-F5344CB8AC3E}">
        <p14:creationId xmlns:p14="http://schemas.microsoft.com/office/powerpoint/2010/main" val="655292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7C5848-4788-84E9-143C-F582E66CCF3A}"/>
              </a:ext>
            </a:extLst>
          </p:cNvPr>
          <p:cNvPicPr>
            <a:picLocks noChangeAspect="1"/>
          </p:cNvPicPr>
          <p:nvPr/>
        </p:nvPicPr>
        <p:blipFill>
          <a:blip r:embed="rId3"/>
          <a:stretch>
            <a:fillRect/>
          </a:stretch>
        </p:blipFill>
        <p:spPr>
          <a:xfrm>
            <a:off x="5938684" y="787532"/>
            <a:ext cx="5953647" cy="4236752"/>
          </a:xfrm>
          <a:prstGeom prst="rect">
            <a:avLst/>
          </a:prstGeom>
        </p:spPr>
      </p:pic>
      <p:sp>
        <p:nvSpPr>
          <p:cNvPr id="7" name="TextBox 6">
            <a:extLst>
              <a:ext uri="{FF2B5EF4-FFF2-40B4-BE49-F238E27FC236}">
                <a16:creationId xmlns:a16="http://schemas.microsoft.com/office/drawing/2014/main" id="{BFAB03D5-49E8-4E1B-D9CC-3EF4CF9BF94E}"/>
              </a:ext>
            </a:extLst>
          </p:cNvPr>
          <p:cNvSpPr txBox="1"/>
          <p:nvPr/>
        </p:nvSpPr>
        <p:spPr>
          <a:xfrm>
            <a:off x="439692" y="325328"/>
            <a:ext cx="5220929" cy="6586418"/>
          </a:xfrm>
          <a:prstGeom prst="rect">
            <a:avLst/>
          </a:prstGeom>
          <a:noFill/>
        </p:spPr>
        <p:txBody>
          <a:bodyPr wrap="square" lIns="91440" tIns="45720" rIns="91440" bIns="45720" rtlCol="0" anchor="t">
            <a:spAutoFit/>
          </a:bodyPr>
          <a:lstStyle/>
          <a:p>
            <a:r>
              <a:rPr lang="en-US" sz="2400" b="1"/>
              <a:t>Exploratory Data Analysis (EDA)</a:t>
            </a:r>
            <a:r>
              <a:rPr lang="en-US" sz="2400"/>
              <a:t> </a:t>
            </a:r>
            <a:endParaRPr lang="en-US"/>
          </a:p>
          <a:p>
            <a:endParaRPr lang="en-US" sz="2400"/>
          </a:p>
          <a:p>
            <a:r>
              <a:rPr lang="en-US" sz="2400" b="1"/>
              <a:t>State-wise Average Profit Rankings</a:t>
            </a:r>
            <a:endParaRPr lang="en-US"/>
          </a:p>
          <a:p>
            <a:endParaRPr lang="en-US" sz="2000">
              <a:ea typeface="Calibri"/>
              <a:cs typeface="Calibri"/>
            </a:endParaRPr>
          </a:p>
          <a:p>
            <a:pPr marL="342900" indent="-342900">
              <a:buAutoNum type="arabicPeriod"/>
            </a:pPr>
            <a:r>
              <a:rPr lang="en-US" sz="2000"/>
              <a:t>Florida: ~$120,000 (Highest) </a:t>
            </a:r>
            <a:endParaRPr lang="en-US" sz="2000">
              <a:ea typeface="Calibri"/>
              <a:cs typeface="Calibri"/>
            </a:endParaRPr>
          </a:p>
          <a:p>
            <a:pPr marL="342900" indent="-342900">
              <a:buAutoNum type="arabicPeriod"/>
            </a:pPr>
            <a:r>
              <a:rPr lang="en-US" sz="2000"/>
              <a:t>California: ~$118,500 (Mid) </a:t>
            </a:r>
            <a:endParaRPr lang="en-US" sz="2000">
              <a:ea typeface="Calibri"/>
              <a:cs typeface="Calibri"/>
            </a:endParaRPr>
          </a:p>
          <a:p>
            <a:pPr marL="342900" indent="-342900">
              <a:buAutoNum type="arabicPeriod"/>
            </a:pPr>
            <a:r>
              <a:rPr lang="en-US" sz="2000"/>
              <a:t>New York: ~$118,000 (Lowest) </a:t>
            </a:r>
            <a:endParaRPr lang="en-US" sz="2000">
              <a:ea typeface="Calibri"/>
              <a:cs typeface="Calibri"/>
            </a:endParaRPr>
          </a:p>
          <a:p>
            <a:endParaRPr lang="en-US"/>
          </a:p>
          <a:p>
            <a:endParaRPr lang="en-US"/>
          </a:p>
          <a:p>
            <a:r>
              <a:rPr lang="en-US" sz="2000"/>
              <a:t>Insights: </a:t>
            </a:r>
            <a:endParaRPr lang="en-US" sz="2000">
              <a:ea typeface="Calibri"/>
              <a:cs typeface="Calibri"/>
            </a:endParaRPr>
          </a:p>
          <a:p>
            <a:pPr marL="285750" indent="-285750">
              <a:buFont typeface="Arial" panose="020B0604020202020204" pitchFamily="34" charset="0"/>
              <a:buChar char="•"/>
            </a:pPr>
            <a:r>
              <a:rPr lang="en-US" sz="2000"/>
              <a:t>Profit differences across states are minimal (~2% variance) </a:t>
            </a:r>
            <a:endParaRPr lang="en-US" sz="2000">
              <a:ea typeface="Calibri" panose="020F0502020204030204"/>
              <a:cs typeface="Calibri" panose="020F0502020204030204"/>
            </a:endParaRPr>
          </a:p>
          <a:p>
            <a:pPr marL="285750" indent="-285750">
              <a:buFont typeface="Arial" panose="020B0604020202020204" pitchFamily="34" charset="0"/>
              <a:buChar char="•"/>
            </a:pPr>
            <a:r>
              <a:rPr lang="en-US" sz="2000"/>
              <a:t>Location is NOT a significant profit driver in this dataset </a:t>
            </a:r>
            <a:endParaRPr lang="en-US" sz="2000">
              <a:ea typeface="Calibri" panose="020F0502020204030204"/>
              <a:cs typeface="Calibri" panose="020F0502020204030204"/>
            </a:endParaRPr>
          </a:p>
          <a:p>
            <a:pPr marL="285750" indent="-285750">
              <a:buFont typeface="Arial" panose="020B0604020202020204" pitchFamily="34" charset="0"/>
              <a:buChar char="•"/>
            </a:pPr>
            <a:r>
              <a:rPr lang="en-US" sz="2000"/>
              <a:t>Business model and spending strategy matter more than geography </a:t>
            </a:r>
            <a:endParaRPr lang="en-US" sz="2000">
              <a:ea typeface="Calibri" panose="020F0502020204030204"/>
              <a:cs typeface="Calibri" panose="020F0502020204030204"/>
            </a:endParaRPr>
          </a:p>
          <a:p>
            <a:pPr marL="285750" indent="-285750">
              <a:buFont typeface="Arial" panose="020B0604020202020204" pitchFamily="34" charset="0"/>
              <a:buChar char="•"/>
            </a:pPr>
            <a:r>
              <a:rPr lang="en-US" sz="2000"/>
              <a:t>Suggests market conditions are relatively uniform across these states</a:t>
            </a:r>
            <a:endParaRPr lang="en-US" sz="2000">
              <a:ea typeface="Calibri" panose="020F0502020204030204"/>
              <a:cs typeface="Calibri" panose="020F0502020204030204"/>
            </a:endParaRPr>
          </a:p>
          <a:p>
            <a:endParaRPr lang="en-US"/>
          </a:p>
          <a:p>
            <a:endParaRPr lang="en-US"/>
          </a:p>
          <a:p>
            <a:endParaRPr lang="en-US"/>
          </a:p>
        </p:txBody>
      </p:sp>
    </p:spTree>
    <p:extLst>
      <p:ext uri="{BB962C8B-B14F-4D97-AF65-F5344CB8AC3E}">
        <p14:creationId xmlns:p14="http://schemas.microsoft.com/office/powerpoint/2010/main" val="982968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EBACDE-9DA1-2C93-4B9F-83B931B40299}"/>
              </a:ext>
            </a:extLst>
          </p:cNvPr>
          <p:cNvSpPr>
            <a:spLocks noGrp="1"/>
          </p:cNvSpPr>
          <p:nvPr>
            <p:ph type="title"/>
          </p:nvPr>
        </p:nvSpPr>
        <p:spPr>
          <a:xfrm>
            <a:off x="838200" y="365125"/>
            <a:ext cx="10515600" cy="1325563"/>
          </a:xfrm>
        </p:spPr>
        <p:txBody>
          <a:bodyPr>
            <a:normAutofit/>
          </a:bodyPr>
          <a:lstStyle/>
          <a:p>
            <a:r>
              <a:rPr lang="en-US" sz="5000">
                <a:latin typeface="Calibri"/>
                <a:ea typeface="Calibri"/>
                <a:cs typeface="Calibri"/>
              </a:rPr>
              <a:t>Data Quality &amp; Transformation Pipeline</a:t>
            </a:r>
          </a:p>
        </p:txBody>
      </p:sp>
      <p:sp>
        <p:nvSpPr>
          <p:cNvPr id="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C15630D-D57D-59F0-A797-5B922B26906A}"/>
              </a:ext>
            </a:extLst>
          </p:cNvPr>
          <p:cNvSpPr>
            <a:spLocks noGrp="1"/>
          </p:cNvSpPr>
          <p:nvPr>
            <p:ph idx="1"/>
          </p:nvPr>
        </p:nvSpPr>
        <p:spPr>
          <a:xfrm>
            <a:off x="838200" y="1929384"/>
            <a:ext cx="10515600" cy="4251960"/>
          </a:xfrm>
        </p:spPr>
        <p:txBody>
          <a:bodyPr vert="horz" lIns="91440" tIns="45720" rIns="91440" bIns="45720" rtlCol="0" anchor="t">
            <a:noAutofit/>
          </a:bodyPr>
          <a:lstStyle/>
          <a:p>
            <a:endParaRPr lang="en-US" sz="2400">
              <a:ea typeface="+mn-lt"/>
              <a:cs typeface="+mn-lt"/>
            </a:endParaRPr>
          </a:p>
          <a:p>
            <a:r>
              <a:rPr lang="en-US" sz="2400">
                <a:ea typeface="+mn-lt"/>
                <a:cs typeface="+mn-lt"/>
              </a:rPr>
              <a:t>Step 1: Load &amp; Normalize - Standardized column names and data types.</a:t>
            </a:r>
            <a:endParaRPr lang="en-US" sz="2400">
              <a:ea typeface="Calibri" panose="020F0502020204030204"/>
              <a:cs typeface="Calibri" panose="020F0502020204030204"/>
            </a:endParaRPr>
          </a:p>
          <a:p>
            <a:r>
              <a:rPr lang="en-US" sz="2400">
                <a:ea typeface="+mn-lt"/>
                <a:cs typeface="+mn-lt"/>
              </a:rPr>
              <a:t>Step 2: One-Hot Encoding - </a:t>
            </a:r>
            <a:r>
              <a:rPr lang="en-US" sz="2400" err="1">
                <a:ea typeface="+mn-lt"/>
                <a:cs typeface="+mn-lt"/>
              </a:rPr>
              <a:t>State_California</a:t>
            </a:r>
            <a:r>
              <a:rPr lang="en-US" sz="2400">
                <a:ea typeface="+mn-lt"/>
                <a:cs typeface="+mn-lt"/>
              </a:rPr>
              <a:t>, </a:t>
            </a:r>
            <a:r>
              <a:rPr lang="en-US" sz="2400" err="1">
                <a:ea typeface="+mn-lt"/>
                <a:cs typeface="+mn-lt"/>
              </a:rPr>
              <a:t>State_Florida</a:t>
            </a:r>
            <a:r>
              <a:rPr lang="en-US" sz="2400">
                <a:ea typeface="+mn-lt"/>
                <a:cs typeface="+mn-lt"/>
              </a:rPr>
              <a:t>, </a:t>
            </a:r>
            <a:r>
              <a:rPr lang="en-US" sz="2400" err="1">
                <a:ea typeface="+mn-lt"/>
                <a:cs typeface="+mn-lt"/>
              </a:rPr>
              <a:t>State_New</a:t>
            </a:r>
            <a:r>
              <a:rPr lang="en-US" sz="2400">
                <a:ea typeface="+mn-lt"/>
                <a:cs typeface="+mn-lt"/>
              </a:rPr>
              <a:t> York.</a:t>
            </a:r>
          </a:p>
          <a:p>
            <a:r>
              <a:rPr lang="en-US" sz="2400">
                <a:ea typeface="+mn-lt"/>
                <a:cs typeface="+mn-lt"/>
              </a:rPr>
              <a:t>Step 3: VIF Analysis - Validate multicollinearity before and after fix.</a:t>
            </a:r>
            <a:endParaRPr lang="en-US" sz="2400">
              <a:ea typeface="Calibri" panose="020F0502020204030204"/>
              <a:cs typeface="Calibri" panose="020F0502020204030204"/>
            </a:endParaRPr>
          </a:p>
          <a:p>
            <a:r>
              <a:rPr lang="en-US" sz="2400">
                <a:ea typeface="+mn-lt"/>
                <a:cs typeface="+mn-lt"/>
              </a:rPr>
              <a:t>Step 4: Feature Engineering - Created </a:t>
            </a:r>
            <a:r>
              <a:rPr lang="en-US" sz="2400" err="1">
                <a:ea typeface="+mn-lt"/>
                <a:cs typeface="+mn-lt"/>
              </a:rPr>
              <a:t>Total_Spend</a:t>
            </a:r>
            <a:r>
              <a:rPr lang="en-US" sz="2400">
                <a:ea typeface="+mn-lt"/>
                <a:cs typeface="+mn-lt"/>
              </a:rPr>
              <a:t> = </a:t>
            </a:r>
            <a:r>
              <a:rPr lang="en-US" sz="2400" err="1">
                <a:ea typeface="+mn-lt"/>
                <a:cs typeface="+mn-lt"/>
              </a:rPr>
              <a:t>R_D_Spend</a:t>
            </a:r>
            <a:r>
              <a:rPr lang="en-US" sz="2400">
                <a:ea typeface="+mn-lt"/>
                <a:cs typeface="+mn-lt"/>
              </a:rPr>
              <a:t> +</a:t>
            </a:r>
            <a:r>
              <a:rPr lang="en-US" sz="2400" err="1">
                <a:ea typeface="+mn-lt"/>
                <a:cs typeface="+mn-lt"/>
              </a:rPr>
              <a:t>Marketing_Spend</a:t>
            </a:r>
            <a:r>
              <a:rPr lang="en-US" sz="2400">
                <a:ea typeface="+mn-lt"/>
                <a:cs typeface="+mn-lt"/>
              </a:rPr>
              <a:t>.</a:t>
            </a:r>
          </a:p>
          <a:p>
            <a:r>
              <a:rPr lang="en-US" sz="2400">
                <a:ea typeface="+mn-lt"/>
                <a:cs typeface="+mn-lt"/>
              </a:rPr>
              <a:t>Step 5: Scaling - z-score standardization for </a:t>
            </a:r>
            <a:r>
              <a:rPr lang="en-US" sz="2400" err="1">
                <a:ea typeface="+mn-lt"/>
                <a:cs typeface="+mn-lt"/>
              </a:rPr>
              <a:t>Total_Spend</a:t>
            </a:r>
            <a:r>
              <a:rPr lang="en-US" sz="2400">
                <a:ea typeface="+mn-lt"/>
                <a:cs typeface="+mn-lt"/>
              </a:rPr>
              <a:t> and Administration.</a:t>
            </a:r>
          </a:p>
          <a:p>
            <a:r>
              <a:rPr lang="en-US" sz="2400">
                <a:ea typeface="+mn-lt"/>
                <a:cs typeface="+mn-lt"/>
              </a:rPr>
              <a:t>Step 6: Final Schema - Model-ready BCS dataset.</a:t>
            </a:r>
            <a:endParaRPr lang="en-US" sz="2400">
              <a:ea typeface="Calibri"/>
              <a:cs typeface="Calibri"/>
            </a:endParaRPr>
          </a:p>
          <a:p>
            <a:endParaRPr lang="en-US" sz="2400">
              <a:ea typeface="Calibri"/>
              <a:cs typeface="Calibri"/>
            </a:endParaRPr>
          </a:p>
        </p:txBody>
      </p:sp>
    </p:spTree>
    <p:extLst>
      <p:ext uri="{BB962C8B-B14F-4D97-AF65-F5344CB8AC3E}">
        <p14:creationId xmlns:p14="http://schemas.microsoft.com/office/powerpoint/2010/main" val="2146194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1EBB74A-67F2-256B-6082-9BD79B5EAD2F}"/>
              </a:ext>
            </a:extLst>
          </p:cNvPr>
          <p:cNvSpPr txBox="1"/>
          <p:nvPr/>
        </p:nvSpPr>
        <p:spPr>
          <a:xfrm>
            <a:off x="262501" y="-530227"/>
            <a:ext cx="11346631" cy="1701186"/>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200" b="1" kern="1200">
                <a:latin typeface="+mj-lt"/>
                <a:ea typeface="+mj-ea"/>
                <a:cs typeface="+mj-cs"/>
              </a:rPr>
              <a:t>Load and Normalize – Standardized column names and datatypes</a:t>
            </a:r>
            <a:endParaRPr lang="en-US" sz="3200" b="1" kern="1200">
              <a:latin typeface="+mj-lt"/>
              <a:ea typeface="Calibri Light"/>
              <a:cs typeface="Calibri Light"/>
            </a:endParaRPr>
          </a:p>
        </p:txBody>
      </p:sp>
      <p:sp>
        <p:nvSpPr>
          <p:cNvPr id="5" name="TextBox 4">
            <a:extLst>
              <a:ext uri="{FF2B5EF4-FFF2-40B4-BE49-F238E27FC236}">
                <a16:creationId xmlns:a16="http://schemas.microsoft.com/office/drawing/2014/main" id="{A2FF1309-FF80-030A-A1C1-A0BFD9727F8F}"/>
              </a:ext>
            </a:extLst>
          </p:cNvPr>
          <p:cNvSpPr txBox="1"/>
          <p:nvPr/>
        </p:nvSpPr>
        <p:spPr>
          <a:xfrm>
            <a:off x="5596502" y="1834394"/>
            <a:ext cx="5754896" cy="319746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t>Standardizing column names with underscores and correcting data types ensures consistency and reproducibility, reduces errors, and simplifies collaboration.</a:t>
            </a:r>
          </a:p>
          <a:p>
            <a:pPr marL="285750" indent="-228600">
              <a:lnSpc>
                <a:spcPct val="90000"/>
              </a:lnSpc>
              <a:spcAft>
                <a:spcPts val="600"/>
              </a:spcAft>
              <a:buFont typeface="Arial" panose="020B0604020202020204" pitchFamily="34" charset="0"/>
              <a:buChar char="•"/>
            </a:pPr>
            <a:r>
              <a:rPr lang="en-US" sz="2000" b="1"/>
              <a:t>Data Normalization</a:t>
            </a:r>
            <a:r>
              <a:rPr lang="en-US" sz="2000"/>
              <a:t> stabilizes schemas, prevents errors, and enables faster, reliable analytics with high stakeholder confidence, while Feature Engineering with derived metrics improves model performance for accurate, traceable strategic decisions.</a:t>
            </a:r>
          </a:p>
        </p:txBody>
      </p:sp>
      <p:sp>
        <p:nvSpPr>
          <p:cNvPr id="8" name="Rectangle 7">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CFD24743-94D8-3EAA-F9AF-0D49F52FEAA6}"/>
              </a:ext>
            </a:extLst>
          </p:cNvPr>
          <p:cNvGraphicFramePr>
            <a:graphicFrameLocks noGrp="1"/>
          </p:cNvGraphicFramePr>
          <p:nvPr>
            <p:ph idx="1"/>
            <p:extLst>
              <p:ext uri="{D42A27DB-BD31-4B8C-83A1-F6EECF244321}">
                <p14:modId xmlns:p14="http://schemas.microsoft.com/office/powerpoint/2010/main" val="28820230"/>
              </p:ext>
            </p:extLst>
          </p:nvPr>
        </p:nvGraphicFramePr>
        <p:xfrm>
          <a:off x="1068130" y="2188370"/>
          <a:ext cx="3876166" cy="2049567"/>
        </p:xfrm>
        <a:graphic>
          <a:graphicData uri="http://schemas.openxmlformats.org/drawingml/2006/table">
            <a:tbl>
              <a:tblPr firstRow="1" bandRow="1">
                <a:tableStyleId>{5A111915-BE36-4E01-A7E5-04B1672EAD32}</a:tableStyleId>
              </a:tblPr>
              <a:tblGrid>
                <a:gridCol w="1757400">
                  <a:extLst>
                    <a:ext uri="{9D8B030D-6E8A-4147-A177-3AD203B41FA5}">
                      <a16:colId xmlns:a16="http://schemas.microsoft.com/office/drawing/2014/main" val="383356241"/>
                    </a:ext>
                  </a:extLst>
                </a:gridCol>
                <a:gridCol w="2118766">
                  <a:extLst>
                    <a:ext uri="{9D8B030D-6E8A-4147-A177-3AD203B41FA5}">
                      <a16:colId xmlns:a16="http://schemas.microsoft.com/office/drawing/2014/main" val="3972526923"/>
                    </a:ext>
                  </a:extLst>
                </a:gridCol>
              </a:tblGrid>
              <a:tr h="641985">
                <a:tc>
                  <a:txBody>
                    <a:bodyPr/>
                    <a:lstStyle/>
                    <a:p>
                      <a:pPr lvl="0">
                        <a:buNone/>
                      </a:pPr>
                      <a:r>
                        <a:rPr lang="en-US" sz="1800" u="none" strike="noStrike" cap="all" noProof="0">
                          <a:solidFill>
                            <a:srgbClr val="000000"/>
                          </a:solidFill>
                        </a:rPr>
                        <a:t>Columns Before</a:t>
                      </a:r>
                      <a:endParaRPr lang="en-US" sz="1800">
                        <a:solidFill>
                          <a:srgbClr val="000000"/>
                        </a:solidFill>
                      </a:endParaRPr>
                    </a:p>
                  </a:txBody>
                  <a:tcPr marL="59812" marR="59812" marT="29906" marB="29906"/>
                </a:tc>
                <a:tc>
                  <a:txBody>
                    <a:bodyPr/>
                    <a:lstStyle/>
                    <a:p>
                      <a:pPr lvl="0">
                        <a:buNone/>
                      </a:pPr>
                      <a:r>
                        <a:rPr lang="en-US" sz="1800" u="none" strike="noStrike" cap="all" noProof="0">
                          <a:solidFill>
                            <a:srgbClr val="000000"/>
                          </a:solidFill>
                        </a:rPr>
                        <a:t>Columns After</a:t>
                      </a:r>
                      <a:endParaRPr lang="en-US" sz="1800">
                        <a:solidFill>
                          <a:srgbClr val="000000"/>
                        </a:solidFill>
                      </a:endParaRPr>
                    </a:p>
                  </a:txBody>
                  <a:tcPr marL="59812" marR="59812" marT="29906" marB="29906"/>
                </a:tc>
                <a:extLst>
                  <a:ext uri="{0D108BD9-81ED-4DB2-BD59-A6C34878D82A}">
                    <a16:rowId xmlns:a16="http://schemas.microsoft.com/office/drawing/2014/main" val="2729826067"/>
                  </a:ext>
                </a:extLst>
              </a:tr>
              <a:tr h="372830">
                <a:tc>
                  <a:txBody>
                    <a:bodyPr/>
                    <a:lstStyle/>
                    <a:p>
                      <a:pPr lvl="0">
                        <a:buNone/>
                      </a:pPr>
                      <a:r>
                        <a:rPr lang="en-US" sz="1900" u="none" strike="noStrike" noProof="0">
                          <a:solidFill>
                            <a:srgbClr val="000000"/>
                          </a:solidFill>
                        </a:rPr>
                        <a:t>R&amp;D Spend</a:t>
                      </a:r>
                      <a:endParaRPr lang="en-US" sz="1200">
                        <a:solidFill>
                          <a:srgbClr val="000000"/>
                        </a:solidFill>
                      </a:endParaRPr>
                    </a:p>
                  </a:txBody>
                  <a:tcPr marL="59812" marR="59812" marT="29906" marB="29906"/>
                </a:tc>
                <a:tc>
                  <a:txBody>
                    <a:bodyPr/>
                    <a:lstStyle/>
                    <a:p>
                      <a:pPr lvl="0">
                        <a:buNone/>
                      </a:pPr>
                      <a:r>
                        <a:rPr lang="en-US" sz="1900" u="none" strike="noStrike" noProof="0" err="1">
                          <a:solidFill>
                            <a:srgbClr val="000000"/>
                          </a:solidFill>
                        </a:rPr>
                        <a:t>R_D_Spend</a:t>
                      </a:r>
                      <a:endParaRPr lang="en-US" sz="1200">
                        <a:solidFill>
                          <a:srgbClr val="000000"/>
                        </a:solidFill>
                      </a:endParaRPr>
                    </a:p>
                  </a:txBody>
                  <a:tcPr marL="59812" marR="59812" marT="29906" marB="29906"/>
                </a:tc>
                <a:extLst>
                  <a:ext uri="{0D108BD9-81ED-4DB2-BD59-A6C34878D82A}">
                    <a16:rowId xmlns:a16="http://schemas.microsoft.com/office/drawing/2014/main" val="84876514"/>
                  </a:ext>
                </a:extLst>
              </a:tr>
              <a:tr h="661922">
                <a:tc>
                  <a:txBody>
                    <a:bodyPr/>
                    <a:lstStyle/>
                    <a:p>
                      <a:pPr lvl="0">
                        <a:buNone/>
                      </a:pPr>
                      <a:r>
                        <a:rPr lang="en-US" sz="1900" u="none" strike="noStrike" noProof="0">
                          <a:solidFill>
                            <a:srgbClr val="000000"/>
                          </a:solidFill>
                        </a:rPr>
                        <a:t>Marketing Spend</a:t>
                      </a:r>
                      <a:endParaRPr lang="en-US" sz="1200">
                        <a:solidFill>
                          <a:srgbClr val="000000"/>
                        </a:solidFill>
                      </a:endParaRPr>
                    </a:p>
                  </a:txBody>
                  <a:tcPr marL="59812" marR="59812" marT="29906" marB="29906"/>
                </a:tc>
                <a:tc>
                  <a:txBody>
                    <a:bodyPr/>
                    <a:lstStyle/>
                    <a:p>
                      <a:pPr lvl="0">
                        <a:buNone/>
                      </a:pPr>
                      <a:r>
                        <a:rPr lang="en-US" sz="1900" u="none" strike="noStrike" noProof="0" err="1">
                          <a:solidFill>
                            <a:srgbClr val="000000"/>
                          </a:solidFill>
                        </a:rPr>
                        <a:t>Marketing_Spend</a:t>
                      </a:r>
                      <a:endParaRPr lang="en-US" sz="1200">
                        <a:solidFill>
                          <a:srgbClr val="000000"/>
                        </a:solidFill>
                      </a:endParaRPr>
                    </a:p>
                  </a:txBody>
                  <a:tcPr marL="59812" marR="59812" marT="29906" marB="29906"/>
                </a:tc>
                <a:extLst>
                  <a:ext uri="{0D108BD9-81ED-4DB2-BD59-A6C34878D82A}">
                    <a16:rowId xmlns:a16="http://schemas.microsoft.com/office/drawing/2014/main" val="4257272916"/>
                  </a:ext>
                </a:extLst>
              </a:tr>
              <a:tr h="372830">
                <a:tc>
                  <a:txBody>
                    <a:bodyPr/>
                    <a:lstStyle/>
                    <a:p>
                      <a:pPr lvl="0">
                        <a:buNone/>
                      </a:pPr>
                      <a:r>
                        <a:rPr lang="en-US" sz="1900" u="none" strike="noStrike" noProof="0">
                          <a:solidFill>
                            <a:srgbClr val="000000"/>
                          </a:solidFill>
                        </a:rPr>
                        <a:t>Administration</a:t>
                      </a:r>
                      <a:endParaRPr lang="en-US" sz="1200">
                        <a:solidFill>
                          <a:srgbClr val="000000"/>
                        </a:solidFill>
                      </a:endParaRPr>
                    </a:p>
                  </a:txBody>
                  <a:tcPr marL="59812" marR="59812" marT="29906" marB="29906"/>
                </a:tc>
                <a:tc>
                  <a:txBody>
                    <a:bodyPr/>
                    <a:lstStyle/>
                    <a:p>
                      <a:pPr lvl="0">
                        <a:buNone/>
                      </a:pPr>
                      <a:r>
                        <a:rPr lang="en-US" sz="1900" u="none" strike="noStrike" noProof="0">
                          <a:solidFill>
                            <a:srgbClr val="000000"/>
                          </a:solidFill>
                        </a:rPr>
                        <a:t>Administration</a:t>
                      </a:r>
                    </a:p>
                  </a:txBody>
                  <a:tcPr marL="59812" marR="59812" marT="29906" marB="29906"/>
                </a:tc>
                <a:extLst>
                  <a:ext uri="{0D108BD9-81ED-4DB2-BD59-A6C34878D82A}">
                    <a16:rowId xmlns:a16="http://schemas.microsoft.com/office/drawing/2014/main" val="2687388307"/>
                  </a:ext>
                </a:extLst>
              </a:tr>
            </a:tbl>
          </a:graphicData>
        </a:graphic>
      </p:graphicFrame>
    </p:spTree>
    <p:extLst>
      <p:ext uri="{BB962C8B-B14F-4D97-AF65-F5344CB8AC3E}">
        <p14:creationId xmlns:p14="http://schemas.microsoft.com/office/powerpoint/2010/main" val="1343226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3EF91A6-44AD-BFB0-D2C6-7178CA47CCD1}"/>
              </a:ext>
            </a:extLst>
          </p:cNvPr>
          <p:cNvSpPr>
            <a:spLocks noGrp="1"/>
          </p:cNvSpPr>
          <p:nvPr>
            <p:ph type="title"/>
          </p:nvPr>
        </p:nvSpPr>
        <p:spPr>
          <a:xfrm>
            <a:off x="595904" y="156818"/>
            <a:ext cx="5325926" cy="1783622"/>
          </a:xfrm>
        </p:spPr>
        <p:txBody>
          <a:bodyPr>
            <a:normAutofit/>
          </a:bodyPr>
          <a:lstStyle/>
          <a:p>
            <a:r>
              <a:rPr lang="en-US" b="1">
                <a:ea typeface="Calibri Light"/>
                <a:cs typeface="Calibri Light"/>
              </a:rPr>
              <a:t>One Hot Encoding</a:t>
            </a:r>
          </a:p>
        </p:txBody>
      </p:sp>
      <p:sp>
        <p:nvSpPr>
          <p:cNvPr id="3" name="Content Placeholder 2">
            <a:extLst>
              <a:ext uri="{FF2B5EF4-FFF2-40B4-BE49-F238E27FC236}">
                <a16:creationId xmlns:a16="http://schemas.microsoft.com/office/drawing/2014/main" id="{482D7253-08CB-D9A7-4950-07C069520A6B}"/>
              </a:ext>
            </a:extLst>
          </p:cNvPr>
          <p:cNvSpPr>
            <a:spLocks noGrp="1"/>
          </p:cNvSpPr>
          <p:nvPr>
            <p:ph idx="1"/>
          </p:nvPr>
        </p:nvSpPr>
        <p:spPr>
          <a:xfrm>
            <a:off x="264600" y="1520450"/>
            <a:ext cx="5829513" cy="4593280"/>
          </a:xfrm>
        </p:spPr>
        <p:txBody>
          <a:bodyPr vert="horz" lIns="91440" tIns="45720" rIns="91440" bIns="45720" rtlCol="0" anchor="t">
            <a:noAutofit/>
          </a:bodyPr>
          <a:lstStyle/>
          <a:p>
            <a:pPr marL="0" indent="0">
              <a:spcBef>
                <a:spcPts val="2500"/>
              </a:spcBef>
              <a:buNone/>
            </a:pPr>
            <a:r>
              <a:rPr lang="en-US" sz="1600" b="1">
                <a:latin typeface="Selawik"/>
              </a:rPr>
              <a:t>Purpose of One-Hot Encoding</a:t>
            </a:r>
            <a:endParaRPr lang="en-US" sz="1600">
              <a:latin typeface="Selawik"/>
            </a:endParaRPr>
          </a:p>
          <a:p>
            <a:pPr lvl="1"/>
            <a:r>
              <a:rPr lang="en-US" sz="1600">
                <a:latin typeface="Selawik"/>
              </a:rPr>
              <a:t>Converts categorical data into numerical format to enable machine learning algorithm processing effectively.</a:t>
            </a:r>
          </a:p>
          <a:p>
            <a:pPr marL="0" indent="0">
              <a:spcBef>
                <a:spcPts val="2500"/>
              </a:spcBef>
              <a:buNone/>
            </a:pPr>
            <a:r>
              <a:rPr lang="en-US" sz="1600" b="1">
                <a:latin typeface="Selawik"/>
              </a:rPr>
              <a:t>Schema Stability Importance</a:t>
            </a:r>
            <a:endParaRPr lang="en-US" sz="1600">
              <a:latin typeface="Selawik"/>
            </a:endParaRPr>
          </a:p>
          <a:p>
            <a:pPr lvl="1"/>
            <a:r>
              <a:rPr lang="en-US" sz="1600">
                <a:latin typeface="Selawik"/>
              </a:rPr>
              <a:t>Maintains fixed data structure during updates, preventing model disruptions from new or missing categories.</a:t>
            </a:r>
          </a:p>
          <a:p>
            <a:pPr marL="0" indent="0">
              <a:spcBef>
                <a:spcPts val="2500"/>
              </a:spcBef>
              <a:buNone/>
            </a:pPr>
            <a:r>
              <a:rPr lang="en-US" sz="1600" b="1">
                <a:latin typeface="Selawik"/>
              </a:rPr>
              <a:t>Business Impact and Efficiency</a:t>
            </a:r>
            <a:endParaRPr lang="en-US" sz="1600">
              <a:latin typeface="Selawik"/>
            </a:endParaRPr>
          </a:p>
          <a:p>
            <a:pPr lvl="1"/>
            <a:r>
              <a:rPr lang="en-US" sz="1600">
                <a:latin typeface="Selawik"/>
              </a:rPr>
              <a:t>Enhances operational efficiency and reduces risk with stable models, supporting confident deployments.</a:t>
            </a:r>
          </a:p>
          <a:p>
            <a:pPr marL="0" indent="0">
              <a:spcBef>
                <a:spcPts val="2500"/>
              </a:spcBef>
              <a:buNone/>
            </a:pPr>
            <a:r>
              <a:rPr lang="en-US" sz="1600" b="1">
                <a:latin typeface="Selawik"/>
              </a:rPr>
              <a:t>Improved Interpretability and Analytics</a:t>
            </a:r>
            <a:endParaRPr lang="en-US" sz="1600">
              <a:latin typeface="Selawik"/>
            </a:endParaRPr>
          </a:p>
          <a:p>
            <a:pPr lvl="1"/>
            <a:r>
              <a:rPr lang="en-US" sz="1600">
                <a:latin typeface="Selawik"/>
              </a:rPr>
              <a:t>Makes regional effects explicit, aiding strategic decision-making and enabling advanced modeling techniques.</a:t>
            </a:r>
            <a:endParaRPr lang="en-US" sz="1600">
              <a:ea typeface="Calibri"/>
              <a:cs typeface="Calibri"/>
            </a:endParaRPr>
          </a:p>
        </p:txBody>
      </p:sp>
      <p:graphicFrame>
        <p:nvGraphicFramePr>
          <p:cNvPr id="5" name="Table 4">
            <a:extLst>
              <a:ext uri="{FF2B5EF4-FFF2-40B4-BE49-F238E27FC236}">
                <a16:creationId xmlns:a16="http://schemas.microsoft.com/office/drawing/2014/main" id="{A89EF059-262B-50B1-8A07-D0339CD5D28E}"/>
              </a:ext>
            </a:extLst>
          </p:cNvPr>
          <p:cNvGraphicFramePr>
            <a:graphicFrameLocks noGrp="1"/>
          </p:cNvGraphicFramePr>
          <p:nvPr>
            <p:extLst>
              <p:ext uri="{D42A27DB-BD31-4B8C-83A1-F6EECF244321}">
                <p14:modId xmlns:p14="http://schemas.microsoft.com/office/powerpoint/2010/main" val="3827030193"/>
              </p:ext>
            </p:extLst>
          </p:nvPr>
        </p:nvGraphicFramePr>
        <p:xfrm>
          <a:off x="6880610" y="1947206"/>
          <a:ext cx="4737651" cy="2985806"/>
        </p:xfrm>
        <a:graphic>
          <a:graphicData uri="http://schemas.openxmlformats.org/drawingml/2006/table">
            <a:tbl>
              <a:tblPr firstRow="1" bandRow="1">
                <a:solidFill>
                  <a:schemeClr val="tx1">
                    <a:lumMod val="75000"/>
                    <a:lumOff val="25000"/>
                  </a:schemeClr>
                </a:solidFill>
                <a:tableStyleId>{5C22544A-7EE6-4342-B048-85BDC9FD1C3A}</a:tableStyleId>
              </a:tblPr>
              <a:tblGrid>
                <a:gridCol w="1728799">
                  <a:extLst>
                    <a:ext uri="{9D8B030D-6E8A-4147-A177-3AD203B41FA5}">
                      <a16:colId xmlns:a16="http://schemas.microsoft.com/office/drawing/2014/main" val="211680510"/>
                    </a:ext>
                  </a:extLst>
                </a:gridCol>
                <a:gridCol w="1621059">
                  <a:extLst>
                    <a:ext uri="{9D8B030D-6E8A-4147-A177-3AD203B41FA5}">
                      <a16:colId xmlns:a16="http://schemas.microsoft.com/office/drawing/2014/main" val="3837268644"/>
                    </a:ext>
                  </a:extLst>
                </a:gridCol>
                <a:gridCol w="1387793">
                  <a:extLst>
                    <a:ext uri="{9D8B030D-6E8A-4147-A177-3AD203B41FA5}">
                      <a16:colId xmlns:a16="http://schemas.microsoft.com/office/drawing/2014/main" val="2339082315"/>
                    </a:ext>
                  </a:extLst>
                </a:gridCol>
              </a:tblGrid>
              <a:tr h="811526">
                <a:tc>
                  <a:txBody>
                    <a:bodyPr/>
                    <a:lstStyle/>
                    <a:p>
                      <a:pPr>
                        <a:buNone/>
                      </a:pPr>
                      <a:r>
                        <a:rPr lang="en-US" sz="1800" cap="none" spc="0" err="1">
                          <a:solidFill>
                            <a:srgbClr val="FFFFFF"/>
                          </a:solidFill>
                          <a:effectLst/>
                        </a:rPr>
                        <a:t>State_California</a:t>
                      </a:r>
                      <a:endParaRPr lang="en-US" sz="1800" cap="none" spc="0">
                        <a:solidFill>
                          <a:srgbClr val="FFFFFF"/>
                        </a:solidFill>
                        <a:effectLst/>
                      </a:endParaRPr>
                    </a:p>
                  </a:txBody>
                  <a:tcPr marL="149290" marR="0" marT="114839" marB="114839"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800" cap="none" spc="0" err="1">
                          <a:solidFill>
                            <a:srgbClr val="FFFFFF"/>
                          </a:solidFill>
                          <a:effectLst/>
                        </a:rPr>
                        <a:t>State_Florida</a:t>
                      </a:r>
                      <a:endParaRPr lang="en-US" sz="1800" cap="none" spc="0">
                        <a:solidFill>
                          <a:srgbClr val="FFFFFF"/>
                        </a:solidFill>
                        <a:effectLst/>
                      </a:endParaRPr>
                    </a:p>
                  </a:txBody>
                  <a:tcPr marL="149290" marR="0" marT="114839" marB="11483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800" cap="none" spc="0" err="1">
                          <a:solidFill>
                            <a:srgbClr val="FFFFFF"/>
                          </a:solidFill>
                          <a:effectLst/>
                        </a:rPr>
                        <a:t>State_New</a:t>
                      </a:r>
                      <a:r>
                        <a:rPr lang="en-US" sz="1800" cap="none" spc="0">
                          <a:solidFill>
                            <a:srgbClr val="FFFFFF"/>
                          </a:solidFill>
                          <a:effectLst/>
                        </a:rPr>
                        <a:t> York</a:t>
                      </a:r>
                    </a:p>
                  </a:txBody>
                  <a:tcPr marL="149290" marR="0" marT="114839" marB="114839"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339535372"/>
                  </a:ext>
                </a:extLst>
              </a:tr>
              <a:tr h="543570">
                <a:tc>
                  <a:txBody>
                    <a:bodyPr/>
                    <a:lstStyle/>
                    <a:p>
                      <a:pPr algn="r">
                        <a:buNone/>
                      </a:pPr>
                      <a:r>
                        <a:rPr lang="en-US" sz="1800" cap="none" spc="0">
                          <a:solidFill>
                            <a:srgbClr val="FFFFFF"/>
                          </a:solidFill>
                          <a:effectLst/>
                        </a:rPr>
                        <a:t>0</a:t>
                      </a:r>
                    </a:p>
                  </a:txBody>
                  <a:tcPr marL="149290" marR="0" marT="114839" marB="114839" anchor="ctr">
                    <a:lnL w="38100" cap="flat" cmpd="sng" algn="ctr">
                      <a:no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r">
                        <a:buNone/>
                      </a:pPr>
                      <a:r>
                        <a:rPr lang="en-US" sz="1800" cap="none" spc="0">
                          <a:solidFill>
                            <a:srgbClr val="FFFFFF"/>
                          </a:solidFill>
                        </a:rPr>
                        <a:t>0</a:t>
                      </a:r>
                    </a:p>
                  </a:txBody>
                  <a:tcPr marL="149290" marR="0" marT="114839" marB="11483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r">
                        <a:buNone/>
                      </a:pPr>
                      <a:r>
                        <a:rPr lang="en-US" sz="1800" cap="none" spc="0">
                          <a:solidFill>
                            <a:srgbClr val="FFFFFF"/>
                          </a:solidFill>
                        </a:rPr>
                        <a:t>1</a:t>
                      </a:r>
                    </a:p>
                  </a:txBody>
                  <a:tcPr marL="149290" marR="0" marT="114839" marB="114839" anchor="ctr">
                    <a:lnL w="6350" cap="flat" cmpd="sng" algn="ctr">
                      <a:solidFill>
                        <a:schemeClr val="tx1">
                          <a:lumMod val="50000"/>
                          <a:lumOff val="50000"/>
                        </a:schemeClr>
                      </a:solidFill>
                      <a:prstDash val="solid"/>
                    </a:lnL>
                    <a:lnR w="38100" cap="flat" cmpd="sng" algn="ctr">
                      <a:no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110626236"/>
                  </a:ext>
                </a:extLst>
              </a:tr>
              <a:tr h="543570">
                <a:tc>
                  <a:txBody>
                    <a:bodyPr/>
                    <a:lstStyle/>
                    <a:p>
                      <a:pPr algn="r">
                        <a:buNone/>
                      </a:pPr>
                      <a:r>
                        <a:rPr lang="en-US" sz="1800" cap="none" spc="0">
                          <a:solidFill>
                            <a:srgbClr val="FFFFFF"/>
                          </a:solidFill>
                          <a:effectLst/>
                        </a:rPr>
                        <a:t>1</a:t>
                      </a:r>
                    </a:p>
                  </a:txBody>
                  <a:tcPr marL="149290" marR="0" marT="114839" marB="11483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gn="r">
                        <a:buNone/>
                      </a:pPr>
                      <a:r>
                        <a:rPr lang="en-US" sz="1800" cap="none" spc="0">
                          <a:solidFill>
                            <a:srgbClr val="FFFFFF"/>
                          </a:solidFill>
                        </a:rPr>
                        <a:t>0</a:t>
                      </a:r>
                    </a:p>
                  </a:txBody>
                  <a:tcPr marL="149290" marR="0" marT="114839" marB="11483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gn="r">
                        <a:buNone/>
                      </a:pPr>
                      <a:r>
                        <a:rPr lang="en-US" sz="1800" cap="none" spc="0">
                          <a:solidFill>
                            <a:srgbClr val="FFFFFF"/>
                          </a:solidFill>
                        </a:rPr>
                        <a:t>0</a:t>
                      </a:r>
                    </a:p>
                  </a:txBody>
                  <a:tcPr marL="149290" marR="0" marT="114839" marB="11483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2543989105"/>
                  </a:ext>
                </a:extLst>
              </a:tr>
              <a:tr h="543570">
                <a:tc>
                  <a:txBody>
                    <a:bodyPr/>
                    <a:lstStyle/>
                    <a:p>
                      <a:pPr algn="r">
                        <a:buNone/>
                      </a:pPr>
                      <a:r>
                        <a:rPr lang="en-US" sz="1800" cap="none" spc="0">
                          <a:solidFill>
                            <a:srgbClr val="FFFFFF"/>
                          </a:solidFill>
                          <a:effectLst/>
                        </a:rPr>
                        <a:t>0</a:t>
                      </a:r>
                    </a:p>
                  </a:txBody>
                  <a:tcPr marL="149290" marR="0" marT="114839" marB="114839"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r">
                        <a:buNone/>
                      </a:pPr>
                      <a:r>
                        <a:rPr lang="en-US" sz="1800" cap="none" spc="0">
                          <a:solidFill>
                            <a:srgbClr val="FFFFFF"/>
                          </a:solidFill>
                        </a:rPr>
                        <a:t>1</a:t>
                      </a:r>
                    </a:p>
                  </a:txBody>
                  <a:tcPr marL="149290" marR="0" marT="114839" marB="11483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r">
                        <a:buNone/>
                      </a:pPr>
                      <a:r>
                        <a:rPr lang="en-US" sz="1800" cap="none" spc="0">
                          <a:solidFill>
                            <a:srgbClr val="FFFFFF"/>
                          </a:solidFill>
                        </a:rPr>
                        <a:t>0</a:t>
                      </a:r>
                    </a:p>
                  </a:txBody>
                  <a:tcPr marL="149290" marR="0" marT="114839" marB="114839"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343172588"/>
                  </a:ext>
                </a:extLst>
              </a:tr>
              <a:tr h="543570">
                <a:tc>
                  <a:txBody>
                    <a:bodyPr/>
                    <a:lstStyle/>
                    <a:p>
                      <a:pPr algn="r">
                        <a:buNone/>
                      </a:pPr>
                      <a:r>
                        <a:rPr lang="en-US" sz="1800" cap="none" spc="0">
                          <a:solidFill>
                            <a:srgbClr val="FFFFFF"/>
                          </a:solidFill>
                          <a:effectLst/>
                        </a:rPr>
                        <a:t>0</a:t>
                      </a:r>
                    </a:p>
                  </a:txBody>
                  <a:tcPr marL="149290" marR="0" marT="114839" marB="11483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gn="r">
                        <a:buNone/>
                      </a:pPr>
                      <a:r>
                        <a:rPr lang="en-US" sz="1800" cap="none" spc="0">
                          <a:solidFill>
                            <a:srgbClr val="FFFFFF"/>
                          </a:solidFill>
                        </a:rPr>
                        <a:t>0</a:t>
                      </a:r>
                    </a:p>
                  </a:txBody>
                  <a:tcPr marL="149290" marR="0" marT="114839" marB="11483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algn="r">
                        <a:buNone/>
                      </a:pPr>
                      <a:r>
                        <a:rPr lang="en-US" sz="1800" cap="none" spc="0">
                          <a:solidFill>
                            <a:srgbClr val="FFFFFF"/>
                          </a:solidFill>
                        </a:rPr>
                        <a:t>1</a:t>
                      </a:r>
                    </a:p>
                  </a:txBody>
                  <a:tcPr marL="149290" marR="0" marT="114839" marB="11483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945044298"/>
                  </a:ext>
                </a:extLst>
              </a:tr>
            </a:tbl>
          </a:graphicData>
        </a:graphic>
      </p:graphicFrame>
    </p:spTree>
    <p:extLst>
      <p:ext uri="{BB962C8B-B14F-4D97-AF65-F5344CB8AC3E}">
        <p14:creationId xmlns:p14="http://schemas.microsoft.com/office/powerpoint/2010/main" val="2559607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712D4-B93A-F505-C834-A25EBD3EA79B}"/>
              </a:ext>
            </a:extLst>
          </p:cNvPr>
          <p:cNvSpPr>
            <a:spLocks noGrp="1"/>
          </p:cNvSpPr>
          <p:nvPr>
            <p:ph type="title"/>
          </p:nvPr>
        </p:nvSpPr>
        <p:spPr/>
        <p:txBody>
          <a:bodyPr/>
          <a:lstStyle/>
          <a:p>
            <a:r>
              <a:rPr lang="en-US" sz="3600" b="1">
                <a:latin typeface="Calibri"/>
                <a:ea typeface="Calibri"/>
                <a:cs typeface="Calibri"/>
              </a:rPr>
              <a:t>Fixing Multicollinearity- Variance Inflation Factor</a:t>
            </a:r>
          </a:p>
          <a:p>
            <a:endParaRPr lang="en-US" sz="3600" b="1">
              <a:latin typeface="Calibri"/>
              <a:ea typeface="Calibri Light"/>
              <a:cs typeface="Calibri Light"/>
            </a:endParaRPr>
          </a:p>
        </p:txBody>
      </p:sp>
      <p:sp>
        <p:nvSpPr>
          <p:cNvPr id="3" name="Text Placeholder 2">
            <a:extLst>
              <a:ext uri="{FF2B5EF4-FFF2-40B4-BE49-F238E27FC236}">
                <a16:creationId xmlns:a16="http://schemas.microsoft.com/office/drawing/2014/main" id="{F29127B7-8549-F737-8BE3-F2FA66574BF2}"/>
              </a:ext>
            </a:extLst>
          </p:cNvPr>
          <p:cNvSpPr>
            <a:spLocks noGrp="1"/>
          </p:cNvSpPr>
          <p:nvPr>
            <p:ph type="body" idx="1"/>
          </p:nvPr>
        </p:nvSpPr>
        <p:spPr/>
        <p:txBody>
          <a:bodyPr>
            <a:noAutofit/>
          </a:bodyPr>
          <a:lstStyle/>
          <a:p>
            <a:r>
              <a:rPr lang="en-US">
                <a:solidFill>
                  <a:srgbClr val="131313"/>
                </a:solidFill>
                <a:latin typeface="Neue Haas Grotesk Text Pro"/>
              </a:rPr>
              <a:t>Original Schema VIF Analysis</a:t>
            </a:r>
            <a:endParaRPr lang="en-US">
              <a:ea typeface="Calibri"/>
              <a:cs typeface="Calibri"/>
            </a:endParaRPr>
          </a:p>
        </p:txBody>
      </p:sp>
      <p:graphicFrame>
        <p:nvGraphicFramePr>
          <p:cNvPr id="8" name="Content Placeholder 7">
            <a:extLst>
              <a:ext uri="{FF2B5EF4-FFF2-40B4-BE49-F238E27FC236}">
                <a16:creationId xmlns:a16="http://schemas.microsoft.com/office/drawing/2014/main" id="{EE028641-6B10-2DA5-51A3-963D2E638E62}"/>
              </a:ext>
            </a:extLst>
          </p:cNvPr>
          <p:cNvGraphicFramePr>
            <a:graphicFrameLocks noGrp="1"/>
          </p:cNvGraphicFramePr>
          <p:nvPr>
            <p:ph sz="half" idx="2"/>
            <p:extLst>
              <p:ext uri="{D42A27DB-BD31-4B8C-83A1-F6EECF244321}">
                <p14:modId xmlns:p14="http://schemas.microsoft.com/office/powerpoint/2010/main" val="599314228"/>
              </p:ext>
            </p:extLst>
          </p:nvPr>
        </p:nvGraphicFramePr>
        <p:xfrm>
          <a:off x="839788" y="2505075"/>
          <a:ext cx="5005900" cy="2247463"/>
        </p:xfrm>
        <a:graphic>
          <a:graphicData uri="http://schemas.openxmlformats.org/drawingml/2006/table">
            <a:tbl>
              <a:tblPr bandRow="1">
                <a:tableStyleId>{5940675A-B579-460E-94D1-54222C63F5DA}</a:tableStyleId>
              </a:tblPr>
              <a:tblGrid>
                <a:gridCol w="2565100">
                  <a:extLst>
                    <a:ext uri="{9D8B030D-6E8A-4147-A177-3AD203B41FA5}">
                      <a16:colId xmlns:a16="http://schemas.microsoft.com/office/drawing/2014/main" val="3802782690"/>
                    </a:ext>
                  </a:extLst>
                </a:gridCol>
                <a:gridCol w="2440800">
                  <a:extLst>
                    <a:ext uri="{9D8B030D-6E8A-4147-A177-3AD203B41FA5}">
                      <a16:colId xmlns:a16="http://schemas.microsoft.com/office/drawing/2014/main" val="4226418522"/>
                    </a:ext>
                  </a:extLst>
                </a:gridCol>
              </a:tblGrid>
              <a:tr h="706318">
                <a:tc>
                  <a:txBody>
                    <a:bodyPr/>
                    <a:lstStyle/>
                    <a:p>
                      <a:pPr algn="l" fontAlgn="base">
                        <a:lnSpc>
                          <a:spcPts val="4650"/>
                        </a:lnSpc>
                        <a:buNone/>
                      </a:pPr>
                      <a:r>
                        <a:rPr lang="en-US" sz="1800" b="1" cap="all">
                          <a:solidFill>
                            <a:srgbClr val="131313"/>
                          </a:solidFill>
                          <a:effectLst/>
                        </a:rPr>
                        <a:t>Feature</a:t>
                      </a:r>
                      <a:endParaRPr lang="en-US" sz="1800" b="1">
                        <a:solidFill>
                          <a:srgbClr val="FFFFFF"/>
                        </a:solidFill>
                        <a:effectLst/>
                      </a:endParaRPr>
                    </a:p>
                  </a:txBody>
                  <a:tcPr anchor="ctr"/>
                </a:tc>
                <a:tc>
                  <a:txBody>
                    <a:bodyPr/>
                    <a:lstStyle/>
                    <a:p>
                      <a:pPr algn="l" fontAlgn="base">
                        <a:lnSpc>
                          <a:spcPts val="4650"/>
                        </a:lnSpc>
                        <a:buNone/>
                      </a:pPr>
                      <a:r>
                        <a:rPr lang="en-US" sz="1800" b="1" cap="all">
                          <a:solidFill>
                            <a:srgbClr val="131313"/>
                          </a:solidFill>
                          <a:effectLst/>
                        </a:rPr>
                        <a:t>VIF Score</a:t>
                      </a:r>
                      <a:endParaRPr lang="en-US" sz="1800" b="1">
                        <a:solidFill>
                          <a:srgbClr val="FFFFFF"/>
                        </a:solidFill>
                        <a:effectLst/>
                      </a:endParaRPr>
                    </a:p>
                  </a:txBody>
                  <a:tcPr anchor="ctr"/>
                </a:tc>
                <a:extLst>
                  <a:ext uri="{0D108BD9-81ED-4DB2-BD59-A6C34878D82A}">
                    <a16:rowId xmlns:a16="http://schemas.microsoft.com/office/drawing/2014/main" val="2601657972"/>
                  </a:ext>
                </a:extLst>
              </a:tr>
              <a:tr h="0">
                <a:tc>
                  <a:txBody>
                    <a:bodyPr/>
                    <a:lstStyle/>
                    <a:p>
                      <a:pPr algn="l" fontAlgn="base">
                        <a:lnSpc>
                          <a:spcPts val="3825"/>
                        </a:lnSpc>
                        <a:buNone/>
                      </a:pPr>
                      <a:r>
                        <a:rPr lang="en-US" sz="1800" err="1">
                          <a:solidFill>
                            <a:srgbClr val="131313"/>
                          </a:solidFill>
                          <a:effectLst/>
                        </a:rPr>
                        <a:t>R_D_Spend</a:t>
                      </a:r>
                      <a:endParaRPr lang="en-US" sz="1800">
                        <a:solidFill>
                          <a:srgbClr val="131313"/>
                        </a:solidFill>
                        <a:effectLst/>
                      </a:endParaRPr>
                    </a:p>
                  </a:txBody>
                  <a:tcPr anchor="ctr"/>
                </a:tc>
                <a:tc>
                  <a:txBody>
                    <a:bodyPr/>
                    <a:lstStyle/>
                    <a:p>
                      <a:pPr algn="l" fontAlgn="base">
                        <a:lnSpc>
                          <a:spcPts val="3825"/>
                        </a:lnSpc>
                        <a:buNone/>
                      </a:pPr>
                      <a:r>
                        <a:rPr lang="en-US" sz="1800">
                          <a:solidFill>
                            <a:srgbClr val="131313"/>
                          </a:solidFill>
                          <a:effectLst/>
                        </a:rPr>
                        <a:t>25.16</a:t>
                      </a:r>
                    </a:p>
                  </a:txBody>
                  <a:tcPr anchor="ctr"/>
                </a:tc>
                <a:extLst>
                  <a:ext uri="{0D108BD9-81ED-4DB2-BD59-A6C34878D82A}">
                    <a16:rowId xmlns:a16="http://schemas.microsoft.com/office/drawing/2014/main" val="3758221914"/>
                  </a:ext>
                </a:extLst>
              </a:tr>
              <a:tr h="0">
                <a:tc>
                  <a:txBody>
                    <a:bodyPr/>
                    <a:lstStyle/>
                    <a:p>
                      <a:pPr algn="l" fontAlgn="base">
                        <a:lnSpc>
                          <a:spcPts val="3825"/>
                        </a:lnSpc>
                        <a:buNone/>
                      </a:pPr>
                      <a:r>
                        <a:rPr lang="en-US" sz="1800">
                          <a:solidFill>
                            <a:srgbClr val="131313"/>
                          </a:solidFill>
                          <a:effectLst/>
                        </a:rPr>
                        <a:t>Administration</a:t>
                      </a:r>
                    </a:p>
                  </a:txBody>
                  <a:tcPr anchor="ctr"/>
                </a:tc>
                <a:tc>
                  <a:txBody>
                    <a:bodyPr/>
                    <a:lstStyle/>
                    <a:p>
                      <a:pPr algn="l" fontAlgn="base">
                        <a:lnSpc>
                          <a:spcPts val="3825"/>
                        </a:lnSpc>
                        <a:buNone/>
                      </a:pPr>
                      <a:r>
                        <a:rPr lang="en-US" sz="1800">
                          <a:solidFill>
                            <a:srgbClr val="131313"/>
                          </a:solidFill>
                          <a:effectLst/>
                        </a:rPr>
                        <a:t>1.63</a:t>
                      </a:r>
                    </a:p>
                  </a:txBody>
                  <a:tcPr anchor="ctr"/>
                </a:tc>
                <a:extLst>
                  <a:ext uri="{0D108BD9-81ED-4DB2-BD59-A6C34878D82A}">
                    <a16:rowId xmlns:a16="http://schemas.microsoft.com/office/drawing/2014/main" val="3789256738"/>
                  </a:ext>
                </a:extLst>
              </a:tr>
              <a:tr h="0">
                <a:tc>
                  <a:txBody>
                    <a:bodyPr/>
                    <a:lstStyle/>
                    <a:p>
                      <a:pPr algn="l" fontAlgn="base">
                        <a:lnSpc>
                          <a:spcPts val="3825"/>
                        </a:lnSpc>
                        <a:buNone/>
                      </a:pPr>
                      <a:r>
                        <a:rPr lang="en-US" sz="1800" err="1">
                          <a:solidFill>
                            <a:srgbClr val="131313"/>
                          </a:solidFill>
                          <a:effectLst/>
                        </a:rPr>
                        <a:t>Marketing_Spend</a:t>
                      </a:r>
                      <a:endParaRPr lang="en-US" sz="1800">
                        <a:solidFill>
                          <a:srgbClr val="131313"/>
                        </a:solidFill>
                        <a:effectLst/>
                      </a:endParaRPr>
                    </a:p>
                  </a:txBody>
                  <a:tcPr anchor="ctr"/>
                </a:tc>
                <a:tc>
                  <a:txBody>
                    <a:bodyPr/>
                    <a:lstStyle/>
                    <a:p>
                      <a:pPr algn="l" fontAlgn="base">
                        <a:lnSpc>
                          <a:spcPts val="3825"/>
                        </a:lnSpc>
                        <a:buNone/>
                      </a:pPr>
                      <a:r>
                        <a:rPr lang="en-US" sz="1800">
                          <a:solidFill>
                            <a:srgbClr val="131313"/>
                          </a:solidFill>
                          <a:effectLst/>
                        </a:rPr>
                        <a:t>22.80</a:t>
                      </a:r>
                    </a:p>
                  </a:txBody>
                  <a:tcPr anchor="ctr"/>
                </a:tc>
                <a:extLst>
                  <a:ext uri="{0D108BD9-81ED-4DB2-BD59-A6C34878D82A}">
                    <a16:rowId xmlns:a16="http://schemas.microsoft.com/office/drawing/2014/main" val="2233720753"/>
                  </a:ext>
                </a:extLst>
              </a:tr>
            </a:tbl>
          </a:graphicData>
        </a:graphic>
      </p:graphicFrame>
      <p:sp>
        <p:nvSpPr>
          <p:cNvPr id="5" name="Text Placeholder 4">
            <a:extLst>
              <a:ext uri="{FF2B5EF4-FFF2-40B4-BE49-F238E27FC236}">
                <a16:creationId xmlns:a16="http://schemas.microsoft.com/office/drawing/2014/main" id="{B3D32BF8-A772-AD73-69FF-CE669192EDEC}"/>
              </a:ext>
            </a:extLst>
          </p:cNvPr>
          <p:cNvSpPr>
            <a:spLocks noGrp="1"/>
          </p:cNvSpPr>
          <p:nvPr>
            <p:ph type="body" sz="quarter" idx="3"/>
          </p:nvPr>
        </p:nvSpPr>
        <p:spPr/>
        <p:txBody>
          <a:bodyPr>
            <a:normAutofit/>
          </a:bodyPr>
          <a:lstStyle/>
          <a:p>
            <a:r>
              <a:rPr lang="en-US">
                <a:solidFill>
                  <a:srgbClr val="131313"/>
                </a:solidFill>
                <a:latin typeface="Neue Haas Grotesk Text Pro"/>
              </a:rPr>
              <a:t>Reduced Schema VIF Analysis</a:t>
            </a:r>
            <a:endParaRPr lang="en-US"/>
          </a:p>
        </p:txBody>
      </p:sp>
      <p:graphicFrame>
        <p:nvGraphicFramePr>
          <p:cNvPr id="7" name="Content Placeholder 6">
            <a:extLst>
              <a:ext uri="{FF2B5EF4-FFF2-40B4-BE49-F238E27FC236}">
                <a16:creationId xmlns:a16="http://schemas.microsoft.com/office/drawing/2014/main" id="{CDE2278A-22E2-F5A5-409B-DB042E9C768E}"/>
              </a:ext>
            </a:extLst>
          </p:cNvPr>
          <p:cNvGraphicFramePr>
            <a:graphicFrameLocks noGrp="1"/>
          </p:cNvGraphicFramePr>
          <p:nvPr>
            <p:ph sz="quarter" idx="4"/>
            <p:extLst>
              <p:ext uri="{D42A27DB-BD31-4B8C-83A1-F6EECF244321}">
                <p14:modId xmlns:p14="http://schemas.microsoft.com/office/powerpoint/2010/main" val="895879123"/>
              </p:ext>
            </p:extLst>
          </p:nvPr>
        </p:nvGraphicFramePr>
        <p:xfrm>
          <a:off x="6172200" y="2505075"/>
          <a:ext cx="5183188" cy="1112520"/>
        </p:xfrm>
        <a:graphic>
          <a:graphicData uri="http://schemas.openxmlformats.org/drawingml/2006/table">
            <a:tbl>
              <a:tblPr firstRow="1" bandRow="1">
                <a:tableStyleId>{5940675A-B579-460E-94D1-54222C63F5DA}</a:tableStyleId>
              </a:tblPr>
              <a:tblGrid>
                <a:gridCol w="2591594">
                  <a:extLst>
                    <a:ext uri="{9D8B030D-6E8A-4147-A177-3AD203B41FA5}">
                      <a16:colId xmlns:a16="http://schemas.microsoft.com/office/drawing/2014/main" val="400023156"/>
                    </a:ext>
                  </a:extLst>
                </a:gridCol>
                <a:gridCol w="2591594">
                  <a:extLst>
                    <a:ext uri="{9D8B030D-6E8A-4147-A177-3AD203B41FA5}">
                      <a16:colId xmlns:a16="http://schemas.microsoft.com/office/drawing/2014/main" val="523335184"/>
                    </a:ext>
                  </a:extLst>
                </a:gridCol>
              </a:tblGrid>
              <a:tr h="370840">
                <a:tc>
                  <a:txBody>
                    <a:bodyPr/>
                    <a:lstStyle/>
                    <a:p>
                      <a:r>
                        <a:rPr lang="en-US" sz="1800" b="1"/>
                        <a:t>FEATURE</a:t>
                      </a:r>
                    </a:p>
                  </a:txBody>
                  <a:tcPr/>
                </a:tc>
                <a:tc>
                  <a:txBody>
                    <a:bodyPr/>
                    <a:lstStyle/>
                    <a:p>
                      <a:r>
                        <a:rPr lang="en-US" sz="1800" b="1"/>
                        <a:t>VIF SCORE</a:t>
                      </a:r>
                    </a:p>
                  </a:txBody>
                  <a:tcPr/>
                </a:tc>
                <a:extLst>
                  <a:ext uri="{0D108BD9-81ED-4DB2-BD59-A6C34878D82A}">
                    <a16:rowId xmlns:a16="http://schemas.microsoft.com/office/drawing/2014/main" val="1517763851"/>
                  </a:ext>
                </a:extLst>
              </a:tr>
              <a:tr h="370840">
                <a:tc>
                  <a:txBody>
                    <a:bodyPr/>
                    <a:lstStyle/>
                    <a:p>
                      <a:pPr lvl="0">
                        <a:buNone/>
                      </a:pPr>
                      <a:r>
                        <a:rPr lang="en-US" sz="1800" u="none" strike="noStrike" noProof="0" err="1"/>
                        <a:t>Total_Spend</a:t>
                      </a:r>
                      <a:endParaRPr lang="en-US" sz="1800"/>
                    </a:p>
                  </a:txBody>
                  <a:tcPr/>
                </a:tc>
                <a:tc>
                  <a:txBody>
                    <a:bodyPr/>
                    <a:lstStyle/>
                    <a:p>
                      <a:r>
                        <a:rPr lang="en-US" sz="1800"/>
                        <a:t>1.42</a:t>
                      </a:r>
                    </a:p>
                  </a:txBody>
                  <a:tcPr/>
                </a:tc>
                <a:extLst>
                  <a:ext uri="{0D108BD9-81ED-4DB2-BD59-A6C34878D82A}">
                    <a16:rowId xmlns:a16="http://schemas.microsoft.com/office/drawing/2014/main" val="3969342229"/>
                  </a:ext>
                </a:extLst>
              </a:tr>
              <a:tr h="370840">
                <a:tc>
                  <a:txBody>
                    <a:bodyPr/>
                    <a:lstStyle/>
                    <a:p>
                      <a:pPr lvl="0">
                        <a:buNone/>
                      </a:pPr>
                      <a:r>
                        <a:rPr lang="en-US" sz="1800" u="none" strike="noStrike" noProof="0"/>
                        <a:t>Administration</a:t>
                      </a:r>
                      <a:endParaRPr lang="en-US" sz="1800"/>
                    </a:p>
                  </a:txBody>
                  <a:tcPr/>
                </a:tc>
                <a:tc>
                  <a:txBody>
                    <a:bodyPr/>
                    <a:lstStyle/>
                    <a:p>
                      <a:r>
                        <a:rPr lang="en-US" sz="1800"/>
                        <a:t>1.42</a:t>
                      </a:r>
                    </a:p>
                  </a:txBody>
                  <a:tcPr/>
                </a:tc>
                <a:extLst>
                  <a:ext uri="{0D108BD9-81ED-4DB2-BD59-A6C34878D82A}">
                    <a16:rowId xmlns:a16="http://schemas.microsoft.com/office/drawing/2014/main" val="1455046374"/>
                  </a:ext>
                </a:extLst>
              </a:tr>
            </a:tbl>
          </a:graphicData>
        </a:graphic>
      </p:graphicFrame>
      <p:sp>
        <p:nvSpPr>
          <p:cNvPr id="4" name="TextBox 3">
            <a:extLst>
              <a:ext uri="{FF2B5EF4-FFF2-40B4-BE49-F238E27FC236}">
                <a16:creationId xmlns:a16="http://schemas.microsoft.com/office/drawing/2014/main" id="{171CB70E-0B45-70F0-3B37-4E08AFB0242E}"/>
              </a:ext>
            </a:extLst>
          </p:cNvPr>
          <p:cNvSpPr txBox="1"/>
          <p:nvPr/>
        </p:nvSpPr>
        <p:spPr>
          <a:xfrm>
            <a:off x="7607132" y="4002092"/>
            <a:ext cx="362696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Sans-Serif"/>
              <a:buChar char="•"/>
            </a:pPr>
            <a:r>
              <a:rPr lang="en-US" sz="1600" b="1">
                <a:ea typeface="Calibri"/>
                <a:cs typeface="Calibri"/>
              </a:rPr>
              <a:t>VIF ≈ 1</a:t>
            </a:r>
            <a:r>
              <a:rPr lang="en-US" sz="1600">
                <a:ea typeface="Calibri"/>
                <a:cs typeface="Calibri"/>
              </a:rPr>
              <a:t> → No multicollinearity (safe)</a:t>
            </a:r>
            <a:endParaRPr lang="en-US" sz="1600">
              <a:solidFill>
                <a:srgbClr val="444444"/>
              </a:solidFill>
              <a:ea typeface="Calibri"/>
              <a:cs typeface="Calibri"/>
            </a:endParaRPr>
          </a:p>
          <a:p>
            <a:pPr marL="171450" indent="-171450">
              <a:buFont typeface="Arial,Sans-Serif"/>
              <a:buChar char="•"/>
            </a:pPr>
            <a:r>
              <a:rPr lang="en-US" sz="1600" b="1">
                <a:ea typeface="Calibri"/>
                <a:cs typeface="Calibri"/>
              </a:rPr>
              <a:t>VIF ≥ 5</a:t>
            </a:r>
            <a:r>
              <a:rPr lang="en-US" sz="1600">
                <a:ea typeface="Calibri"/>
                <a:cs typeface="Calibri"/>
              </a:rPr>
              <a:t> → High concern</a:t>
            </a:r>
            <a:endParaRPr lang="en-US" sz="1600">
              <a:solidFill>
                <a:srgbClr val="444444"/>
              </a:solidFill>
              <a:ea typeface="Calibri"/>
              <a:cs typeface="Calibri"/>
            </a:endParaRPr>
          </a:p>
          <a:p>
            <a:pPr marL="171450" indent="-171450">
              <a:buFont typeface="Arial,Sans-Serif"/>
              <a:buChar char="•"/>
            </a:pPr>
            <a:r>
              <a:rPr lang="en-US" sz="1600" b="1">
                <a:ea typeface="Calibri"/>
                <a:cs typeface="Calibri"/>
              </a:rPr>
              <a:t>VIF ≥ 10</a:t>
            </a:r>
            <a:r>
              <a:rPr lang="en-US" sz="1600">
                <a:ea typeface="Calibri"/>
                <a:cs typeface="Calibri"/>
              </a:rPr>
              <a:t> → Severe problem</a:t>
            </a:r>
            <a:endParaRPr lang="en-US" sz="1600">
              <a:solidFill>
                <a:srgbClr val="444444"/>
              </a:solidFill>
              <a:ea typeface="Calibri"/>
              <a:cs typeface="Calibri"/>
            </a:endParaRPr>
          </a:p>
          <a:p>
            <a:pPr algn="l"/>
            <a:endParaRPr lang="en-US">
              <a:ea typeface="Calibri"/>
              <a:cs typeface="Calibri"/>
            </a:endParaRPr>
          </a:p>
        </p:txBody>
      </p:sp>
      <p:sp>
        <p:nvSpPr>
          <p:cNvPr id="6" name="TextBox 5">
            <a:extLst>
              <a:ext uri="{FF2B5EF4-FFF2-40B4-BE49-F238E27FC236}">
                <a16:creationId xmlns:a16="http://schemas.microsoft.com/office/drawing/2014/main" id="{907D45DE-6D04-6FD6-E965-4F99E9990032}"/>
              </a:ext>
            </a:extLst>
          </p:cNvPr>
          <p:cNvSpPr txBox="1"/>
          <p:nvPr/>
        </p:nvSpPr>
        <p:spPr>
          <a:xfrm>
            <a:off x="519377" y="5673613"/>
            <a:ext cx="1082003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Sans-Serif"/>
              <a:buChar char="•"/>
            </a:pPr>
            <a:r>
              <a:rPr lang="en-US" sz="2000" b="1">
                <a:ea typeface="Calibri"/>
                <a:cs typeface="Calibri"/>
              </a:rPr>
              <a:t>Engineered </a:t>
            </a:r>
            <a:r>
              <a:rPr lang="en-US" sz="2000" b="1" err="1">
                <a:ea typeface="Calibri"/>
                <a:cs typeface="Calibri"/>
              </a:rPr>
              <a:t>Total_Spend</a:t>
            </a:r>
            <a:r>
              <a:rPr lang="en-US" sz="2000">
                <a:ea typeface="Calibri"/>
                <a:cs typeface="Calibri"/>
              </a:rPr>
              <a:t> by combining </a:t>
            </a:r>
            <a:r>
              <a:rPr lang="en-US" sz="2000" b="1" err="1">
                <a:ea typeface="Calibri"/>
                <a:cs typeface="Calibri"/>
              </a:rPr>
              <a:t>R_D_Spend</a:t>
            </a:r>
            <a:r>
              <a:rPr lang="en-US" sz="2000" b="1">
                <a:ea typeface="Calibri"/>
                <a:cs typeface="Calibri"/>
              </a:rPr>
              <a:t> + </a:t>
            </a:r>
            <a:r>
              <a:rPr lang="en-US" sz="2000" b="1" err="1">
                <a:ea typeface="Calibri"/>
                <a:cs typeface="Calibri"/>
              </a:rPr>
              <a:t>Marketing_Spend</a:t>
            </a:r>
            <a:r>
              <a:rPr lang="en-US" sz="2000">
                <a:ea typeface="Calibri"/>
                <a:cs typeface="Calibri"/>
              </a:rPr>
              <a:t> to reduce redundancy.</a:t>
            </a:r>
            <a:endParaRPr lang="en-US" sz="2000">
              <a:solidFill>
                <a:srgbClr val="000000"/>
              </a:solidFill>
              <a:ea typeface="Calibri"/>
              <a:cs typeface="Calibri"/>
            </a:endParaRPr>
          </a:p>
          <a:p>
            <a:pPr marL="171450" indent="-171450">
              <a:buFont typeface="Arial,Sans-Serif"/>
              <a:buChar char="•"/>
            </a:pPr>
            <a:r>
              <a:rPr lang="en-US" sz="2000">
                <a:ea typeface="Calibri"/>
                <a:cs typeface="Calibri"/>
              </a:rPr>
              <a:t>Reduced VIF scores enhances model stability and forecasting accuracy by removing redundant variables.</a:t>
            </a:r>
          </a:p>
          <a:p>
            <a:endParaRPr lang="en-US" sz="2000">
              <a:ea typeface="Calibri"/>
              <a:cs typeface="Calibri"/>
            </a:endParaRPr>
          </a:p>
        </p:txBody>
      </p:sp>
    </p:spTree>
    <p:extLst>
      <p:ext uri="{BB962C8B-B14F-4D97-AF65-F5344CB8AC3E}">
        <p14:creationId xmlns:p14="http://schemas.microsoft.com/office/powerpoint/2010/main" val="277824532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09A52EDA-83F5-7340-6054-135136B0C9D4}"/>
              </a:ext>
            </a:extLst>
          </p:cNvPr>
          <p:cNvSpPr>
            <a:spLocks noGrp="1"/>
          </p:cNvSpPr>
          <p:nvPr>
            <p:ph type="title"/>
          </p:nvPr>
        </p:nvSpPr>
        <p:spPr>
          <a:xfrm>
            <a:off x="841248" y="685800"/>
            <a:ext cx="10506456" cy="1157005"/>
          </a:xfrm>
        </p:spPr>
        <p:txBody>
          <a:bodyPr anchor="b">
            <a:normAutofit/>
          </a:bodyPr>
          <a:lstStyle/>
          <a:p>
            <a:pPr algn="ctr"/>
            <a:r>
              <a:rPr lang="en-US" sz="3200" b="1">
                <a:latin typeface="Calibri"/>
                <a:ea typeface="Calibri"/>
                <a:cs typeface="Calibri"/>
              </a:rPr>
              <a:t>Feature Engineering - Created Total Spend to capture aggregate investment</a:t>
            </a:r>
            <a:endParaRPr lang="en-US" sz="3200" b="1">
              <a:ea typeface="Calibri Light"/>
              <a:cs typeface="Calibri Light"/>
            </a:endParaRPr>
          </a:p>
        </p:txBody>
      </p:sp>
      <p:sp>
        <p:nvSpPr>
          <p:cNvPr id="33" name="Rectangle 32">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id="{D63B5581-4AD6-2688-104C-1EB83E7B6444}"/>
              </a:ext>
            </a:extLst>
          </p:cNvPr>
          <p:cNvGraphicFramePr>
            <a:graphicFrameLocks noGrp="1"/>
          </p:cNvGraphicFramePr>
          <p:nvPr>
            <p:ph idx="1"/>
            <p:extLst>
              <p:ext uri="{D42A27DB-BD31-4B8C-83A1-F6EECF244321}">
                <p14:modId xmlns:p14="http://schemas.microsoft.com/office/powerpoint/2010/main" val="2160946459"/>
              </p:ext>
            </p:extLst>
          </p:nvPr>
        </p:nvGraphicFramePr>
        <p:xfrm>
          <a:off x="838200" y="2660500"/>
          <a:ext cx="10506457" cy="3146454"/>
        </p:xfrm>
        <a:graphic>
          <a:graphicData uri="http://schemas.openxmlformats.org/drawingml/2006/table">
            <a:tbl>
              <a:tblPr firstRow="1" bandRow="1">
                <a:tableStyleId>{5940675A-B579-460E-94D1-54222C63F5DA}</a:tableStyleId>
              </a:tblPr>
              <a:tblGrid>
                <a:gridCol w="3535707">
                  <a:extLst>
                    <a:ext uri="{9D8B030D-6E8A-4147-A177-3AD203B41FA5}">
                      <a16:colId xmlns:a16="http://schemas.microsoft.com/office/drawing/2014/main" val="4143194550"/>
                    </a:ext>
                  </a:extLst>
                </a:gridCol>
                <a:gridCol w="4207536">
                  <a:extLst>
                    <a:ext uri="{9D8B030D-6E8A-4147-A177-3AD203B41FA5}">
                      <a16:colId xmlns:a16="http://schemas.microsoft.com/office/drawing/2014/main" val="685508956"/>
                    </a:ext>
                  </a:extLst>
                </a:gridCol>
                <a:gridCol w="2763214">
                  <a:extLst>
                    <a:ext uri="{9D8B030D-6E8A-4147-A177-3AD203B41FA5}">
                      <a16:colId xmlns:a16="http://schemas.microsoft.com/office/drawing/2014/main" val="3013159581"/>
                    </a:ext>
                  </a:extLst>
                </a:gridCol>
              </a:tblGrid>
              <a:tr h="524409">
                <a:tc>
                  <a:txBody>
                    <a:bodyPr/>
                    <a:lstStyle/>
                    <a:p>
                      <a:pPr>
                        <a:buNone/>
                      </a:pPr>
                      <a:r>
                        <a:rPr lang="en-US" sz="3200" b="1" err="1">
                          <a:effectLst/>
                        </a:rPr>
                        <a:t>Total_Spend</a:t>
                      </a:r>
                    </a:p>
                  </a:txBody>
                  <a:tcPr marL="0" marR="0" marT="0" marB="0" anchor="ctr"/>
                </a:tc>
                <a:tc>
                  <a:txBody>
                    <a:bodyPr/>
                    <a:lstStyle/>
                    <a:p>
                      <a:pPr>
                        <a:buNone/>
                      </a:pPr>
                      <a:r>
                        <a:rPr lang="en-US" sz="3200" b="1">
                          <a:effectLst/>
                        </a:rPr>
                        <a:t>Administration</a:t>
                      </a:r>
                    </a:p>
                  </a:txBody>
                  <a:tcPr marL="0" marR="0" marT="0" marB="0" anchor="ctr"/>
                </a:tc>
                <a:tc>
                  <a:txBody>
                    <a:bodyPr/>
                    <a:lstStyle/>
                    <a:p>
                      <a:pPr>
                        <a:buNone/>
                      </a:pPr>
                      <a:r>
                        <a:rPr lang="en-US" sz="3200" b="1">
                          <a:effectLst/>
                        </a:rPr>
                        <a:t>Profit</a:t>
                      </a:r>
                    </a:p>
                  </a:txBody>
                  <a:tcPr marL="0" marR="0" marT="0" marB="0" anchor="ctr"/>
                </a:tc>
                <a:extLst>
                  <a:ext uri="{0D108BD9-81ED-4DB2-BD59-A6C34878D82A}">
                    <a16:rowId xmlns:a16="http://schemas.microsoft.com/office/drawing/2014/main" val="1126691871"/>
                  </a:ext>
                </a:extLst>
              </a:tr>
              <a:tr h="524409">
                <a:tc>
                  <a:txBody>
                    <a:bodyPr/>
                    <a:lstStyle/>
                    <a:p>
                      <a:pPr algn="r">
                        <a:buNone/>
                      </a:pPr>
                      <a:r>
                        <a:rPr lang="en-US" sz="3200">
                          <a:effectLst/>
                        </a:rPr>
                        <a:t>637133.3</a:t>
                      </a:r>
                    </a:p>
                  </a:txBody>
                  <a:tcPr marL="0" marR="0" marT="0" marB="0" anchor="ctr"/>
                </a:tc>
                <a:tc>
                  <a:txBody>
                    <a:bodyPr/>
                    <a:lstStyle/>
                    <a:p>
                      <a:pPr algn="r">
                        <a:buNone/>
                      </a:pPr>
                      <a:r>
                        <a:rPr lang="en-US" sz="3200"/>
                        <a:t>136897.8</a:t>
                      </a:r>
                    </a:p>
                  </a:txBody>
                  <a:tcPr marL="0" marR="0" marT="0" marB="0" anchor="ctr"/>
                </a:tc>
                <a:tc>
                  <a:txBody>
                    <a:bodyPr/>
                    <a:lstStyle/>
                    <a:p>
                      <a:pPr algn="r">
                        <a:buNone/>
                      </a:pPr>
                      <a:r>
                        <a:rPr lang="en-US" sz="3200"/>
                        <a:t>192261.8</a:t>
                      </a:r>
                    </a:p>
                  </a:txBody>
                  <a:tcPr marL="0" marR="0" marT="0" marB="0" anchor="ctr"/>
                </a:tc>
                <a:extLst>
                  <a:ext uri="{0D108BD9-81ED-4DB2-BD59-A6C34878D82A}">
                    <a16:rowId xmlns:a16="http://schemas.microsoft.com/office/drawing/2014/main" val="2925829461"/>
                  </a:ext>
                </a:extLst>
              </a:tr>
              <a:tr h="524409">
                <a:tc>
                  <a:txBody>
                    <a:bodyPr/>
                    <a:lstStyle/>
                    <a:p>
                      <a:pPr algn="r">
                        <a:buNone/>
                      </a:pPr>
                      <a:r>
                        <a:rPr lang="en-US" sz="3200">
                          <a:effectLst/>
                        </a:rPr>
                        <a:t>606496.2</a:t>
                      </a:r>
                    </a:p>
                  </a:txBody>
                  <a:tcPr marL="0" marR="0" marT="0" marB="0" anchor="ctr"/>
                </a:tc>
                <a:tc>
                  <a:txBody>
                    <a:bodyPr/>
                    <a:lstStyle/>
                    <a:p>
                      <a:pPr algn="r">
                        <a:buNone/>
                      </a:pPr>
                      <a:r>
                        <a:rPr lang="en-US" sz="3200"/>
                        <a:t>151377.6</a:t>
                      </a:r>
                    </a:p>
                  </a:txBody>
                  <a:tcPr marL="0" marR="0" marT="0" marB="0" anchor="ctr"/>
                </a:tc>
                <a:tc>
                  <a:txBody>
                    <a:bodyPr/>
                    <a:lstStyle/>
                    <a:p>
                      <a:pPr algn="r">
                        <a:buNone/>
                      </a:pPr>
                      <a:r>
                        <a:rPr lang="en-US" sz="3200"/>
                        <a:t>191792.1</a:t>
                      </a:r>
                    </a:p>
                  </a:txBody>
                  <a:tcPr marL="0" marR="0" marT="0" marB="0" anchor="ctr"/>
                </a:tc>
                <a:extLst>
                  <a:ext uri="{0D108BD9-81ED-4DB2-BD59-A6C34878D82A}">
                    <a16:rowId xmlns:a16="http://schemas.microsoft.com/office/drawing/2014/main" val="463797712"/>
                  </a:ext>
                </a:extLst>
              </a:tr>
              <a:tr h="524409">
                <a:tc>
                  <a:txBody>
                    <a:bodyPr/>
                    <a:lstStyle/>
                    <a:p>
                      <a:pPr algn="r">
                        <a:buNone/>
                      </a:pPr>
                      <a:r>
                        <a:rPr lang="en-US" sz="3200">
                          <a:effectLst/>
                        </a:rPr>
                        <a:t>561376.1</a:t>
                      </a:r>
                    </a:p>
                  </a:txBody>
                  <a:tcPr marL="0" marR="0" marT="0" marB="0" anchor="ctr"/>
                </a:tc>
                <a:tc>
                  <a:txBody>
                    <a:bodyPr/>
                    <a:lstStyle/>
                    <a:p>
                      <a:pPr algn="r">
                        <a:buNone/>
                      </a:pPr>
                      <a:r>
                        <a:rPr lang="en-US" sz="3200"/>
                        <a:t>101145.6</a:t>
                      </a:r>
                    </a:p>
                  </a:txBody>
                  <a:tcPr marL="0" marR="0" marT="0" marB="0" anchor="ctr"/>
                </a:tc>
                <a:tc>
                  <a:txBody>
                    <a:bodyPr/>
                    <a:lstStyle/>
                    <a:p>
                      <a:pPr algn="r">
                        <a:buNone/>
                      </a:pPr>
                      <a:r>
                        <a:rPr lang="en-US" sz="3200"/>
                        <a:t>191050.4</a:t>
                      </a:r>
                    </a:p>
                  </a:txBody>
                  <a:tcPr marL="0" marR="0" marT="0" marB="0" anchor="ctr"/>
                </a:tc>
                <a:extLst>
                  <a:ext uri="{0D108BD9-81ED-4DB2-BD59-A6C34878D82A}">
                    <a16:rowId xmlns:a16="http://schemas.microsoft.com/office/drawing/2014/main" val="4240833029"/>
                  </a:ext>
                </a:extLst>
              </a:tr>
              <a:tr h="524409">
                <a:tc>
                  <a:txBody>
                    <a:bodyPr/>
                    <a:lstStyle/>
                    <a:p>
                      <a:pPr algn="r">
                        <a:buNone/>
                      </a:pPr>
                      <a:r>
                        <a:rPr lang="en-US" sz="3200">
                          <a:effectLst/>
                        </a:rPr>
                        <a:t>527572</a:t>
                      </a:r>
                    </a:p>
                  </a:txBody>
                  <a:tcPr marL="0" marR="0" marT="0" marB="0" anchor="ctr"/>
                </a:tc>
                <a:tc>
                  <a:txBody>
                    <a:bodyPr/>
                    <a:lstStyle/>
                    <a:p>
                      <a:pPr algn="r">
                        <a:buNone/>
                      </a:pPr>
                      <a:r>
                        <a:rPr lang="en-US" sz="3200"/>
                        <a:t>118671.9</a:t>
                      </a:r>
                    </a:p>
                  </a:txBody>
                  <a:tcPr marL="0" marR="0" marT="0" marB="0" anchor="ctr"/>
                </a:tc>
                <a:tc>
                  <a:txBody>
                    <a:bodyPr/>
                    <a:lstStyle/>
                    <a:p>
                      <a:pPr algn="r">
                        <a:buNone/>
                      </a:pPr>
                      <a:r>
                        <a:rPr lang="en-US" sz="3200"/>
                        <a:t>182902</a:t>
                      </a:r>
                    </a:p>
                  </a:txBody>
                  <a:tcPr marL="0" marR="0" marT="0" marB="0" anchor="ctr"/>
                </a:tc>
                <a:extLst>
                  <a:ext uri="{0D108BD9-81ED-4DB2-BD59-A6C34878D82A}">
                    <a16:rowId xmlns:a16="http://schemas.microsoft.com/office/drawing/2014/main" val="3917359786"/>
                  </a:ext>
                </a:extLst>
              </a:tr>
              <a:tr h="524409">
                <a:tc>
                  <a:txBody>
                    <a:bodyPr/>
                    <a:lstStyle/>
                    <a:p>
                      <a:pPr algn="r">
                        <a:buNone/>
                      </a:pPr>
                      <a:r>
                        <a:rPr lang="en-US" sz="3200">
                          <a:effectLst/>
                        </a:rPr>
                        <a:t>508275.8</a:t>
                      </a:r>
                    </a:p>
                  </a:txBody>
                  <a:tcPr marL="0" marR="0" marT="0" marB="0" anchor="ctr"/>
                </a:tc>
                <a:tc>
                  <a:txBody>
                    <a:bodyPr/>
                    <a:lstStyle/>
                    <a:p>
                      <a:pPr algn="r">
                        <a:buNone/>
                      </a:pPr>
                      <a:r>
                        <a:rPr lang="en-US" sz="3200"/>
                        <a:t>91391.77</a:t>
                      </a:r>
                    </a:p>
                  </a:txBody>
                  <a:tcPr marL="0" marR="0" marT="0" marB="0" anchor="ctr"/>
                </a:tc>
                <a:tc>
                  <a:txBody>
                    <a:bodyPr/>
                    <a:lstStyle/>
                    <a:p>
                      <a:pPr algn="r">
                        <a:buNone/>
                      </a:pPr>
                      <a:r>
                        <a:rPr lang="en-US" sz="3200"/>
                        <a:t>166187.9</a:t>
                      </a:r>
                    </a:p>
                  </a:txBody>
                  <a:tcPr marL="0" marR="0" marT="0" marB="0" anchor="ctr"/>
                </a:tc>
                <a:extLst>
                  <a:ext uri="{0D108BD9-81ED-4DB2-BD59-A6C34878D82A}">
                    <a16:rowId xmlns:a16="http://schemas.microsoft.com/office/drawing/2014/main" val="2671093515"/>
                  </a:ext>
                </a:extLst>
              </a:tr>
            </a:tbl>
          </a:graphicData>
        </a:graphic>
      </p:graphicFrame>
    </p:spTree>
    <p:extLst>
      <p:ext uri="{BB962C8B-B14F-4D97-AF65-F5344CB8AC3E}">
        <p14:creationId xmlns:p14="http://schemas.microsoft.com/office/powerpoint/2010/main" val="716227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E92E0D3-5438-ABB5-C0D6-B1173754AD68}"/>
              </a:ext>
            </a:extLst>
          </p:cNvPr>
          <p:cNvSpPr txBox="1"/>
          <p:nvPr/>
        </p:nvSpPr>
        <p:spPr>
          <a:xfrm>
            <a:off x="403122" y="830451"/>
            <a:ext cx="1365246" cy="584775"/>
          </a:xfrm>
          <a:prstGeom prst="rect">
            <a:avLst/>
          </a:prstGeom>
          <a:noFill/>
        </p:spPr>
        <p:txBody>
          <a:bodyPr wrap="none" lIns="91440" tIns="45720" rIns="91440" bIns="45720" rtlCol="0" anchor="t">
            <a:spAutoFit/>
          </a:bodyPr>
          <a:lstStyle/>
          <a:p>
            <a:r>
              <a:rPr lang="en-US" sz="3200" b="1"/>
              <a:t>Scaling</a:t>
            </a:r>
            <a:endParaRPr lang="en-US" sz="3200" b="1">
              <a:ea typeface="Calibri"/>
              <a:cs typeface="Calibri"/>
            </a:endParaRPr>
          </a:p>
        </p:txBody>
      </p:sp>
      <p:sp>
        <p:nvSpPr>
          <p:cNvPr id="2" name="TextBox 1">
            <a:extLst>
              <a:ext uri="{FF2B5EF4-FFF2-40B4-BE49-F238E27FC236}">
                <a16:creationId xmlns:a16="http://schemas.microsoft.com/office/drawing/2014/main" id="{4BF7B6FE-2B91-F21E-3F05-1AFB93D353C8}"/>
              </a:ext>
            </a:extLst>
          </p:cNvPr>
          <p:cNvSpPr txBox="1"/>
          <p:nvPr/>
        </p:nvSpPr>
        <p:spPr>
          <a:xfrm>
            <a:off x="302712" y="328808"/>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2400">
                <a:latin typeface="Calibri"/>
                <a:ea typeface="Calibri"/>
                <a:cs typeface="Calibri"/>
              </a:rPr>
              <a:t>​</a:t>
            </a:r>
            <a:endParaRPr lang="en-US"/>
          </a:p>
          <a:p>
            <a:endParaRPr lang="en-US" sz="2400">
              <a:ea typeface="Calibri"/>
              <a:cs typeface="Calibri"/>
            </a:endParaRPr>
          </a:p>
        </p:txBody>
      </p:sp>
      <p:graphicFrame>
        <p:nvGraphicFramePr>
          <p:cNvPr id="4" name="Content Placeholder 4">
            <a:extLst>
              <a:ext uri="{FF2B5EF4-FFF2-40B4-BE49-F238E27FC236}">
                <a16:creationId xmlns:a16="http://schemas.microsoft.com/office/drawing/2014/main" id="{21E040B2-97FF-CCAA-507E-A2FCFA9A03B8}"/>
              </a:ext>
            </a:extLst>
          </p:cNvPr>
          <p:cNvGraphicFramePr>
            <a:graphicFrameLocks/>
          </p:cNvGraphicFramePr>
          <p:nvPr>
            <p:extLst>
              <p:ext uri="{D42A27DB-BD31-4B8C-83A1-F6EECF244321}">
                <p14:modId xmlns:p14="http://schemas.microsoft.com/office/powerpoint/2010/main" val="1666434598"/>
              </p:ext>
            </p:extLst>
          </p:nvPr>
        </p:nvGraphicFramePr>
        <p:xfrm>
          <a:off x="796673" y="1548534"/>
          <a:ext cx="5273569" cy="1371600"/>
        </p:xfrm>
        <a:graphic>
          <a:graphicData uri="http://schemas.openxmlformats.org/drawingml/2006/table">
            <a:tbl>
              <a:tblPr bandRow="1">
                <a:tableStyleId>{5940675A-B579-460E-94D1-54222C63F5DA}</a:tableStyleId>
              </a:tblPr>
              <a:tblGrid>
                <a:gridCol w="2457586">
                  <a:extLst>
                    <a:ext uri="{9D8B030D-6E8A-4147-A177-3AD203B41FA5}">
                      <a16:colId xmlns:a16="http://schemas.microsoft.com/office/drawing/2014/main" val="1492115417"/>
                    </a:ext>
                  </a:extLst>
                </a:gridCol>
                <a:gridCol w="2815983">
                  <a:extLst>
                    <a:ext uri="{9D8B030D-6E8A-4147-A177-3AD203B41FA5}">
                      <a16:colId xmlns:a16="http://schemas.microsoft.com/office/drawing/2014/main" val="303906216"/>
                    </a:ext>
                  </a:extLst>
                </a:gridCol>
              </a:tblGrid>
              <a:tr h="182880">
                <a:tc>
                  <a:txBody>
                    <a:bodyPr/>
                    <a:lstStyle/>
                    <a:p>
                      <a:pPr>
                        <a:buNone/>
                      </a:pPr>
                      <a:r>
                        <a:rPr lang="en-US" err="1">
                          <a:effectLst/>
                        </a:rPr>
                        <a:t>Total_Spend_scaled</a:t>
                      </a:r>
                    </a:p>
                  </a:txBody>
                  <a:tcPr marL="0" marR="0" marT="0" marB="0" anchor="ctr"/>
                </a:tc>
                <a:tc>
                  <a:txBody>
                    <a:bodyPr/>
                    <a:lstStyle/>
                    <a:p>
                      <a:pPr>
                        <a:buNone/>
                      </a:pPr>
                      <a:r>
                        <a:rPr lang="en-US" err="1">
                          <a:effectLst/>
                        </a:rPr>
                        <a:t>Administration_scaled</a:t>
                      </a:r>
                    </a:p>
                  </a:txBody>
                  <a:tcPr marL="0" marR="0" marT="0" marB="0" anchor="ctr"/>
                </a:tc>
                <a:extLst>
                  <a:ext uri="{0D108BD9-81ED-4DB2-BD59-A6C34878D82A}">
                    <a16:rowId xmlns:a16="http://schemas.microsoft.com/office/drawing/2014/main" val="265626876"/>
                  </a:ext>
                </a:extLst>
              </a:tr>
              <a:tr h="182880">
                <a:tc>
                  <a:txBody>
                    <a:bodyPr/>
                    <a:lstStyle/>
                    <a:p>
                      <a:pPr algn="r">
                        <a:buNone/>
                      </a:pPr>
                      <a:r>
                        <a:rPr lang="en-US">
                          <a:effectLst/>
                        </a:rPr>
                        <a:t>2.397005</a:t>
                      </a:r>
                    </a:p>
                  </a:txBody>
                  <a:tcPr marL="0" marR="0" marT="0" marB="0" anchor="ctr"/>
                </a:tc>
                <a:tc>
                  <a:txBody>
                    <a:bodyPr/>
                    <a:lstStyle/>
                    <a:p>
                      <a:pPr algn="r">
                        <a:buNone/>
                      </a:pPr>
                      <a:r>
                        <a:rPr lang="en-US"/>
                        <a:t>1.101437</a:t>
                      </a:r>
                    </a:p>
                  </a:txBody>
                  <a:tcPr marL="0" marR="0" marT="0" marB="0" anchor="ctr"/>
                </a:tc>
                <a:extLst>
                  <a:ext uri="{0D108BD9-81ED-4DB2-BD59-A6C34878D82A}">
                    <a16:rowId xmlns:a16="http://schemas.microsoft.com/office/drawing/2014/main" val="749150382"/>
                  </a:ext>
                </a:extLst>
              </a:tr>
              <a:tr h="182880">
                <a:tc>
                  <a:txBody>
                    <a:bodyPr/>
                    <a:lstStyle/>
                    <a:p>
                      <a:pPr algn="r">
                        <a:buNone/>
                      </a:pPr>
                      <a:r>
                        <a:rPr lang="en-US">
                          <a:effectLst/>
                        </a:rPr>
                        <a:t>2.174171</a:t>
                      </a:r>
                    </a:p>
                  </a:txBody>
                  <a:tcPr marL="0" marR="0" marT="0" marB="0" anchor="ctr"/>
                </a:tc>
                <a:tc>
                  <a:txBody>
                    <a:bodyPr/>
                    <a:lstStyle/>
                    <a:p>
                      <a:pPr algn="r">
                        <a:buNone/>
                      </a:pPr>
                      <a:r>
                        <a:rPr lang="en-US"/>
                        <a:t>2.246297</a:t>
                      </a:r>
                    </a:p>
                  </a:txBody>
                  <a:tcPr marL="0" marR="0" marT="0" marB="0" anchor="ctr"/>
                </a:tc>
                <a:extLst>
                  <a:ext uri="{0D108BD9-81ED-4DB2-BD59-A6C34878D82A}">
                    <a16:rowId xmlns:a16="http://schemas.microsoft.com/office/drawing/2014/main" val="2487937156"/>
                  </a:ext>
                </a:extLst>
              </a:tr>
              <a:tr h="182880">
                <a:tc>
                  <a:txBody>
                    <a:bodyPr/>
                    <a:lstStyle/>
                    <a:p>
                      <a:pPr algn="r">
                        <a:buNone/>
                      </a:pPr>
                      <a:r>
                        <a:rPr lang="en-US">
                          <a:effectLst/>
                        </a:rPr>
                        <a:t>1.845998</a:t>
                      </a:r>
                    </a:p>
                  </a:txBody>
                  <a:tcPr marL="0" marR="0" marT="0" marB="0" anchor="ctr"/>
                </a:tc>
                <a:tc>
                  <a:txBody>
                    <a:bodyPr/>
                    <a:lstStyle/>
                    <a:p>
                      <a:pPr algn="r">
                        <a:buNone/>
                      </a:pPr>
                      <a:r>
                        <a:rPr lang="en-US"/>
                        <a:t>-1.72535</a:t>
                      </a:r>
                    </a:p>
                  </a:txBody>
                  <a:tcPr marL="0" marR="0" marT="0" marB="0" anchor="ctr"/>
                </a:tc>
                <a:extLst>
                  <a:ext uri="{0D108BD9-81ED-4DB2-BD59-A6C34878D82A}">
                    <a16:rowId xmlns:a16="http://schemas.microsoft.com/office/drawing/2014/main" val="1466236095"/>
                  </a:ext>
                </a:extLst>
              </a:tr>
              <a:tr h="182880">
                <a:tc>
                  <a:txBody>
                    <a:bodyPr/>
                    <a:lstStyle/>
                    <a:p>
                      <a:pPr algn="r">
                        <a:buNone/>
                      </a:pPr>
                      <a:r>
                        <a:rPr lang="en-US">
                          <a:effectLst/>
                        </a:rPr>
                        <a:t>1.60013</a:t>
                      </a:r>
                    </a:p>
                  </a:txBody>
                  <a:tcPr marL="0" marR="0" marT="0" marB="0" anchor="ctr"/>
                </a:tc>
                <a:tc>
                  <a:txBody>
                    <a:bodyPr/>
                    <a:lstStyle/>
                    <a:p>
                      <a:pPr algn="r">
                        <a:buNone/>
                      </a:pPr>
                      <a:r>
                        <a:rPr lang="en-US"/>
                        <a:t>-0.33962</a:t>
                      </a:r>
                    </a:p>
                  </a:txBody>
                  <a:tcPr marL="0" marR="0" marT="0" marB="0" anchor="ctr"/>
                </a:tc>
                <a:extLst>
                  <a:ext uri="{0D108BD9-81ED-4DB2-BD59-A6C34878D82A}">
                    <a16:rowId xmlns:a16="http://schemas.microsoft.com/office/drawing/2014/main" val="2401107948"/>
                  </a:ext>
                </a:extLst>
              </a:tr>
            </a:tbl>
          </a:graphicData>
        </a:graphic>
      </p:graphicFrame>
      <p:graphicFrame>
        <p:nvGraphicFramePr>
          <p:cNvPr id="14" name="TextBox 5">
            <a:extLst>
              <a:ext uri="{FF2B5EF4-FFF2-40B4-BE49-F238E27FC236}">
                <a16:creationId xmlns:a16="http://schemas.microsoft.com/office/drawing/2014/main" id="{54B8A8CD-C4A4-7728-2159-4AF441768A03}"/>
              </a:ext>
            </a:extLst>
          </p:cNvPr>
          <p:cNvGraphicFramePr/>
          <p:nvPr>
            <p:extLst>
              <p:ext uri="{D42A27DB-BD31-4B8C-83A1-F6EECF244321}">
                <p14:modId xmlns:p14="http://schemas.microsoft.com/office/powerpoint/2010/main" val="1868015843"/>
              </p:ext>
            </p:extLst>
          </p:nvPr>
        </p:nvGraphicFramePr>
        <p:xfrm>
          <a:off x="611889" y="3194322"/>
          <a:ext cx="10966173" cy="31590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7106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paper with black text and numbers&#10;&#10;AI-generated content may be incorrect.">
            <a:extLst>
              <a:ext uri="{FF2B5EF4-FFF2-40B4-BE49-F238E27FC236}">
                <a16:creationId xmlns:a16="http://schemas.microsoft.com/office/drawing/2014/main" id="{97FCD969-95CC-1C6C-E433-8F4D94E78C17}"/>
              </a:ext>
            </a:extLst>
          </p:cNvPr>
          <p:cNvPicPr>
            <a:picLocks noChangeAspect="1"/>
          </p:cNvPicPr>
          <p:nvPr/>
        </p:nvPicPr>
        <p:blipFill>
          <a:blip r:embed="rId3"/>
          <a:stretch>
            <a:fillRect/>
          </a:stretch>
        </p:blipFill>
        <p:spPr>
          <a:xfrm>
            <a:off x="782616" y="1500514"/>
            <a:ext cx="5219700" cy="1143000"/>
          </a:xfrm>
          <a:prstGeom prst="rect">
            <a:avLst/>
          </a:prstGeom>
        </p:spPr>
      </p:pic>
      <p:pic>
        <p:nvPicPr>
          <p:cNvPr id="5" name="Picture 4" descr="A table with numbers and letters&#10;&#10;AI-generated content may be incorrect.">
            <a:extLst>
              <a:ext uri="{FF2B5EF4-FFF2-40B4-BE49-F238E27FC236}">
                <a16:creationId xmlns:a16="http://schemas.microsoft.com/office/drawing/2014/main" id="{3831903C-229E-F90E-57D5-D88DD380B1AF}"/>
              </a:ext>
            </a:extLst>
          </p:cNvPr>
          <p:cNvPicPr>
            <a:picLocks noChangeAspect="1"/>
          </p:cNvPicPr>
          <p:nvPr/>
        </p:nvPicPr>
        <p:blipFill>
          <a:blip r:embed="rId4"/>
          <a:stretch>
            <a:fillRect/>
          </a:stretch>
        </p:blipFill>
        <p:spPr>
          <a:xfrm>
            <a:off x="647700" y="4236993"/>
            <a:ext cx="10896600" cy="1285875"/>
          </a:xfrm>
          <a:prstGeom prst="rect">
            <a:avLst/>
          </a:prstGeom>
        </p:spPr>
      </p:pic>
      <p:sp>
        <p:nvSpPr>
          <p:cNvPr id="6" name="TextBox 5">
            <a:extLst>
              <a:ext uri="{FF2B5EF4-FFF2-40B4-BE49-F238E27FC236}">
                <a16:creationId xmlns:a16="http://schemas.microsoft.com/office/drawing/2014/main" id="{298131F8-8061-37CC-1CAD-2FFEB7697223}"/>
              </a:ext>
            </a:extLst>
          </p:cNvPr>
          <p:cNvSpPr txBox="1"/>
          <p:nvPr/>
        </p:nvSpPr>
        <p:spPr>
          <a:xfrm>
            <a:off x="644661" y="790746"/>
            <a:ext cx="628180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Before Transformation</a:t>
            </a:r>
          </a:p>
        </p:txBody>
      </p:sp>
      <p:sp>
        <p:nvSpPr>
          <p:cNvPr id="7" name="TextBox 6">
            <a:extLst>
              <a:ext uri="{FF2B5EF4-FFF2-40B4-BE49-F238E27FC236}">
                <a16:creationId xmlns:a16="http://schemas.microsoft.com/office/drawing/2014/main" id="{4746E8A4-55AB-4ECC-9AE2-D0E0608D5C62}"/>
              </a:ext>
            </a:extLst>
          </p:cNvPr>
          <p:cNvSpPr txBox="1"/>
          <p:nvPr/>
        </p:nvSpPr>
        <p:spPr>
          <a:xfrm>
            <a:off x="644660" y="3306390"/>
            <a:ext cx="421500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After Transformation</a:t>
            </a:r>
          </a:p>
        </p:txBody>
      </p:sp>
    </p:spTree>
    <p:extLst>
      <p:ext uri="{BB962C8B-B14F-4D97-AF65-F5344CB8AC3E}">
        <p14:creationId xmlns:p14="http://schemas.microsoft.com/office/powerpoint/2010/main" val="233450738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descr="Top view of cubes connected with black lines">
            <a:extLst>
              <a:ext uri="{FF2B5EF4-FFF2-40B4-BE49-F238E27FC236}">
                <a16:creationId xmlns:a16="http://schemas.microsoft.com/office/drawing/2014/main" id="{1351252B-5536-F8D0-266E-B93E6C28D9C1}"/>
              </a:ext>
            </a:extLst>
          </p:cNvPr>
          <p:cNvPicPr>
            <a:picLocks noChangeAspect="1"/>
          </p:cNvPicPr>
          <p:nvPr/>
        </p:nvPicPr>
        <p:blipFill>
          <a:blip r:embed="rId2"/>
          <a:srcRect t="6271" r="9091" b="25548"/>
          <a:stretch>
            <a:fillRect/>
          </a:stretch>
        </p:blipFill>
        <p:spPr>
          <a:xfrm>
            <a:off x="20" y="10"/>
            <a:ext cx="12191980" cy="6857990"/>
          </a:xfrm>
          <a:prstGeom prst="rect">
            <a:avLst/>
          </a:prstGeom>
        </p:spPr>
      </p:pic>
      <p:sp>
        <p:nvSpPr>
          <p:cNvPr id="20" name="Rectangle 1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EBECC8-9D1C-A377-BC59-E25488109AEE}"/>
              </a:ext>
            </a:extLst>
          </p:cNvPr>
          <p:cNvSpPr>
            <a:spLocks noGrp="1"/>
          </p:cNvSpPr>
          <p:nvPr>
            <p:ph type="title"/>
          </p:nvPr>
        </p:nvSpPr>
        <p:spPr>
          <a:xfrm>
            <a:off x="838200" y="365125"/>
            <a:ext cx="10515600" cy="1325563"/>
          </a:xfrm>
        </p:spPr>
        <p:txBody>
          <a:bodyPr>
            <a:normAutofit/>
          </a:bodyPr>
          <a:lstStyle/>
          <a:p>
            <a:r>
              <a:rPr lang="en-US">
                <a:latin typeface="Calibri"/>
                <a:ea typeface="Calibri"/>
                <a:cs typeface="Calibri"/>
              </a:rPr>
              <a:t>Key Takeaways from Transformation</a:t>
            </a:r>
            <a:endParaRPr lang="en-US"/>
          </a:p>
        </p:txBody>
      </p:sp>
      <p:sp>
        <p:nvSpPr>
          <p:cNvPr id="14" name="Content Placeholder 2">
            <a:extLst>
              <a:ext uri="{FF2B5EF4-FFF2-40B4-BE49-F238E27FC236}">
                <a16:creationId xmlns:a16="http://schemas.microsoft.com/office/drawing/2014/main" id="{FDD2F125-8115-D390-0E6D-DC5496686C25}"/>
              </a:ext>
            </a:extLst>
          </p:cNvPr>
          <p:cNvSpPr>
            <a:spLocks noGrp="1"/>
          </p:cNvSpPr>
          <p:nvPr>
            <p:ph idx="1"/>
          </p:nvPr>
        </p:nvSpPr>
        <p:spPr>
          <a:xfrm>
            <a:off x="838200" y="1825625"/>
            <a:ext cx="10515600" cy="4351338"/>
          </a:xfrm>
        </p:spPr>
        <p:txBody>
          <a:bodyPr vert="horz" lIns="91440" tIns="45720" rIns="91440" bIns="45720" rtlCol="0">
            <a:normAutofit/>
          </a:bodyPr>
          <a:lstStyle/>
          <a:p>
            <a:r>
              <a:rPr lang="en-US" b="1">
                <a:ea typeface="+mn-lt"/>
                <a:cs typeface="+mn-lt"/>
              </a:rPr>
              <a:t>Problem Solved</a:t>
            </a:r>
            <a:endParaRPr lang="en-US" b="1">
              <a:ea typeface="Calibri" panose="020F0502020204030204"/>
              <a:cs typeface="Calibri" panose="020F0502020204030204"/>
            </a:endParaRPr>
          </a:p>
          <a:p>
            <a:pPr marL="0" indent="0">
              <a:buNone/>
            </a:pPr>
            <a:r>
              <a:rPr lang="en-US">
                <a:ea typeface="+mn-lt"/>
                <a:cs typeface="+mn-lt"/>
              </a:rPr>
              <a:t>Multicollinearity in budget data has been eliminated through smart feature engineering. Models are now stable and predictable.</a:t>
            </a:r>
          </a:p>
          <a:p>
            <a:r>
              <a:rPr lang="en-US" b="1">
                <a:ea typeface="+mn-lt"/>
                <a:cs typeface="+mn-lt"/>
              </a:rPr>
              <a:t> Quality Assured</a:t>
            </a:r>
            <a:endParaRPr lang="en-US" b="1">
              <a:ea typeface="Calibri" panose="020F0502020204030204"/>
              <a:cs typeface="Calibri" panose="020F0502020204030204"/>
            </a:endParaRPr>
          </a:p>
          <a:p>
            <a:pPr marL="0" indent="0">
              <a:buNone/>
            </a:pPr>
            <a:r>
              <a:rPr lang="en-US">
                <a:ea typeface="+mn-lt"/>
                <a:cs typeface="+mn-lt"/>
              </a:rPr>
              <a:t>A rigorous 6-step transformation pipeline ensures data integrity, compliance, and auditability.</a:t>
            </a:r>
          </a:p>
          <a:p>
            <a:r>
              <a:rPr lang="en-US">
                <a:ea typeface="+mn-lt"/>
                <a:cs typeface="+mn-lt"/>
              </a:rPr>
              <a:t> </a:t>
            </a:r>
            <a:r>
              <a:rPr lang="en-US" b="1">
                <a:ea typeface="+mn-lt"/>
                <a:cs typeface="+mn-lt"/>
              </a:rPr>
              <a:t>Ready for Action</a:t>
            </a:r>
          </a:p>
          <a:p>
            <a:pPr marL="0" indent="0">
              <a:buNone/>
            </a:pPr>
            <a:r>
              <a:rPr lang="en-US">
                <a:ea typeface="+mn-lt"/>
                <a:cs typeface="+mn-lt"/>
              </a:rPr>
              <a:t>The Budget Core Schema is production-ready and can be deployed immediately for forecasting and planning.</a:t>
            </a:r>
          </a:p>
        </p:txBody>
      </p:sp>
    </p:spTree>
    <p:extLst>
      <p:ext uri="{BB962C8B-B14F-4D97-AF65-F5344CB8AC3E}">
        <p14:creationId xmlns:p14="http://schemas.microsoft.com/office/powerpoint/2010/main" val="1971056613"/>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99B0B80-90B5-F571-F124-3331C5FA7AB1}"/>
              </a:ext>
            </a:extLst>
          </p:cNvPr>
          <p:cNvSpPr txBox="1"/>
          <p:nvPr/>
        </p:nvSpPr>
        <p:spPr>
          <a:xfrm>
            <a:off x="670112" y="1828531"/>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Aft>
                <a:spcPts val="600"/>
              </a:spcAft>
            </a:pPr>
            <a:endParaRPr lang="en-US" sz="1900" b="1">
              <a:ea typeface="Calibri"/>
              <a:cs typeface="Calibri"/>
            </a:endParaRPr>
          </a:p>
          <a:p>
            <a:pPr marL="0" indent="-228600">
              <a:lnSpc>
                <a:spcPct val="90000"/>
              </a:lnSpc>
              <a:spcAft>
                <a:spcPts val="600"/>
              </a:spcAft>
              <a:buFont typeface="Arial" panose="020B0604020202020204" pitchFamily="34" charset="0"/>
              <a:buChar char="•"/>
            </a:pPr>
            <a:r>
              <a:rPr lang="en-US" sz="2000" b="1"/>
              <a:t>Profit Prediction Using Linear Regression</a:t>
            </a:r>
            <a:endParaRPr lang="en-US" sz="2000">
              <a:ea typeface="Calibri"/>
              <a:cs typeface="Calibri"/>
            </a:endParaRPr>
          </a:p>
          <a:p>
            <a:pPr marL="0" indent="-228600">
              <a:lnSpc>
                <a:spcPct val="90000"/>
              </a:lnSpc>
              <a:spcAft>
                <a:spcPts val="600"/>
              </a:spcAft>
              <a:buFont typeface="Arial" panose="020B0604020202020204" pitchFamily="34" charset="0"/>
              <a:buChar char="•"/>
            </a:pPr>
            <a:endParaRPr lang="en-US" sz="2000">
              <a:ea typeface="Calibri"/>
              <a:cs typeface="Calibri"/>
            </a:endParaRPr>
          </a:p>
          <a:p>
            <a:pPr marL="0" indent="-228600">
              <a:lnSpc>
                <a:spcPct val="90000"/>
              </a:lnSpc>
              <a:spcAft>
                <a:spcPts val="600"/>
              </a:spcAft>
              <a:buFont typeface="Arial" panose="020B0604020202020204" pitchFamily="34" charset="0"/>
              <a:buChar char="•"/>
            </a:pPr>
            <a:r>
              <a:rPr lang="en-US" sz="2000" b="1"/>
              <a:t>Objective:</a:t>
            </a:r>
            <a:endParaRPr lang="en-US" sz="2000" b="1">
              <a:ea typeface="Calibri"/>
              <a:cs typeface="Calibri"/>
            </a:endParaRPr>
          </a:p>
          <a:p>
            <a:pPr marL="0" indent="-228600">
              <a:lnSpc>
                <a:spcPct val="90000"/>
              </a:lnSpc>
              <a:spcAft>
                <a:spcPts val="600"/>
              </a:spcAft>
              <a:buFont typeface="Arial" panose="020B0604020202020204" pitchFamily="34" charset="0"/>
              <a:buChar char="•"/>
            </a:pPr>
            <a:r>
              <a:rPr lang="en-US" sz="2000"/>
              <a:t>Build a model using selected features to predict profit and identify which factor influences profit most.</a:t>
            </a:r>
            <a:endParaRPr lang="en-US" sz="2000">
              <a:ea typeface="Calibri"/>
              <a:cs typeface="Calibri"/>
            </a:endParaRPr>
          </a:p>
          <a:p>
            <a:pPr indent="-228600">
              <a:lnSpc>
                <a:spcPct val="90000"/>
              </a:lnSpc>
              <a:spcAft>
                <a:spcPts val="600"/>
              </a:spcAft>
              <a:buFont typeface="Arial" panose="020B0604020202020204" pitchFamily="34" charset="0"/>
              <a:buChar char="•"/>
            </a:pPr>
            <a:endParaRPr lang="en-US" sz="2000">
              <a:ea typeface="Calibri"/>
              <a:cs typeface="Calibri"/>
            </a:endParaRPr>
          </a:p>
          <a:p>
            <a:pPr marL="342900" indent="-342900">
              <a:lnSpc>
                <a:spcPct val="90000"/>
              </a:lnSpc>
              <a:spcAft>
                <a:spcPts val="600"/>
              </a:spcAft>
              <a:buFont typeface="Arial"/>
              <a:buChar char="•"/>
            </a:pPr>
            <a:r>
              <a:rPr lang="en-US" sz="2000"/>
              <a:t>Companies spend heavily on administration, R&amp;D, and marketing — but </a:t>
            </a:r>
            <a:r>
              <a:rPr lang="en-US" sz="2000" b="1"/>
              <a:t>which one truly increases profit?</a:t>
            </a:r>
            <a:endParaRPr lang="en-US" sz="2000">
              <a:ea typeface="Calibri" panose="020F0502020204030204"/>
              <a:cs typeface="Calibri" panose="020F0502020204030204"/>
            </a:endParaRPr>
          </a:p>
          <a:p>
            <a:pPr marL="342900" indent="-342900">
              <a:lnSpc>
                <a:spcPct val="90000"/>
              </a:lnSpc>
              <a:spcAft>
                <a:spcPts val="600"/>
              </a:spcAft>
              <a:buFont typeface="Arial"/>
              <a:buChar char="•"/>
            </a:pPr>
            <a:r>
              <a:rPr lang="en-US" sz="2000"/>
              <a:t>Manual analysis doesn’t show impact clearly. We need a model that can:</a:t>
            </a:r>
            <a:endParaRPr lang="en-US" sz="2000">
              <a:ea typeface="Calibri"/>
              <a:cs typeface="Calibri"/>
            </a:endParaRPr>
          </a:p>
          <a:p>
            <a:pPr marL="342900" indent="-342900">
              <a:lnSpc>
                <a:spcPct val="90000"/>
              </a:lnSpc>
              <a:spcAft>
                <a:spcPts val="600"/>
              </a:spcAft>
              <a:buFont typeface="Arial"/>
              <a:buChar char="•"/>
            </a:pPr>
            <a:r>
              <a:rPr lang="en-US" sz="2000"/>
              <a:t>Quantify impact of each variable</a:t>
            </a:r>
            <a:endParaRPr lang="en-US" sz="2000">
              <a:ea typeface="Calibri" panose="020F0502020204030204"/>
              <a:cs typeface="Calibri" panose="020F0502020204030204"/>
            </a:endParaRPr>
          </a:p>
          <a:p>
            <a:pPr marL="342900" indent="-342900">
              <a:lnSpc>
                <a:spcPct val="90000"/>
              </a:lnSpc>
              <a:spcAft>
                <a:spcPts val="600"/>
              </a:spcAft>
              <a:buFont typeface="Arial"/>
              <a:buChar char="•"/>
            </a:pPr>
            <a:r>
              <a:rPr lang="en-US" sz="2000"/>
              <a:t>Predict future profits from spending behavior</a:t>
            </a:r>
            <a:endParaRPr lang="en-US" sz="2000">
              <a:ea typeface="Calibri" panose="020F0502020204030204"/>
              <a:cs typeface="Calibri" panose="020F0502020204030204"/>
            </a:endParaRPr>
          </a:p>
          <a:p>
            <a:pPr marL="342900" indent="-342900">
              <a:lnSpc>
                <a:spcPct val="90000"/>
              </a:lnSpc>
              <a:spcAft>
                <a:spcPts val="600"/>
              </a:spcAft>
              <a:buFont typeface="Arial"/>
              <a:buChar char="•"/>
            </a:pPr>
            <a:r>
              <a:rPr lang="en-US" sz="2000"/>
              <a:t>Identify the highest profit yielding pattern</a:t>
            </a:r>
            <a:endParaRPr lang="en-US" sz="2000">
              <a:ea typeface="Calibri"/>
              <a:cs typeface="Calibri"/>
            </a:endParaRPr>
          </a:p>
          <a:p>
            <a:pPr indent="-228600">
              <a:lnSpc>
                <a:spcPct val="90000"/>
              </a:lnSpc>
              <a:spcAft>
                <a:spcPts val="600"/>
              </a:spcAft>
              <a:buFont typeface="Arial" panose="020B0604020202020204" pitchFamily="34" charset="0"/>
              <a:buChar char="•"/>
            </a:pPr>
            <a:endParaRPr lang="en-US" sz="1900"/>
          </a:p>
          <a:p>
            <a:pPr indent="-228600">
              <a:lnSpc>
                <a:spcPct val="90000"/>
              </a:lnSpc>
              <a:spcAft>
                <a:spcPts val="600"/>
              </a:spcAft>
              <a:buFont typeface="Arial" panose="020B0604020202020204" pitchFamily="34" charset="0"/>
              <a:buChar char="•"/>
            </a:pPr>
            <a:endParaRPr lang="en-US" sz="1900"/>
          </a:p>
        </p:txBody>
      </p:sp>
      <p:sp>
        <p:nvSpPr>
          <p:cNvPr id="3" name="TextBox 2">
            <a:extLst>
              <a:ext uri="{FF2B5EF4-FFF2-40B4-BE49-F238E27FC236}">
                <a16:creationId xmlns:a16="http://schemas.microsoft.com/office/drawing/2014/main" id="{63FF3960-1BBC-CC80-47CD-814FA7428320}"/>
              </a:ext>
            </a:extLst>
          </p:cNvPr>
          <p:cNvSpPr txBox="1"/>
          <p:nvPr/>
        </p:nvSpPr>
        <p:spPr>
          <a:xfrm>
            <a:off x="665707" y="817669"/>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Modeling</a:t>
            </a:r>
          </a:p>
        </p:txBody>
      </p:sp>
    </p:spTree>
    <p:extLst>
      <p:ext uri="{BB962C8B-B14F-4D97-AF65-F5344CB8AC3E}">
        <p14:creationId xmlns:p14="http://schemas.microsoft.com/office/powerpoint/2010/main" val="1442628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524E20-A657-6F6B-3511-0C214AA79FD3}"/>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454DA8B-2323-872B-94FC-19FED7B00FF5}"/>
              </a:ext>
            </a:extLst>
          </p:cNvPr>
          <p:cNvSpPr txBox="1"/>
          <p:nvPr/>
        </p:nvSpPr>
        <p:spPr>
          <a:xfrm>
            <a:off x="578744" y="514820"/>
            <a:ext cx="8242668" cy="1429137"/>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4600" b="1" kern="1200">
                <a:solidFill>
                  <a:schemeClr val="tx1"/>
                </a:solidFill>
                <a:latin typeface="+mj-lt"/>
                <a:ea typeface="+mj-ea"/>
                <a:cs typeface="+mj-cs"/>
              </a:rPr>
              <a:t>Dataset Features Used</a:t>
            </a:r>
            <a:r>
              <a:rPr lang="en-US" sz="4600" kern="1200">
                <a:solidFill>
                  <a:schemeClr val="tx1"/>
                </a:solidFill>
                <a:latin typeface="+mj-lt"/>
                <a:ea typeface="+mj-ea"/>
                <a:cs typeface="+mj-cs"/>
              </a:rPr>
              <a:t> </a:t>
            </a:r>
          </a:p>
          <a:p>
            <a:pPr>
              <a:lnSpc>
                <a:spcPct val="90000"/>
              </a:lnSpc>
              <a:spcBef>
                <a:spcPct val="0"/>
              </a:spcBef>
              <a:spcAft>
                <a:spcPts val="600"/>
              </a:spcAft>
            </a:pPr>
            <a:endParaRPr lang="en-US" sz="4600" kern="1200">
              <a:solidFill>
                <a:schemeClr val="tx1"/>
              </a:solidFill>
              <a:latin typeface="+mj-lt"/>
              <a:ea typeface="+mj-ea"/>
              <a:cs typeface="+mj-cs"/>
            </a:endParaRPr>
          </a:p>
        </p:txBody>
      </p:sp>
      <p:sp>
        <p:nvSpPr>
          <p:cNvPr id="19"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E90BCBB-DD8C-4556-DB2E-76028D2B8A13}"/>
              </a:ext>
            </a:extLst>
          </p:cNvPr>
          <p:cNvSpPr txBox="1"/>
          <p:nvPr/>
        </p:nvSpPr>
        <p:spPr>
          <a:xfrm>
            <a:off x="582706" y="1568824"/>
            <a:ext cx="6096000"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spcAft>
                <a:spcPts val="600"/>
              </a:spcAft>
            </a:pPr>
            <a:r>
              <a:rPr lang="en-US" sz="2000" kern="1200">
                <a:solidFill>
                  <a:schemeClr val="tx1"/>
                </a:solidFill>
                <a:latin typeface="Calibri"/>
                <a:ea typeface="+mn-ea"/>
                <a:cs typeface="+mn-cs"/>
              </a:rPr>
              <a:t>Only </a:t>
            </a:r>
            <a:r>
              <a:rPr lang="en-US" sz="2000" b="1" kern="1200">
                <a:solidFill>
                  <a:schemeClr val="tx1"/>
                </a:solidFill>
                <a:latin typeface="Calibri"/>
                <a:ea typeface="+mn-ea"/>
                <a:cs typeface="+mn-cs"/>
              </a:rPr>
              <a:t>5 predictor variables</a:t>
            </a:r>
            <a:r>
              <a:rPr lang="en-US" sz="2000" kern="1200">
                <a:solidFill>
                  <a:schemeClr val="tx1"/>
                </a:solidFill>
                <a:latin typeface="Calibri"/>
                <a:ea typeface="+mn-ea"/>
                <a:cs typeface="+mn-cs"/>
              </a:rPr>
              <a:t> were included:</a:t>
            </a:r>
          </a:p>
          <a:p>
            <a:pPr algn="ctr">
              <a:spcAft>
                <a:spcPts val="600"/>
              </a:spcAft>
            </a:pPr>
            <a:endParaRPr lang="en-US"/>
          </a:p>
        </p:txBody>
      </p:sp>
      <p:graphicFrame>
        <p:nvGraphicFramePr>
          <p:cNvPr id="21" name="TextBox 3">
            <a:extLst>
              <a:ext uri="{FF2B5EF4-FFF2-40B4-BE49-F238E27FC236}">
                <a16:creationId xmlns:a16="http://schemas.microsoft.com/office/drawing/2014/main" id="{A591B328-6C07-021B-3B83-57D08C360FB8}"/>
              </a:ext>
            </a:extLst>
          </p:cNvPr>
          <p:cNvGraphicFramePr/>
          <p:nvPr/>
        </p:nvGraphicFramePr>
        <p:xfrm>
          <a:off x="630936" y="2660904"/>
          <a:ext cx="4818888" cy="35478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8823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3B8D3C-4229-50C3-2043-F67A1BCACCE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4CDFD083-C2B6-D172-9E47-281375BFCE07}"/>
              </a:ext>
            </a:extLst>
          </p:cNvPr>
          <p:cNvPicPr>
            <a:picLocks noChangeAspect="1"/>
          </p:cNvPicPr>
          <p:nvPr/>
        </p:nvPicPr>
        <p:blipFill>
          <a:blip r:embed="rId3"/>
          <a:srcRect r="10821"/>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3721870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3504DF-9426-9400-877A-B6DC5A2B458D}"/>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EAD79D-4FDD-36C6-D4E8-A87C75182CA0}"/>
              </a:ext>
            </a:extLst>
          </p:cNvPr>
          <p:cNvSpPr txBox="1"/>
          <p:nvPr/>
        </p:nvSpPr>
        <p:spPr>
          <a:xfrm>
            <a:off x="466722" y="586855"/>
            <a:ext cx="3201366" cy="3387497"/>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Model Approach</a:t>
            </a:r>
          </a:p>
        </p:txBody>
      </p:sp>
      <p:sp>
        <p:nvSpPr>
          <p:cNvPr id="3" name="TextBox 2">
            <a:extLst>
              <a:ext uri="{FF2B5EF4-FFF2-40B4-BE49-F238E27FC236}">
                <a16:creationId xmlns:a16="http://schemas.microsoft.com/office/drawing/2014/main" id="{B24D03D1-FE84-422A-DD58-9593AA915697}"/>
              </a:ext>
            </a:extLst>
          </p:cNvPr>
          <p:cNvSpPr txBox="1"/>
          <p:nvPr/>
        </p:nvSpPr>
        <p:spPr>
          <a:xfrm>
            <a:off x="4810259" y="649480"/>
            <a:ext cx="6555347" cy="554604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342900" indent="-228600">
              <a:lnSpc>
                <a:spcPct val="90000"/>
              </a:lnSpc>
              <a:spcAft>
                <a:spcPts val="600"/>
              </a:spcAft>
              <a:buFont typeface="Arial" panose="020B0604020202020204" pitchFamily="34" charset="0"/>
              <a:buChar char="•"/>
            </a:pPr>
            <a:r>
              <a:rPr lang="en-US" sz="2000" b="0" i="0" baseline="0"/>
              <a:t>Imported &amp; cleaned dataset</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b="0" i="0" baseline="0"/>
              <a:t>Selected only 5 independent variables</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b="0" i="0" baseline="0"/>
              <a:t>One-Hot Encoding applied (State 0/1 format)</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b="0" i="0" baseline="0"/>
              <a:t>Train/Test Split → </a:t>
            </a:r>
            <a:r>
              <a:rPr lang="en-US" sz="2000" b="1" i="0" baseline="0"/>
              <a:t>80% training, 20% testing</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b="0" i="0" baseline="0"/>
              <a:t>Built OLS Linear Regression Model</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b="0" i="0" baseline="0"/>
              <a:t>Evaluated using </a:t>
            </a:r>
            <a:r>
              <a:rPr lang="en-US" sz="2000" b="1" i="0" baseline="0"/>
              <a:t>R² + RMSE</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b="0" i="0" baseline="0"/>
              <a:t>Predicted profit across full dataset</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b="0" i="0" baseline="0"/>
              <a:t>Identified the </a:t>
            </a:r>
            <a:r>
              <a:rPr lang="en-US" sz="2000" b="1" i="0" baseline="0"/>
              <a:t>most profitable record</a:t>
            </a:r>
          </a:p>
          <a:p>
            <a:pPr marL="342900"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3631012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B7DD1D-272A-875A-2C89-83316514BB2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Box 4">
            <a:extLst>
              <a:ext uri="{FF2B5EF4-FFF2-40B4-BE49-F238E27FC236}">
                <a16:creationId xmlns:a16="http://schemas.microsoft.com/office/drawing/2014/main" id="{E67A959E-FE65-B019-BE60-2681D09DC366}"/>
              </a:ext>
            </a:extLst>
          </p:cNvPr>
          <p:cNvSpPr txBox="1"/>
          <p:nvPr/>
        </p:nvSpPr>
        <p:spPr>
          <a:xfrm>
            <a:off x="356129" y="6241"/>
            <a:ext cx="3939688" cy="558312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r">
              <a:lnSpc>
                <a:spcPct val="90000"/>
              </a:lnSpc>
              <a:spcBef>
                <a:spcPct val="0"/>
              </a:spcBef>
              <a:spcAft>
                <a:spcPts val="600"/>
              </a:spcAft>
            </a:pPr>
            <a:r>
              <a:rPr lang="en-US" sz="5400" kern="1200">
                <a:latin typeface="Calibri"/>
                <a:ea typeface="Calibri"/>
                <a:cs typeface="Calibri"/>
              </a:rPr>
              <a:t>Key Results from OLS Model</a:t>
            </a:r>
          </a:p>
        </p:txBody>
      </p:sp>
      <p:cxnSp>
        <p:nvCxnSpPr>
          <p:cNvPr id="22" name="Straight Connector 2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DBA5777-3C6E-3C08-5054-43BCB7DC0684}"/>
              </a:ext>
            </a:extLst>
          </p:cNvPr>
          <p:cNvSpPr txBox="1"/>
          <p:nvPr/>
        </p:nvSpPr>
        <p:spPr>
          <a:xfrm>
            <a:off x="1829014" y="4864275"/>
            <a:ext cx="6096000" cy="18004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IN" sz="2400">
                <a:latin typeface="Calibri"/>
              </a:rPr>
              <a:t>Metrics:</a:t>
            </a:r>
            <a:endParaRPr lang="en-US" sz="2400">
              <a:ea typeface="Calibri"/>
              <a:cs typeface="Calibri"/>
            </a:endParaRPr>
          </a:p>
          <a:p>
            <a:pPr marL="0" algn="l">
              <a:spcAft>
                <a:spcPts val="600"/>
              </a:spcAft>
            </a:pPr>
            <a:r>
              <a:rPr lang="en-IN" sz="2400">
                <a:latin typeface="Calibri"/>
              </a:rPr>
              <a:t>R²</a:t>
            </a:r>
            <a:r>
              <a:rPr lang="en-IN" sz="2400" kern="1200">
                <a:latin typeface="Calibri"/>
                <a:ea typeface="+mn-ea"/>
                <a:cs typeface="+mn-cs"/>
              </a:rPr>
              <a:t> Score                                  0.9214</a:t>
            </a:r>
            <a:endParaRPr lang="en-IN" sz="2400">
              <a:ea typeface="Calibri"/>
              <a:cs typeface="Calibri"/>
            </a:endParaRPr>
          </a:p>
          <a:p>
            <a:pPr marL="0" algn="l" rtl="0">
              <a:spcAft>
                <a:spcPts val="600"/>
              </a:spcAft>
            </a:pPr>
            <a:r>
              <a:rPr lang="en-IN" sz="2400" kern="1200">
                <a:latin typeface="Calibri"/>
                <a:ea typeface="+mn-ea"/>
                <a:cs typeface="+mn-cs"/>
              </a:rPr>
              <a:t>RMSE                                         12988.02</a:t>
            </a:r>
            <a:endParaRPr lang="en-IN" sz="2400" kern="1200">
              <a:latin typeface="Calibri"/>
              <a:ea typeface="Calibri"/>
              <a:cs typeface="Calibri"/>
            </a:endParaRPr>
          </a:p>
          <a:p>
            <a:pPr algn="ctr">
              <a:spcAft>
                <a:spcPts val="600"/>
              </a:spcAft>
            </a:pPr>
            <a:endParaRPr lang="en-US" sz="2400">
              <a:ea typeface="Calibri"/>
              <a:cs typeface="Calibri"/>
            </a:endParaRPr>
          </a:p>
        </p:txBody>
      </p:sp>
      <p:graphicFrame>
        <p:nvGraphicFramePr>
          <p:cNvPr id="23" name="TextBox 5">
            <a:extLst>
              <a:ext uri="{FF2B5EF4-FFF2-40B4-BE49-F238E27FC236}">
                <a16:creationId xmlns:a16="http://schemas.microsoft.com/office/drawing/2014/main" id="{45149787-E6B5-27CD-9232-C4B5909712C6}"/>
              </a:ext>
            </a:extLst>
          </p:cNvPr>
          <p:cNvGraphicFramePr/>
          <p:nvPr>
            <p:extLst>
              <p:ext uri="{D42A27DB-BD31-4B8C-83A1-F6EECF244321}">
                <p14:modId xmlns:p14="http://schemas.microsoft.com/office/powerpoint/2010/main" val="3693316069"/>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2179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FF0EE38-2F7E-B05E-22CE-29E2DF24F74C}"/>
              </a:ext>
            </a:extLst>
          </p:cNvPr>
          <p:cNvSpPr txBox="1"/>
          <p:nvPr/>
        </p:nvSpPr>
        <p:spPr>
          <a:xfrm>
            <a:off x="642141" y="639520"/>
            <a:ext cx="4022912" cy="1719072"/>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4800" b="1" kern="1200">
                <a:latin typeface="+mj-lt"/>
                <a:ea typeface="+mj-ea"/>
                <a:cs typeface="+mj-cs"/>
              </a:rPr>
              <a:t>Visualizations </a:t>
            </a:r>
          </a:p>
        </p:txBody>
      </p:sp>
      <p:sp>
        <p:nvSpPr>
          <p:cNvPr id="1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9AC7600-3E11-39BF-CDE3-EE6051AB6EA5}"/>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t>Points closer to diagonal line → model accuracy is good</a:t>
            </a:r>
          </a:p>
          <a:p>
            <a:pPr marL="285750"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Small spread = reliable prediction capability</a:t>
            </a:r>
          </a:p>
          <a:p>
            <a:pPr marL="285750"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No large deviations = model learned pattern well</a:t>
            </a:r>
          </a:p>
          <a:p>
            <a:pPr indent="-228600">
              <a:lnSpc>
                <a:spcPct val="90000"/>
              </a:lnSpc>
              <a:spcAft>
                <a:spcPts val="600"/>
              </a:spcAft>
              <a:buFont typeface="Arial" panose="020B0604020202020204" pitchFamily="34" charset="0"/>
              <a:buChar char="•"/>
            </a:pPr>
            <a:endParaRPr lang="en-US" sz="2000"/>
          </a:p>
        </p:txBody>
      </p:sp>
      <p:pic>
        <p:nvPicPr>
          <p:cNvPr id="3" name="Picture 2" descr="A graph with blue dots and numbers&#10;&#10;AI-generated content may be incorrect.">
            <a:extLst>
              <a:ext uri="{FF2B5EF4-FFF2-40B4-BE49-F238E27FC236}">
                <a16:creationId xmlns:a16="http://schemas.microsoft.com/office/drawing/2014/main" id="{01250DF7-541C-8C8B-3256-9BF1707B744A}"/>
              </a:ext>
            </a:extLst>
          </p:cNvPr>
          <p:cNvPicPr>
            <a:picLocks noChangeAspect="1"/>
          </p:cNvPicPr>
          <p:nvPr/>
        </p:nvPicPr>
        <p:blipFill>
          <a:blip r:embed="rId3"/>
          <a:stretch>
            <a:fillRect/>
          </a:stretch>
        </p:blipFill>
        <p:spPr>
          <a:xfrm>
            <a:off x="4654296" y="1478699"/>
            <a:ext cx="6903720" cy="3900601"/>
          </a:xfrm>
          <a:prstGeom prst="rect">
            <a:avLst/>
          </a:prstGeom>
        </p:spPr>
      </p:pic>
    </p:spTree>
    <p:extLst>
      <p:ext uri="{BB962C8B-B14F-4D97-AF65-F5344CB8AC3E}">
        <p14:creationId xmlns:p14="http://schemas.microsoft.com/office/powerpoint/2010/main" val="1349044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blue dots&#10;&#10;AI-generated content may be incorrect.">
            <a:extLst>
              <a:ext uri="{FF2B5EF4-FFF2-40B4-BE49-F238E27FC236}">
                <a16:creationId xmlns:a16="http://schemas.microsoft.com/office/drawing/2014/main" id="{9993DC1A-4B84-C461-F4ED-850988110B6E}"/>
              </a:ext>
            </a:extLst>
          </p:cNvPr>
          <p:cNvPicPr>
            <a:picLocks noChangeAspect="1"/>
          </p:cNvPicPr>
          <p:nvPr/>
        </p:nvPicPr>
        <p:blipFill>
          <a:blip r:embed="rId3"/>
          <a:stretch>
            <a:fillRect/>
          </a:stretch>
        </p:blipFill>
        <p:spPr>
          <a:xfrm>
            <a:off x="6749002" y="1118289"/>
            <a:ext cx="4962525" cy="2809875"/>
          </a:xfrm>
          <a:prstGeom prst="rect">
            <a:avLst/>
          </a:prstGeom>
        </p:spPr>
      </p:pic>
      <p:sp>
        <p:nvSpPr>
          <p:cNvPr id="4" name="TextBox 3">
            <a:extLst>
              <a:ext uri="{FF2B5EF4-FFF2-40B4-BE49-F238E27FC236}">
                <a16:creationId xmlns:a16="http://schemas.microsoft.com/office/drawing/2014/main" id="{A59D4C84-EBB6-7B25-3B4E-B7D6198C5D47}"/>
              </a:ext>
            </a:extLst>
          </p:cNvPr>
          <p:cNvSpPr txBox="1"/>
          <p:nvPr/>
        </p:nvSpPr>
        <p:spPr>
          <a:xfrm>
            <a:off x="646982" y="1890623"/>
            <a:ext cx="60960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l" rtl="0">
              <a:buFont typeface="Arial"/>
              <a:buChar char="•"/>
            </a:pPr>
            <a:r>
              <a:rPr lang="en-IN" sz="2400" kern="1200">
                <a:latin typeface="+mn-ea"/>
                <a:ea typeface="+mn-ea"/>
                <a:cs typeface="+mn-cs"/>
              </a:rPr>
              <a:t>Residuals randomly scattered around zero → no systematic bias</a:t>
            </a:r>
            <a:endParaRPr lang="en-US" sz="2400">
              <a:latin typeface="+mn-ea"/>
              <a:ea typeface="+mn-ea"/>
              <a:cs typeface="+mn-cs"/>
            </a:endParaRPr>
          </a:p>
          <a:p>
            <a:pPr marL="342900" indent="-342900" algn="l" rtl="0">
              <a:buFont typeface="Arial"/>
              <a:buChar char="•"/>
            </a:pPr>
            <a:r>
              <a:rPr lang="en-IN" sz="2400" kern="1200">
                <a:latin typeface="Calibri"/>
                <a:ea typeface="+mn-ea"/>
                <a:cs typeface="+mn-cs"/>
              </a:rPr>
              <a:t>Model assumptions hold</a:t>
            </a:r>
            <a:endParaRPr lang="en-IN" sz="2400" kern="1200">
              <a:latin typeface="Calibri"/>
              <a:ea typeface="Calibri"/>
              <a:cs typeface="Calibri"/>
            </a:endParaRPr>
          </a:p>
          <a:p>
            <a:pPr marL="342900" indent="-342900" algn="l" rtl="0">
              <a:buFont typeface="Arial"/>
              <a:buChar char="•"/>
            </a:pPr>
            <a:r>
              <a:rPr lang="en-IN" sz="2400" kern="1200">
                <a:latin typeface="Calibri"/>
                <a:ea typeface="+mn-ea"/>
                <a:cs typeface="+mn-cs"/>
              </a:rPr>
              <a:t>Indicates </a:t>
            </a:r>
            <a:r>
              <a:rPr lang="en-IN" sz="2400" b="1" kern="1200">
                <a:latin typeface="Calibri"/>
                <a:ea typeface="+mn-ea"/>
                <a:cs typeface="+mn-cs"/>
              </a:rPr>
              <a:t>no serious over-fitting</a:t>
            </a:r>
            <a:endParaRPr lang="en-IN" sz="2400" b="1" kern="1200">
              <a:latin typeface="Calibri"/>
              <a:ea typeface="Calibri"/>
              <a:cs typeface="Calibri"/>
            </a:endParaRPr>
          </a:p>
          <a:p>
            <a:pPr marL="285750" indent="-285750" algn="ctr">
              <a:buFont typeface="Arial"/>
              <a:buChar char="•"/>
            </a:pPr>
            <a:endParaRPr lang="en-US" sz="2400">
              <a:ea typeface="Calibri" panose="020F0502020204030204"/>
              <a:cs typeface="Calibri" panose="020F0502020204030204"/>
            </a:endParaRPr>
          </a:p>
        </p:txBody>
      </p:sp>
      <p:sp>
        <p:nvSpPr>
          <p:cNvPr id="2" name="TextBox 1">
            <a:extLst>
              <a:ext uri="{FF2B5EF4-FFF2-40B4-BE49-F238E27FC236}">
                <a16:creationId xmlns:a16="http://schemas.microsoft.com/office/drawing/2014/main" id="{6A2A0724-4146-39A8-ABA9-EBE67F84EC51}"/>
              </a:ext>
            </a:extLst>
          </p:cNvPr>
          <p:cNvSpPr txBox="1"/>
          <p:nvPr/>
        </p:nvSpPr>
        <p:spPr>
          <a:xfrm>
            <a:off x="657616" y="683712"/>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baseline="0">
                <a:latin typeface="Calibri"/>
              </a:rPr>
              <a:t>Visualizations </a:t>
            </a:r>
            <a:r>
              <a:rPr lang="en-US" sz="3200" b="1">
                <a:latin typeface="Calibri"/>
                <a:ea typeface="Calibri"/>
                <a:cs typeface="Calibri"/>
              </a:rPr>
              <a:t>​</a:t>
            </a:r>
            <a:endParaRPr lang="en-US" b="1"/>
          </a:p>
          <a:p>
            <a:pPr algn="ctr"/>
            <a:endParaRPr lang="en-US"/>
          </a:p>
        </p:txBody>
      </p:sp>
      <p:graphicFrame>
        <p:nvGraphicFramePr>
          <p:cNvPr id="8" name="TextBox 5">
            <a:extLst>
              <a:ext uri="{FF2B5EF4-FFF2-40B4-BE49-F238E27FC236}">
                <a16:creationId xmlns:a16="http://schemas.microsoft.com/office/drawing/2014/main" id="{7E76EBE5-5289-40B4-2382-185DA2045B83}"/>
              </a:ext>
            </a:extLst>
          </p:cNvPr>
          <p:cNvGraphicFramePr/>
          <p:nvPr/>
        </p:nvGraphicFramePr>
        <p:xfrm>
          <a:off x="646981" y="4334773"/>
          <a:ext cx="8928339" cy="21236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9429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9A59C0-A682-F5FD-4009-B51215A3625B}"/>
              </a:ext>
            </a:extLst>
          </p:cNvPr>
          <p:cNvSpPr txBox="1"/>
          <p:nvPr/>
        </p:nvSpPr>
        <p:spPr>
          <a:xfrm>
            <a:off x="381000" y="1432034"/>
            <a:ext cx="60960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1.Profit consistently rises with higher R&amp;D + Marketing investment — this is our strongest growth engine.</a:t>
            </a:r>
          </a:p>
          <a:p>
            <a:endParaRPr lang="en-US" sz="2400"/>
          </a:p>
          <a:p>
            <a:pPr algn="ctr"/>
            <a:endParaRPr lang="en-US" sz="2400">
              <a:ea typeface="Calibri"/>
              <a:cs typeface="Calibri"/>
            </a:endParaRPr>
          </a:p>
        </p:txBody>
      </p:sp>
      <p:sp>
        <p:nvSpPr>
          <p:cNvPr id="4" name="TextBox 3">
            <a:extLst>
              <a:ext uri="{FF2B5EF4-FFF2-40B4-BE49-F238E27FC236}">
                <a16:creationId xmlns:a16="http://schemas.microsoft.com/office/drawing/2014/main" id="{DC5C8267-634B-0C44-BED9-159AFBC5CD5F}"/>
              </a:ext>
            </a:extLst>
          </p:cNvPr>
          <p:cNvSpPr txBox="1"/>
          <p:nvPr/>
        </p:nvSpPr>
        <p:spPr>
          <a:xfrm>
            <a:off x="381001" y="4361793"/>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2. R&amp;D + Marketing delivers over </a:t>
            </a:r>
            <a:r>
              <a:rPr lang="en-US" sz="2400" b="1"/>
              <a:t>2×</a:t>
            </a:r>
            <a:r>
              <a:rPr lang="en-US" sz="2400"/>
              <a:t> the profit impact    compared to Administration.</a:t>
            </a:r>
          </a:p>
        </p:txBody>
      </p:sp>
      <p:pic>
        <p:nvPicPr>
          <p:cNvPr id="5" name="Picture 4">
            <a:extLst>
              <a:ext uri="{FF2B5EF4-FFF2-40B4-BE49-F238E27FC236}">
                <a16:creationId xmlns:a16="http://schemas.microsoft.com/office/drawing/2014/main" id="{66AE0D66-2DA2-CFCF-DA64-64E407F735F7}"/>
              </a:ext>
            </a:extLst>
          </p:cNvPr>
          <p:cNvPicPr>
            <a:picLocks noChangeAspect="1"/>
          </p:cNvPicPr>
          <p:nvPr/>
        </p:nvPicPr>
        <p:blipFill>
          <a:blip r:embed="rId3"/>
          <a:stretch>
            <a:fillRect/>
          </a:stretch>
        </p:blipFill>
        <p:spPr>
          <a:xfrm>
            <a:off x="6752896" y="3678620"/>
            <a:ext cx="5123794" cy="3087414"/>
          </a:xfrm>
          <a:prstGeom prst="rect">
            <a:avLst/>
          </a:prstGeom>
        </p:spPr>
      </p:pic>
      <p:pic>
        <p:nvPicPr>
          <p:cNvPr id="6" name="Picture 5" descr="A graph with a line&#10;&#10;AI-generated content may be incorrect.">
            <a:extLst>
              <a:ext uri="{FF2B5EF4-FFF2-40B4-BE49-F238E27FC236}">
                <a16:creationId xmlns:a16="http://schemas.microsoft.com/office/drawing/2014/main" id="{4E2A3EBA-A7D4-22E0-B807-057E13C5ED0E}"/>
              </a:ext>
            </a:extLst>
          </p:cNvPr>
          <p:cNvPicPr>
            <a:picLocks noChangeAspect="1"/>
          </p:cNvPicPr>
          <p:nvPr/>
        </p:nvPicPr>
        <p:blipFill>
          <a:blip r:embed="rId4"/>
          <a:stretch>
            <a:fillRect/>
          </a:stretch>
        </p:blipFill>
        <p:spPr>
          <a:xfrm>
            <a:off x="6746328" y="335017"/>
            <a:ext cx="5136932" cy="3100552"/>
          </a:xfrm>
          <a:prstGeom prst="rect">
            <a:avLst/>
          </a:prstGeom>
        </p:spPr>
      </p:pic>
      <p:sp>
        <p:nvSpPr>
          <p:cNvPr id="7" name="TextBox 6">
            <a:extLst>
              <a:ext uri="{FF2B5EF4-FFF2-40B4-BE49-F238E27FC236}">
                <a16:creationId xmlns:a16="http://schemas.microsoft.com/office/drawing/2014/main" id="{006CD0F5-FBF8-7782-4D5A-36EAA3C90E96}"/>
              </a:ext>
            </a:extLst>
          </p:cNvPr>
          <p:cNvSpPr txBox="1"/>
          <p:nvPr/>
        </p:nvSpPr>
        <p:spPr>
          <a:xfrm>
            <a:off x="517833" y="515584"/>
            <a:ext cx="416209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ea typeface="Calibri"/>
                <a:cs typeface="Calibri"/>
              </a:rPr>
              <a:t>Recommendations</a:t>
            </a:r>
          </a:p>
        </p:txBody>
      </p:sp>
    </p:spTree>
    <p:extLst>
      <p:ext uri="{BB962C8B-B14F-4D97-AF65-F5344CB8AC3E}">
        <p14:creationId xmlns:p14="http://schemas.microsoft.com/office/powerpoint/2010/main" val="4116811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pie chart with a blue and orange circle&#10;&#10;AI-generated content may be incorrect.">
            <a:extLst>
              <a:ext uri="{FF2B5EF4-FFF2-40B4-BE49-F238E27FC236}">
                <a16:creationId xmlns:a16="http://schemas.microsoft.com/office/drawing/2014/main" id="{3433FE99-4F6D-E399-8B55-2A2410B3EA91}"/>
              </a:ext>
            </a:extLst>
          </p:cNvPr>
          <p:cNvPicPr>
            <a:picLocks noChangeAspect="1"/>
          </p:cNvPicPr>
          <p:nvPr/>
        </p:nvPicPr>
        <p:blipFill>
          <a:blip r:embed="rId3"/>
          <a:srcRect l="20361" r="20422" b="1"/>
          <a:stretch>
            <a:fillRect/>
          </a:stretch>
        </p:blipFill>
        <p:spPr>
          <a:xfrm>
            <a:off x="321731" y="557189"/>
            <a:ext cx="5668684" cy="5743618"/>
          </a:xfrm>
          <a:prstGeom prst="rect">
            <a:avLst/>
          </a:prstGeom>
        </p:spPr>
      </p:pic>
      <p:pic>
        <p:nvPicPr>
          <p:cNvPr id="3" name="Picture 2" descr="A pie chart with a blue circle and a blue circle&#10;&#10;AI-generated content may be incorrect.">
            <a:extLst>
              <a:ext uri="{FF2B5EF4-FFF2-40B4-BE49-F238E27FC236}">
                <a16:creationId xmlns:a16="http://schemas.microsoft.com/office/drawing/2014/main" id="{285773A0-A11C-2116-5D19-CB9B25A5B45E}"/>
              </a:ext>
            </a:extLst>
          </p:cNvPr>
          <p:cNvPicPr>
            <a:picLocks noChangeAspect="1"/>
          </p:cNvPicPr>
          <p:nvPr/>
        </p:nvPicPr>
        <p:blipFill>
          <a:blip r:embed="rId4"/>
          <a:srcRect l="20320" r="20398" b="1"/>
          <a:stretch>
            <a:fillRect/>
          </a:stretch>
        </p:blipFill>
        <p:spPr>
          <a:xfrm>
            <a:off x="6195375" y="557189"/>
            <a:ext cx="5674893" cy="5743618"/>
          </a:xfrm>
          <a:prstGeom prst="rect">
            <a:avLst/>
          </a:prstGeom>
        </p:spPr>
      </p:pic>
    </p:spTree>
    <p:extLst>
      <p:ext uri="{BB962C8B-B14F-4D97-AF65-F5344CB8AC3E}">
        <p14:creationId xmlns:p14="http://schemas.microsoft.com/office/powerpoint/2010/main" val="920167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Rectangle 2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2292E0B-1162-48BE-CC41-1D74110465E0}"/>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a:lnSpc>
                <a:spcPct val="90000"/>
              </a:lnSpc>
              <a:spcAft>
                <a:spcPts val="600"/>
              </a:spcAft>
            </a:pPr>
            <a:r>
              <a:rPr lang="en-US" sz="2000" b="1"/>
              <a:t>Recommendations </a:t>
            </a:r>
            <a:endParaRPr lang="en-US"/>
          </a:p>
          <a:p>
            <a:pPr indent="-228600">
              <a:lnSpc>
                <a:spcPct val="90000"/>
              </a:lnSpc>
              <a:spcAft>
                <a:spcPts val="600"/>
              </a:spcAft>
              <a:buFont typeface="Arial" panose="020B0604020202020204" pitchFamily="34" charset="0"/>
              <a:buChar char="•"/>
            </a:pPr>
            <a:endParaRPr lang="en-US" sz="2000"/>
          </a:p>
          <a:p>
            <a:pPr>
              <a:lnSpc>
                <a:spcPct val="90000"/>
              </a:lnSpc>
              <a:spcAft>
                <a:spcPts val="600"/>
              </a:spcAft>
            </a:pPr>
            <a:r>
              <a:rPr lang="en-US" sz="2000" b="1"/>
              <a:t>1. Prioritize Investment in R&amp;D + Marketing</a:t>
            </a:r>
            <a:endParaRPr lang="en-US" sz="2000">
              <a:ea typeface="Calibri" panose="020F0502020204030204"/>
              <a:cs typeface="Calibri" panose="020F0502020204030204"/>
            </a:endParaRPr>
          </a:p>
          <a:p>
            <a:pPr marL="342900" indent="-228600">
              <a:lnSpc>
                <a:spcPct val="90000"/>
              </a:lnSpc>
              <a:spcAft>
                <a:spcPts val="600"/>
              </a:spcAft>
              <a:buFont typeface="Arial" panose="020B0604020202020204" pitchFamily="34" charset="0"/>
              <a:buChar char="•"/>
            </a:pPr>
            <a:r>
              <a:rPr lang="en-US" sz="2000"/>
              <a:t>Every increase in combined R&amp;D + Marketing leads to </a:t>
            </a:r>
            <a:r>
              <a:rPr lang="en-US" sz="2000" b="1"/>
              <a:t>much higher profit growth</a:t>
            </a:r>
            <a:r>
              <a:rPr lang="en-US" sz="2000"/>
              <a:t> than other expenses.</a:t>
            </a:r>
            <a:endParaRPr lang="en-US" sz="2000">
              <a:ea typeface="Calibri"/>
              <a:cs typeface="Calibri"/>
            </a:endParaRPr>
          </a:p>
          <a:p>
            <a:pPr indent="-228600">
              <a:lnSpc>
                <a:spcPct val="90000"/>
              </a:lnSpc>
              <a:spcAft>
                <a:spcPts val="600"/>
              </a:spcAft>
              <a:buFont typeface="Arial" panose="020B0604020202020204" pitchFamily="34" charset="0"/>
              <a:buChar char="•"/>
            </a:pPr>
            <a:endParaRPr lang="en-US" sz="2000"/>
          </a:p>
          <a:p>
            <a:pPr>
              <a:lnSpc>
                <a:spcPct val="90000"/>
              </a:lnSpc>
              <a:spcAft>
                <a:spcPts val="600"/>
              </a:spcAft>
            </a:pPr>
            <a:r>
              <a:rPr lang="en-US" sz="2000" b="1"/>
              <a:t>2. Control Administration Costs</a:t>
            </a:r>
            <a:endParaRPr lang="en-US" sz="2000">
              <a:ea typeface="Calibri" panose="020F0502020204030204"/>
              <a:cs typeface="Calibri" panose="020F0502020204030204"/>
            </a:endParaRPr>
          </a:p>
          <a:p>
            <a:pPr indent="-228600">
              <a:lnSpc>
                <a:spcPct val="90000"/>
              </a:lnSpc>
              <a:spcAft>
                <a:spcPts val="600"/>
              </a:spcAft>
              <a:buFont typeface="Arial" panose="020B0604020202020204" pitchFamily="34" charset="0"/>
              <a:buChar char="•"/>
            </a:pPr>
            <a:r>
              <a:rPr lang="en-US" sz="2000"/>
              <a:t>Administration:</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Positively affects profit</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But impact is much </a:t>
            </a:r>
            <a:r>
              <a:rPr lang="en-US" sz="2000" b="1"/>
              <a:t>smaller</a:t>
            </a:r>
            <a:r>
              <a:rPr lang="en-US" sz="2000"/>
              <a:t> than R&amp;D + Marketing</a:t>
            </a:r>
            <a:endParaRPr lang="en-US" sz="2000">
              <a:ea typeface="Calibri"/>
              <a:cs typeface="Calibri"/>
            </a:endParaRPr>
          </a:p>
          <a:p>
            <a:pPr marL="342900" indent="-228600">
              <a:lnSpc>
                <a:spcPct val="90000"/>
              </a:lnSpc>
              <a:spcAft>
                <a:spcPts val="600"/>
              </a:spcAft>
              <a:buFont typeface="Arial" panose="020B0604020202020204" pitchFamily="34" charset="0"/>
              <a:buChar char="•"/>
            </a:pPr>
            <a:r>
              <a:rPr lang="en-US" sz="2000"/>
              <a:t>Keep Admin spending </a:t>
            </a:r>
            <a:r>
              <a:rPr lang="en-US" sz="2000" b="1"/>
              <a:t>efficient, not excessive</a:t>
            </a:r>
            <a:endParaRPr lang="en-US" sz="2000"/>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15566268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Rectangle 5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0F12C1C-5194-2617-DC87-C30AE5893F6C}"/>
              </a:ext>
            </a:extLst>
          </p:cNvPr>
          <p:cNvSpPr txBox="1"/>
          <p:nvPr/>
        </p:nvSpPr>
        <p:spPr>
          <a:xfrm>
            <a:off x="4810259" y="649480"/>
            <a:ext cx="6555347" cy="554604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2000"/>
              <a:t>REFERENCES</a:t>
            </a:r>
            <a:endParaRPr lang="en-US" sz="2000">
              <a:ea typeface="Calibri" panose="020F0502020204030204"/>
              <a:cs typeface="Calibri" panose="020F0502020204030204"/>
            </a:endParaRPr>
          </a:p>
          <a:p>
            <a:pPr marL="285750"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Data Cleaning – Session 2, Understanding data wrangling [Lecture slides]</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Exploratory Data Analysis (EDA) - Session 1 [Lecture slides]</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Data transformation: Session 3, Data Transformation: Normalization, Scaling, Encoding [Lecture slides]</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Predictive Modelling – Session 4, Airline case study [Lecture slides], Statistical Aid, a school of statistics.</a:t>
            </a:r>
            <a:endParaRPr lang="en-US" sz="2000">
              <a:ea typeface="Calibri"/>
              <a:cs typeface="Calibri"/>
            </a:endParaRPr>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r>
              <a:rPr lang="en-US" sz="2000"/>
              <a:t>Tools used: Python, Excel</a:t>
            </a:r>
            <a:endParaRPr lang="en-US" sz="2000">
              <a:ea typeface="Calibri"/>
              <a:cs typeface="Calibri"/>
            </a:endParaRPr>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20298293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27D7A02-907B-496F-BA7E-AA3780733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BA5268-0AE7-4CAD-9537-D0EB09E76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8D065B-39DA-4077-B9CF-E489CE4C0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4762EAA-BE9F-2586-9540-4A37C2FCB184}"/>
              </a:ext>
            </a:extLst>
          </p:cNvPr>
          <p:cNvSpPr txBox="1"/>
          <p:nvPr/>
        </p:nvSpPr>
        <p:spPr>
          <a:xfrm>
            <a:off x="2659529" y="2085788"/>
            <a:ext cx="6884895" cy="1496649"/>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200" kern="1200">
                <a:solidFill>
                  <a:schemeClr val="tx1">
                    <a:lumMod val="65000"/>
                    <a:lumOff val="35000"/>
                  </a:schemeClr>
                </a:solidFill>
                <a:latin typeface="+mj-lt"/>
                <a:ea typeface="+mj-ea"/>
                <a:cs typeface="+mj-cs"/>
              </a:rPr>
              <a:t>THANK YOU </a:t>
            </a:r>
          </a:p>
        </p:txBody>
      </p:sp>
    </p:spTree>
    <p:extLst>
      <p:ext uri="{BB962C8B-B14F-4D97-AF65-F5344CB8AC3E}">
        <p14:creationId xmlns:p14="http://schemas.microsoft.com/office/powerpoint/2010/main" val="1771592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495F9D5-E005-ED39-6515-9565E618D419}"/>
              </a:ext>
            </a:extLst>
          </p:cNvPr>
          <p:cNvSpPr txBox="1"/>
          <p:nvPr/>
        </p:nvSpPr>
        <p:spPr>
          <a:xfrm>
            <a:off x="630476" y="2652224"/>
            <a:ext cx="9724031" cy="368335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2000" b="1"/>
              <a:t>Recommendations</a:t>
            </a:r>
            <a:endParaRPr lang="en-US" sz="2000" b="1">
              <a:ea typeface="Calibri"/>
              <a:cs typeface="Calibri"/>
            </a:endParaRPr>
          </a:p>
          <a:p>
            <a:pPr marL="285750" indent="-228600">
              <a:lnSpc>
                <a:spcPct val="90000"/>
              </a:lnSpc>
              <a:spcAft>
                <a:spcPts val="600"/>
              </a:spcAft>
              <a:buFont typeface="Arial" panose="020B0604020202020204" pitchFamily="34" charset="0"/>
              <a:buChar char="•"/>
            </a:pP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We built a statistical model to identify what drives profit. The model explains over </a:t>
            </a:r>
            <a:r>
              <a:rPr lang="en-US" sz="2000" b="1"/>
              <a:t>92% of profit variation</a:t>
            </a:r>
            <a:r>
              <a:rPr lang="en-US" sz="2000"/>
              <a:t>, which makes it highly reliable.</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The biggest finding: </a:t>
            </a:r>
            <a:r>
              <a:rPr lang="en-US" sz="2000" b="1"/>
              <a:t>R&amp;D and Marketing spending have more than double the impact on profit compared to Administration.</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This shows that growth comes primarily from </a:t>
            </a:r>
            <a:r>
              <a:rPr lang="en-US" sz="2000" b="1"/>
              <a:t>innovation and market expansion</a:t>
            </a:r>
            <a:r>
              <a:rPr lang="en-US" sz="2000"/>
              <a:t>, not overhead operations.</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We also tested geography and found that </a:t>
            </a:r>
            <a:r>
              <a:rPr lang="en-US" sz="2000" b="1"/>
              <a:t>location does not materially change profitability</a:t>
            </a:r>
            <a:r>
              <a:rPr lang="en-US" sz="2000"/>
              <a:t>. Therefore, our recommendation is simple:</a:t>
            </a:r>
            <a:endParaRPr lang="en-US" sz="2000">
              <a:ea typeface="Calibri"/>
              <a:cs typeface="Calibri"/>
            </a:endParaRPr>
          </a:p>
          <a:p>
            <a:pPr marL="342900" indent="-228600">
              <a:lnSpc>
                <a:spcPct val="90000"/>
              </a:lnSpc>
              <a:spcAft>
                <a:spcPts val="600"/>
              </a:spcAft>
              <a:buFont typeface="Arial" panose="020B0604020202020204" pitchFamily="34" charset="0"/>
              <a:buChar char="•"/>
            </a:pPr>
            <a:r>
              <a:rPr lang="en-US" sz="2000"/>
              <a:t>Increase investment in R&amp;D and Marketing</a:t>
            </a:r>
            <a:endParaRPr lang="en-US" sz="2000">
              <a:ea typeface="Calibri"/>
              <a:cs typeface="Calibri"/>
            </a:endParaRPr>
          </a:p>
          <a:p>
            <a:pPr marL="342900" indent="-228600">
              <a:lnSpc>
                <a:spcPct val="90000"/>
              </a:lnSpc>
              <a:spcAft>
                <a:spcPts val="600"/>
              </a:spcAft>
              <a:buFont typeface="Arial" panose="020B0604020202020204" pitchFamily="34" charset="0"/>
              <a:buChar char="•"/>
            </a:pPr>
            <a:r>
              <a:rPr lang="en-US" sz="2000"/>
              <a:t>Optimize Administration spend</a:t>
            </a:r>
            <a:endParaRPr lang="en-US" sz="2000">
              <a:ea typeface="Calibri"/>
              <a:cs typeface="Calibri"/>
            </a:endParaRPr>
          </a:p>
          <a:p>
            <a:pPr marL="342900" indent="-228600">
              <a:lnSpc>
                <a:spcPct val="90000"/>
              </a:lnSpc>
              <a:spcAft>
                <a:spcPts val="600"/>
              </a:spcAft>
              <a:buFont typeface="Arial" panose="020B0604020202020204" pitchFamily="34" charset="0"/>
              <a:buChar char="•"/>
            </a:pPr>
            <a:r>
              <a:rPr lang="en-US" sz="2000"/>
              <a:t>Stop allocating budget based on state</a:t>
            </a: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If executed, this strategy will maximize profitability and capital efficiency</a:t>
            </a:r>
            <a:endParaRPr lang="en-US" sz="2000">
              <a:ea typeface="Calibri"/>
              <a:cs typeface="Calibri"/>
            </a:endParaRPr>
          </a:p>
          <a:p>
            <a:pPr marL="285750" indent="-228600">
              <a:lnSpc>
                <a:spcPct val="90000"/>
              </a:lnSpc>
              <a:spcAft>
                <a:spcPts val="600"/>
              </a:spcAft>
              <a:buFont typeface="Arial" panose="020B0604020202020204" pitchFamily="34" charset="0"/>
              <a:buChar char="•"/>
            </a:pPr>
            <a:endParaRPr lang="en-US" sz="2000">
              <a:ea typeface="Calibri"/>
              <a:cs typeface="Calibri"/>
            </a:endParaRPr>
          </a:p>
          <a:p>
            <a:pPr marL="285750" indent="-228600">
              <a:lnSpc>
                <a:spcPct val="90000"/>
              </a:lnSpc>
              <a:spcAft>
                <a:spcPts val="600"/>
              </a:spcAft>
              <a:buFont typeface="Arial" panose="020B0604020202020204" pitchFamily="34" charset="0"/>
              <a:buChar char="•"/>
            </a:pPr>
            <a:endParaRPr lang="en-US" sz="2000">
              <a:ea typeface="Calibri"/>
              <a:cs typeface="Calibri"/>
            </a:endParaRPr>
          </a:p>
        </p:txBody>
      </p:sp>
    </p:spTree>
    <p:extLst>
      <p:ext uri="{BB962C8B-B14F-4D97-AF65-F5344CB8AC3E}">
        <p14:creationId xmlns:p14="http://schemas.microsoft.com/office/powerpoint/2010/main" val="1299695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BB9640-A954-22E9-3FF2-0119639D1093}"/>
              </a:ext>
            </a:extLst>
          </p:cNvPr>
          <p:cNvSpPr txBox="1"/>
          <p:nvPr/>
        </p:nvSpPr>
        <p:spPr>
          <a:xfrm>
            <a:off x="3647768" y="2228671"/>
            <a:ext cx="3999813" cy="1200329"/>
          </a:xfrm>
          <a:prstGeom prst="rect">
            <a:avLst/>
          </a:prstGeom>
          <a:noFill/>
        </p:spPr>
        <p:txBody>
          <a:bodyPr wrap="none" rtlCol="0">
            <a:spAutoFit/>
          </a:bodyPr>
          <a:lstStyle/>
          <a:p>
            <a:r>
              <a:rPr lang="en-US" sz="7200"/>
              <a:t>APPENDIX</a:t>
            </a:r>
          </a:p>
        </p:txBody>
      </p:sp>
    </p:spTree>
    <p:extLst>
      <p:ext uri="{BB962C8B-B14F-4D97-AF65-F5344CB8AC3E}">
        <p14:creationId xmlns:p14="http://schemas.microsoft.com/office/powerpoint/2010/main" val="1759750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565431-5A7E-5B5A-534E-EF4B8AC1C77F}"/>
              </a:ext>
            </a:extLst>
          </p:cNvPr>
          <p:cNvPicPr>
            <a:picLocks noChangeAspect="1"/>
          </p:cNvPicPr>
          <p:nvPr/>
        </p:nvPicPr>
        <p:blipFill>
          <a:blip r:embed="rId2"/>
          <a:stretch>
            <a:fillRect/>
          </a:stretch>
        </p:blipFill>
        <p:spPr>
          <a:xfrm>
            <a:off x="6941573" y="308266"/>
            <a:ext cx="4498259" cy="3040431"/>
          </a:xfrm>
          <a:prstGeom prst="rect">
            <a:avLst/>
          </a:prstGeom>
        </p:spPr>
      </p:pic>
      <p:pic>
        <p:nvPicPr>
          <p:cNvPr id="5" name="Picture 4">
            <a:extLst>
              <a:ext uri="{FF2B5EF4-FFF2-40B4-BE49-F238E27FC236}">
                <a16:creationId xmlns:a16="http://schemas.microsoft.com/office/drawing/2014/main" id="{A7EB3681-9B18-6996-50CB-9E2220FCAE03}"/>
              </a:ext>
            </a:extLst>
          </p:cNvPr>
          <p:cNvPicPr>
            <a:picLocks noChangeAspect="1"/>
          </p:cNvPicPr>
          <p:nvPr/>
        </p:nvPicPr>
        <p:blipFill>
          <a:blip r:embed="rId3"/>
          <a:stretch>
            <a:fillRect/>
          </a:stretch>
        </p:blipFill>
        <p:spPr>
          <a:xfrm>
            <a:off x="4724380" y="3509303"/>
            <a:ext cx="7213450" cy="2972742"/>
          </a:xfrm>
          <a:prstGeom prst="rect">
            <a:avLst/>
          </a:prstGeom>
        </p:spPr>
      </p:pic>
      <p:sp>
        <p:nvSpPr>
          <p:cNvPr id="4" name="TextBox 3">
            <a:extLst>
              <a:ext uri="{FF2B5EF4-FFF2-40B4-BE49-F238E27FC236}">
                <a16:creationId xmlns:a16="http://schemas.microsoft.com/office/drawing/2014/main" id="{0FB4B398-2263-202E-D3CA-17FB34C3DCAB}"/>
              </a:ext>
            </a:extLst>
          </p:cNvPr>
          <p:cNvSpPr txBox="1"/>
          <p:nvPr/>
        </p:nvSpPr>
        <p:spPr>
          <a:xfrm>
            <a:off x="344131" y="377563"/>
            <a:ext cx="4670322" cy="4616648"/>
          </a:xfrm>
          <a:prstGeom prst="rect">
            <a:avLst/>
          </a:prstGeom>
          <a:noFill/>
        </p:spPr>
        <p:txBody>
          <a:bodyPr wrap="square">
            <a:spAutoFit/>
          </a:bodyPr>
          <a:lstStyle/>
          <a:p>
            <a:pPr>
              <a:buNone/>
            </a:pPr>
            <a:r>
              <a:rPr lang="en-US" sz="2400"/>
              <a:t>Tested for outliers</a:t>
            </a:r>
          </a:p>
          <a:p>
            <a:pPr>
              <a:buNone/>
            </a:pPr>
            <a:endParaRPr lang="en-US"/>
          </a:p>
          <a:p>
            <a:r>
              <a:rPr lang="en-US"/>
              <a:t>We tested models both with and without extreme spend cases. Results were consistent, confirming that our recommendations are robust. Outlier handling was applied only to data-entry errors or unrealistic values, not genuine business events.</a:t>
            </a:r>
          </a:p>
          <a:p>
            <a:br>
              <a:rPr lang="en-US"/>
            </a:br>
            <a:r>
              <a:rPr lang="en-US" altLang="en-US"/>
              <a:t>Outliers aren’t influential: R² and RMSE are almost identical, so the flagged outliers likely don’t have leverage on the regression line, removing extreme values doesn’t change fit or error metrics. </a:t>
            </a:r>
          </a:p>
          <a:p>
            <a:pPr>
              <a:buNone/>
            </a:pPr>
            <a:br>
              <a:rPr lang="en-US"/>
            </a:br>
            <a:endParaRPr lang="en-US"/>
          </a:p>
        </p:txBody>
      </p:sp>
      <p:pic>
        <p:nvPicPr>
          <p:cNvPr id="6" name="Picture 5">
            <a:extLst>
              <a:ext uri="{FF2B5EF4-FFF2-40B4-BE49-F238E27FC236}">
                <a16:creationId xmlns:a16="http://schemas.microsoft.com/office/drawing/2014/main" id="{1B512F0F-A451-EDA6-3E51-9D12F27455C2}"/>
              </a:ext>
            </a:extLst>
          </p:cNvPr>
          <p:cNvPicPr>
            <a:picLocks noChangeAspect="1"/>
          </p:cNvPicPr>
          <p:nvPr/>
        </p:nvPicPr>
        <p:blipFill>
          <a:blip r:embed="rId4"/>
          <a:stretch>
            <a:fillRect/>
          </a:stretch>
        </p:blipFill>
        <p:spPr>
          <a:xfrm>
            <a:off x="451555" y="4676975"/>
            <a:ext cx="3599336" cy="1645793"/>
          </a:xfrm>
          <a:prstGeom prst="rect">
            <a:avLst/>
          </a:prstGeom>
        </p:spPr>
      </p:pic>
    </p:spTree>
    <p:extLst>
      <p:ext uri="{BB962C8B-B14F-4D97-AF65-F5344CB8AC3E}">
        <p14:creationId xmlns:p14="http://schemas.microsoft.com/office/powerpoint/2010/main" val="24124006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black screen&#10;&#10;AI-generated content may be incorrect.">
            <a:extLst>
              <a:ext uri="{FF2B5EF4-FFF2-40B4-BE49-F238E27FC236}">
                <a16:creationId xmlns:a16="http://schemas.microsoft.com/office/drawing/2014/main" id="{F241D3EC-4F77-8CE7-9567-DE5F2570353F}"/>
              </a:ext>
            </a:extLst>
          </p:cNvPr>
          <p:cNvPicPr>
            <a:picLocks noChangeAspect="1"/>
          </p:cNvPicPr>
          <p:nvPr/>
        </p:nvPicPr>
        <p:blipFill>
          <a:blip r:embed="rId2"/>
          <a:stretch>
            <a:fillRect/>
          </a:stretch>
        </p:blipFill>
        <p:spPr>
          <a:xfrm>
            <a:off x="1372441" y="1822918"/>
            <a:ext cx="5200090" cy="1867461"/>
          </a:xfrm>
          <a:prstGeom prst="rect">
            <a:avLst/>
          </a:prstGeom>
        </p:spPr>
      </p:pic>
      <p:sp>
        <p:nvSpPr>
          <p:cNvPr id="3" name="TextBox 2">
            <a:extLst>
              <a:ext uri="{FF2B5EF4-FFF2-40B4-BE49-F238E27FC236}">
                <a16:creationId xmlns:a16="http://schemas.microsoft.com/office/drawing/2014/main" id="{8A9B778C-0F18-2D76-3C49-FCDED9485EAE}"/>
              </a:ext>
            </a:extLst>
          </p:cNvPr>
          <p:cNvSpPr txBox="1"/>
          <p:nvPr/>
        </p:nvSpPr>
        <p:spPr>
          <a:xfrm>
            <a:off x="1148075" y="798052"/>
            <a:ext cx="852543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Reference</a:t>
            </a:r>
            <a:endParaRPr lang="en-US"/>
          </a:p>
          <a:p>
            <a:r>
              <a:rPr lang="en-US" sz="2400">
                <a:ea typeface="Calibri"/>
                <a:cs typeface="Calibri"/>
              </a:rPr>
              <a:t>Prompt used to generate the recommendation pie chart</a:t>
            </a:r>
            <a:endParaRPr lang="en-US"/>
          </a:p>
        </p:txBody>
      </p:sp>
    </p:spTree>
    <p:extLst>
      <p:ext uri="{BB962C8B-B14F-4D97-AF65-F5344CB8AC3E}">
        <p14:creationId xmlns:p14="http://schemas.microsoft.com/office/powerpoint/2010/main" val="1598998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6875</Words>
  <Application>Microsoft Office PowerPoint</Application>
  <PresentationFormat>Widescreen</PresentationFormat>
  <Paragraphs>659</Paragraphs>
  <Slides>39</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Arial,Sans-Serif</vt:lpstr>
      <vt:lpstr>Calibri</vt:lpstr>
      <vt:lpstr>Calibri Light</vt:lpstr>
      <vt:lpstr>Neue Haas Grotesk Text Pro</vt:lpstr>
      <vt:lpstr>Selawik</vt:lpstr>
      <vt:lpstr>Office Theme</vt:lpstr>
      <vt:lpstr>Group 3  Budget Optimization and Profit Maximization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Quality &amp; Transformation Pipeline</vt:lpstr>
      <vt:lpstr>PowerPoint Presentation</vt:lpstr>
      <vt:lpstr>One Hot Encoding</vt:lpstr>
      <vt:lpstr>Fixing Multicollinearity- Variance Inflation Factor </vt:lpstr>
      <vt:lpstr>Feature Engineering - Created Total Spend to capture aggregate investment</vt:lpstr>
      <vt:lpstr>PowerPoint Presentation</vt:lpstr>
      <vt:lpstr>PowerPoint Presentation</vt:lpstr>
      <vt:lpstr>Key Takeaways from Transformation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3  Which Spending Drives Profit?  A Budget Optimization Analysis</dc:title>
  <dc:creator>Rishwanth</dc:creator>
  <cp:lastModifiedBy>kv rishwanth</cp:lastModifiedBy>
  <cp:revision>3</cp:revision>
  <dcterms:created xsi:type="dcterms:W3CDTF">2025-11-27T11:49:01Z</dcterms:created>
  <dcterms:modified xsi:type="dcterms:W3CDTF">2025-12-18T05:51:52Z</dcterms:modified>
</cp:coreProperties>
</file>